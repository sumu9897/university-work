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3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9144000" cy="6858000" type="screen4x3"/>
  <p:notesSz cx="6858000" cy="91440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74889"/>
  </p:normalViewPr>
  <p:slideViewPr>
    <p:cSldViewPr snapToGrid="0" snapToObjects="1">
      <p:cViewPr varScale="1">
        <p:scale>
          <a:sx n="85" d="100"/>
          <a:sy n="85" d="100"/>
        </p:scale>
        <p:origin x="2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AE1EA-36E9-614B-B5F2-F1E1B715EB8E}" type="datetimeFigureOut">
              <a:rPr lang="en-BD" smtClean="0"/>
              <a:t>21/10/20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B2E6-5A54-974D-B887-65E297430D67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829642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D" dirty="0"/>
              <a:t>D1---</a:t>
            </a:r>
            <a:r>
              <a:rPr lang="en-BD" dirty="0">
                <a:sym typeface="Wingdings" pitchFamily="2" charset="2"/>
              </a:rPr>
              <a:t>Device controller (hardware) + Local buffer (memory) + device driver (software)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D" dirty="0"/>
              <a:t>D2---</a:t>
            </a:r>
            <a:r>
              <a:rPr lang="en-BD" dirty="0">
                <a:sym typeface="Wingdings" pitchFamily="2" charset="2"/>
              </a:rPr>
              <a:t>Device controller + Local buffer + device driver</a:t>
            </a:r>
            <a:endParaRPr lang="en-BD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D" dirty="0"/>
              <a:t>D3---</a:t>
            </a:r>
            <a:r>
              <a:rPr lang="en-BD" dirty="0">
                <a:sym typeface="Wingdings" pitchFamily="2" charset="2"/>
              </a:rPr>
              <a:t>Device controller + Local buffer + device driver </a:t>
            </a:r>
            <a:endParaRPr lang="en-BD" dirty="0"/>
          </a:p>
          <a:p>
            <a:endParaRPr lang="en-BD" dirty="0"/>
          </a:p>
          <a:p>
            <a:endParaRPr lang="en-BD" dirty="0"/>
          </a:p>
          <a:p>
            <a:r>
              <a:rPr lang="en-BD" dirty="0"/>
              <a:t>CPU --&gt; Interrupt vector table + interrupt handler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B2E6-5A54-974D-B887-65E297430D67}" type="slidenum">
              <a:rPr lang="en-BD" smtClean="0"/>
              <a:t>3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90879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</a:t>
            </a:r>
            <a:r>
              <a:rPr lang="en-BD" dirty="0"/>
              <a:t>ew student add example..mail ..</a:t>
            </a:r>
          </a:p>
          <a:p>
            <a:r>
              <a:rPr lang="en-BD" dirty="0"/>
              <a:t>Direct Memory Access (DMA)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B2E6-5A54-974D-B887-65E297430D67}" type="slidenum">
              <a:rPr lang="en-BD" smtClean="0"/>
              <a:t>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612793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BD" dirty="0"/>
              <a:t>aster slave/ leader followe---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B2E6-5A54-974D-B887-65E297430D67}" type="slidenum">
              <a:rPr lang="en-BD" smtClean="0"/>
              <a:t>9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480503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 cache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primary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is extremely fast but relatively small, and is usually embedded in the processor chip as CPU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... Level 3 (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L3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specialized memory developed to improve the performance of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L2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L2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can be significantly faster than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L3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though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L3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usually double the speed of DRAM.</a:t>
            </a:r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B2E6-5A54-974D-B887-65E297430D67}" type="slidenum">
              <a:rPr lang="en-BD" smtClean="0"/>
              <a:t>11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812580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ym typeface="Wingdings" pitchFamily="2" charset="2"/>
              </a:rPr>
              <a:t>C</a:t>
            </a:r>
            <a:r>
              <a:rPr lang="en-BD" dirty="0">
                <a:sym typeface="Wingdings" pitchFamily="2" charset="2"/>
              </a:rPr>
              <a:t>pu1 (5 process)</a:t>
            </a:r>
          </a:p>
          <a:p>
            <a:r>
              <a:rPr lang="en-GB" dirty="0">
                <a:sym typeface="Wingdings" pitchFamily="2" charset="2"/>
              </a:rPr>
              <a:t>O</a:t>
            </a:r>
            <a:r>
              <a:rPr lang="en-BD" dirty="0">
                <a:sym typeface="Wingdings" pitchFamily="2" charset="2"/>
              </a:rPr>
              <a:t> sec process 1</a:t>
            </a:r>
          </a:p>
          <a:p>
            <a:r>
              <a:rPr lang="en-BD" dirty="0">
                <a:sym typeface="Wingdings" pitchFamily="2" charset="2"/>
              </a:rPr>
              <a:t>1 sec process 2</a:t>
            </a:r>
          </a:p>
          <a:p>
            <a:r>
              <a:rPr lang="en-BD" dirty="0">
                <a:sym typeface="Wingdings" pitchFamily="2" charset="2"/>
              </a:rPr>
              <a:t>2 sec process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B2E6-5A54-974D-B887-65E297430D67}" type="slidenum">
              <a:rPr lang="en-BD" smtClean="0"/>
              <a:t>15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100700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</a:t>
            </a:r>
            <a:r>
              <a:rPr lang="en-BD" dirty="0"/>
              <a:t>jgkhjkgkjgk jgkgkg khkhkk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B2E6-5A54-974D-B887-65E297430D67}" type="slidenum">
              <a:rPr lang="en-BD" smtClean="0"/>
              <a:t>17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339236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3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dt"/>
          </p:nvPr>
        </p:nvSpPr>
        <p:spPr>
          <a:xfrm>
            <a:off x="6795000" y="643716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8E8DA18-1B01-4DBD-A9F0-D8AAF6EF2477}" type="datetime">
              <a:rPr lang="en-US" sz="1100" b="1" strike="noStrike" spc="-1">
                <a:solidFill>
                  <a:srgbClr val="A6A6A6"/>
                </a:solidFill>
                <a:latin typeface="Calibri"/>
              </a:rPr>
              <a:t>10/21/20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/>
          </p:nvPr>
        </p:nvSpPr>
        <p:spPr>
          <a:xfrm>
            <a:off x="199800" y="6437160"/>
            <a:ext cx="61246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8306280" y="167400"/>
            <a:ext cx="630360" cy="359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C519560-C82E-4FEA-9C5E-6E4E8BB42EF1}" type="slidenum">
              <a:rPr lang="en-US" sz="1400" b="1" strike="noStrike" spc="-1">
                <a:solidFill>
                  <a:srgbClr val="262626"/>
                </a:solidFill>
                <a:latin typeface="Calibri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3" name="CustomShape 4"/>
          <p:cNvSpPr/>
          <p:nvPr/>
        </p:nvSpPr>
        <p:spPr>
          <a:xfrm>
            <a:off x="284040" y="444600"/>
            <a:ext cx="8573760" cy="1468080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" name="Group 5"/>
          <p:cNvGrpSpPr/>
          <p:nvPr/>
        </p:nvGrpSpPr>
        <p:grpSpPr>
          <a:xfrm>
            <a:off x="284040" y="1906560"/>
            <a:ext cx="8575920" cy="137160"/>
            <a:chOff x="284040" y="1906560"/>
            <a:chExt cx="8575920" cy="137160"/>
          </a:xfrm>
        </p:grpSpPr>
        <p:sp>
          <p:nvSpPr>
            <p:cNvPr id="5" name="CustomShape 6"/>
            <p:cNvSpPr/>
            <p:nvPr/>
          </p:nvSpPr>
          <p:spPr>
            <a:xfrm>
              <a:off x="284040" y="1906560"/>
              <a:ext cx="2742840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" name="CustomShape 7"/>
            <p:cNvSpPr/>
            <p:nvPr/>
          </p:nvSpPr>
          <p:spPr>
            <a:xfrm>
              <a:off x="3026520" y="1906560"/>
              <a:ext cx="1599840" cy="1371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" name="CustomShape 8"/>
            <p:cNvSpPr/>
            <p:nvPr/>
          </p:nvSpPr>
          <p:spPr>
            <a:xfrm>
              <a:off x="4626720" y="1906560"/>
              <a:ext cx="4233240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8" name="PlaceHolder 9"/>
          <p:cNvSpPr>
            <a:spLocks noGrp="1"/>
          </p:cNvSpPr>
          <p:nvPr>
            <p:ph type="title"/>
          </p:nvPr>
        </p:nvSpPr>
        <p:spPr>
          <a:xfrm>
            <a:off x="421200" y="448920"/>
            <a:ext cx="7808760" cy="1087920"/>
          </a:xfrm>
          <a:prstGeom prst="rect">
            <a:avLst/>
          </a:prstGeom>
        </p:spPr>
        <p:txBody>
          <a:bodyPr anchor="b">
            <a:normAutofit fontScale="77000"/>
          </a:bodyPr>
          <a:lstStyle/>
          <a:p>
            <a:pPr>
              <a:lnSpc>
                <a:spcPts val="4601"/>
              </a:lnSpc>
            </a:pPr>
            <a:r>
              <a:rPr lang="fi-FI" sz="4200" b="0" strike="noStrike" spc="-1">
                <a:solidFill>
                  <a:srgbClr val="FFFFFF"/>
                </a:solidFill>
                <a:latin typeface="Corbel"/>
              </a:rPr>
              <a:t>Click to edit Master title style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CustomShape 10"/>
          <p:cNvSpPr/>
          <p:nvPr/>
        </p:nvSpPr>
        <p:spPr>
          <a:xfrm>
            <a:off x="284040" y="6226920"/>
            <a:ext cx="8573760" cy="17352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" name="Picture 2" descr="Image result for AIUB logo"/>
          <p:cNvPicPr/>
          <p:nvPr/>
        </p:nvPicPr>
        <p:blipFill>
          <a:blip r:embed="rId14"/>
          <a:stretch/>
        </p:blipFill>
        <p:spPr>
          <a:xfrm>
            <a:off x="7438680" y="459720"/>
            <a:ext cx="1419120" cy="1428120"/>
          </a:xfrm>
          <a:prstGeom prst="rect">
            <a:avLst/>
          </a:prstGeom>
          <a:ln>
            <a:noFill/>
          </a:ln>
        </p:spPr>
      </p:pic>
      <p:sp>
        <p:nvSpPr>
          <p:cNvPr id="11" name="PlaceHolder 11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6262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26262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284040" y="455760"/>
            <a:ext cx="8573760" cy="11336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9" name="Group 2"/>
          <p:cNvGrpSpPr/>
          <p:nvPr/>
        </p:nvGrpSpPr>
        <p:grpSpPr>
          <a:xfrm>
            <a:off x="284040" y="1577880"/>
            <a:ext cx="8575920" cy="137160"/>
            <a:chOff x="284040" y="1577880"/>
            <a:chExt cx="8575920" cy="137160"/>
          </a:xfrm>
        </p:grpSpPr>
        <p:sp>
          <p:nvSpPr>
            <p:cNvPr id="50" name="CustomShape 3"/>
            <p:cNvSpPr/>
            <p:nvPr/>
          </p:nvSpPr>
          <p:spPr>
            <a:xfrm>
              <a:off x="284040" y="1577880"/>
              <a:ext cx="1599840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1" name="CustomShape 4"/>
            <p:cNvSpPr/>
            <p:nvPr/>
          </p:nvSpPr>
          <p:spPr>
            <a:xfrm>
              <a:off x="1885320" y="1577880"/>
              <a:ext cx="2742840" cy="1371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2" name="CustomShape 5"/>
            <p:cNvSpPr/>
            <p:nvPr/>
          </p:nvSpPr>
          <p:spPr>
            <a:xfrm>
              <a:off x="4626720" y="1577880"/>
              <a:ext cx="4233240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53" name="PlaceHolder 6"/>
          <p:cNvSpPr>
            <a:spLocks noGrp="1"/>
          </p:cNvSpPr>
          <p:nvPr>
            <p:ph type="title"/>
          </p:nvPr>
        </p:nvSpPr>
        <p:spPr>
          <a:xfrm>
            <a:off x="284040" y="630360"/>
            <a:ext cx="8573760" cy="9673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fi-FI" sz="4200" b="0" strike="noStrike" spc="-1">
                <a:solidFill>
                  <a:srgbClr val="FFFFFF"/>
                </a:solidFill>
                <a:latin typeface="Corbel"/>
              </a:rPr>
              <a:t>Click to edit Master title style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body"/>
          </p:nvPr>
        </p:nvSpPr>
        <p:spPr>
          <a:xfrm>
            <a:off x="1781640" y="2133720"/>
            <a:ext cx="7076520" cy="39920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"/>
            </a:pPr>
            <a:r>
              <a:rPr lang="fi-FI" sz="2400" b="0" strike="noStrike" spc="-1">
                <a:solidFill>
                  <a:srgbClr val="262626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rgbClr val="262626"/>
              </a:solidFill>
              <a:latin typeface="Calibri"/>
            </a:endParaRP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"/>
            </a:pPr>
            <a:r>
              <a:rPr lang="fi-FI" sz="2200" b="0" strike="noStrike" spc="-1">
                <a:solidFill>
                  <a:srgbClr val="262626"/>
                </a:solidFill>
                <a:latin typeface="Calibri"/>
              </a:rPr>
              <a:t>Second level</a:t>
            </a:r>
            <a:endParaRPr lang="en-US" sz="2200" b="0" strike="noStrike" spc="-1">
              <a:solidFill>
                <a:srgbClr val="262626"/>
              </a:solidFill>
              <a:latin typeface="Calibri"/>
            </a:endParaRPr>
          </a:p>
          <a:p>
            <a:pPr marL="1260360" lvl="2" indent="-345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"/>
            </a:pPr>
            <a:r>
              <a:rPr lang="fi-FI" sz="2000" b="0" strike="noStrike" spc="-1">
                <a:solidFill>
                  <a:srgbClr val="262626"/>
                </a:solidFill>
                <a:latin typeface="Calibri"/>
              </a:rPr>
              <a:t>Third level</a:t>
            </a:r>
            <a:endParaRPr lang="en-US" sz="2000" b="0" strike="noStrike" spc="-1">
              <a:solidFill>
                <a:srgbClr val="262626"/>
              </a:solidFill>
              <a:latin typeface="Calibri"/>
            </a:endParaRPr>
          </a:p>
          <a:p>
            <a:pPr marL="1600200" lvl="3" indent="-33948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"/>
            </a:pPr>
            <a:r>
              <a:rPr lang="fi-FI" sz="1800" b="0" strike="noStrike" spc="-1">
                <a:solidFill>
                  <a:srgbClr val="262626"/>
                </a:solidFill>
                <a:latin typeface="Calibri"/>
              </a:rPr>
              <a:t>Fourth level</a:t>
            </a:r>
            <a:endParaRPr lang="en-US" sz="1800" b="0" strike="noStrike" spc="-1">
              <a:solidFill>
                <a:srgbClr val="262626"/>
              </a:solidFill>
              <a:latin typeface="Calibri"/>
            </a:endParaRPr>
          </a:p>
          <a:p>
            <a:pPr marL="1940040" lvl="4" indent="-33156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"/>
            </a:pPr>
            <a:r>
              <a:rPr lang="fi-FI" sz="1800" b="0" strike="noStrike" spc="-1">
                <a:solidFill>
                  <a:srgbClr val="262626"/>
                </a:solidFill>
                <a:latin typeface="Calibri"/>
              </a:rPr>
              <a:t>Fifth level</a:t>
            </a:r>
            <a:endParaRPr lang="en-US" sz="1800" b="0" strike="noStrike" spc="-1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dt"/>
          </p:nvPr>
        </p:nvSpPr>
        <p:spPr>
          <a:xfrm>
            <a:off x="6795000" y="643716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EAC02BA0-7891-4EC3-A817-2DC95AD198C7}" type="datetime">
              <a:rPr lang="en-US" sz="1100" b="1" strike="noStrike" spc="-1">
                <a:solidFill>
                  <a:srgbClr val="A6A6A6"/>
                </a:solidFill>
                <a:latin typeface="Calibri"/>
              </a:rPr>
              <a:t>10/21/20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56" name="PlaceHolder 9"/>
          <p:cNvSpPr>
            <a:spLocks noGrp="1"/>
          </p:cNvSpPr>
          <p:nvPr>
            <p:ph type="ftr"/>
          </p:nvPr>
        </p:nvSpPr>
        <p:spPr>
          <a:xfrm>
            <a:off x="199800" y="6437160"/>
            <a:ext cx="61246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57" name="PlaceHolder 10"/>
          <p:cNvSpPr>
            <a:spLocks noGrp="1"/>
          </p:cNvSpPr>
          <p:nvPr>
            <p:ph type="sldNum"/>
          </p:nvPr>
        </p:nvSpPr>
        <p:spPr>
          <a:xfrm>
            <a:off x="8306280" y="167400"/>
            <a:ext cx="630360" cy="359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B496A92-31DB-4875-8942-72EDF1E8CCDD}" type="slidenum">
              <a:rPr lang="en-US" sz="1400" b="1" strike="noStrike" spc="-1">
                <a:solidFill>
                  <a:srgbClr val="262626"/>
                </a:solidFill>
                <a:latin typeface="Calibri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dt"/>
          </p:nvPr>
        </p:nvSpPr>
        <p:spPr>
          <a:xfrm>
            <a:off x="6795000" y="643716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7C592A34-79F3-4A6A-AD70-A15ABA638389}" type="datetime">
              <a:rPr lang="en-US" sz="1100" b="1" strike="noStrike" spc="-1">
                <a:solidFill>
                  <a:srgbClr val="A6A6A6"/>
                </a:solidFill>
                <a:latin typeface="Calibri"/>
              </a:rPr>
              <a:t>10/21/20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/>
          </p:nvPr>
        </p:nvSpPr>
        <p:spPr>
          <a:xfrm>
            <a:off x="199800" y="6437160"/>
            <a:ext cx="61246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grpSp>
        <p:nvGrpSpPr>
          <p:cNvPr id="96" name="Group 3"/>
          <p:cNvGrpSpPr/>
          <p:nvPr/>
        </p:nvGrpSpPr>
        <p:grpSpPr>
          <a:xfrm>
            <a:off x="284040" y="452880"/>
            <a:ext cx="7364880" cy="137160"/>
            <a:chOff x="284040" y="452880"/>
            <a:chExt cx="7364880" cy="137160"/>
          </a:xfrm>
        </p:grpSpPr>
        <p:sp>
          <p:nvSpPr>
            <p:cNvPr id="97" name="CustomShape 4"/>
            <p:cNvSpPr/>
            <p:nvPr/>
          </p:nvSpPr>
          <p:spPr>
            <a:xfrm>
              <a:off x="284040" y="452880"/>
              <a:ext cx="1373760" cy="137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8" name="CustomShape 5"/>
            <p:cNvSpPr/>
            <p:nvPr/>
          </p:nvSpPr>
          <p:spPr>
            <a:xfrm>
              <a:off x="1659240" y="452880"/>
              <a:ext cx="2355480" cy="1371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9" name="CustomShape 6"/>
            <p:cNvSpPr/>
            <p:nvPr/>
          </p:nvSpPr>
          <p:spPr>
            <a:xfrm>
              <a:off x="4013640" y="452880"/>
              <a:ext cx="3635280" cy="1371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00" name="Picture 2" descr="Image result for AIUB logo"/>
          <p:cNvPicPr/>
          <p:nvPr/>
        </p:nvPicPr>
        <p:blipFill>
          <a:blip r:embed="rId14"/>
          <a:stretch/>
        </p:blipFill>
        <p:spPr>
          <a:xfrm>
            <a:off x="7649280" y="55800"/>
            <a:ext cx="1278720" cy="1286640"/>
          </a:xfrm>
          <a:prstGeom prst="rect">
            <a:avLst/>
          </a:prstGeom>
          <a:ln>
            <a:noFill/>
          </a:ln>
        </p:spPr>
      </p:pic>
      <p:sp>
        <p:nvSpPr>
          <p:cNvPr id="101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02" name="PlaceHolder 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6262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26262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421200" y="448920"/>
            <a:ext cx="7808760" cy="108792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99500"/>
          </a:bodyPr>
          <a:lstStyle/>
          <a:p>
            <a:pPr>
              <a:lnSpc>
                <a:spcPts val="4601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Operating System Concepts </a:t>
            </a:r>
            <a:r>
              <a:rPr lang="en-US" sz="1800" b="0" strike="noStrike" spc="-1">
                <a:solidFill>
                  <a:srgbClr val="FFFFFF"/>
                </a:solidFill>
                <a:latin typeface="Corbel"/>
              </a:rPr>
              <a:t>(cont’d) 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TextShape 2"/>
          <p:cNvSpPr txBox="1"/>
          <p:nvPr/>
        </p:nvSpPr>
        <p:spPr>
          <a:xfrm>
            <a:off x="476280" y="1532520"/>
            <a:ext cx="2789280" cy="4842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Course Code: CSC 2209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41" name="CustomShape 3"/>
          <p:cNvSpPr/>
          <p:nvPr/>
        </p:nvSpPr>
        <p:spPr>
          <a:xfrm>
            <a:off x="77040" y="2446920"/>
            <a:ext cx="9024120" cy="70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0070C0"/>
                </a:solidFill>
                <a:latin typeface="Arial"/>
              </a:rPr>
              <a:t>Dept. of Computer Science</a:t>
            </a:r>
            <a:endParaRPr lang="en-US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0070C0"/>
                </a:solidFill>
                <a:latin typeface="Arial"/>
              </a:rPr>
              <a:t>Faculty of Science and Technology</a:t>
            </a:r>
            <a:endParaRPr lang="en-US" sz="2000" b="0" strike="noStrike" spc="-1">
              <a:latin typeface="Arial"/>
            </a:endParaRPr>
          </a:p>
        </p:txBody>
      </p:sp>
      <p:graphicFrame>
        <p:nvGraphicFramePr>
          <p:cNvPr id="142" name="Table 4"/>
          <p:cNvGraphicFramePr/>
          <p:nvPr/>
        </p:nvGraphicFramePr>
        <p:xfrm>
          <a:off x="476280" y="5186160"/>
          <a:ext cx="8335440" cy="757440"/>
        </p:xfrm>
        <a:graphic>
          <a:graphicData uri="http://schemas.openxmlformats.org/drawingml/2006/table">
            <a:tbl>
              <a:tblPr/>
              <a:tblGrid>
                <a:gridCol w="14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5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8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Lecturer No: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02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Week No: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02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Semester: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D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Lecturer: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i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Name &amp; email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" name="CustomShape 5"/>
          <p:cNvSpPr/>
          <p:nvPr/>
        </p:nvSpPr>
        <p:spPr>
          <a:xfrm>
            <a:off x="3320640" y="1538280"/>
            <a:ext cx="416412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Course Title: Operating Systems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421200" y="448920"/>
            <a:ext cx="7808760" cy="10879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ts val="4601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Lecture Outline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TextShape 2"/>
          <p:cNvSpPr txBox="1"/>
          <p:nvPr/>
        </p:nvSpPr>
        <p:spPr>
          <a:xfrm>
            <a:off x="486720" y="2088360"/>
            <a:ext cx="7753680" cy="38862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3500" lnSpcReduction="10000"/>
          </a:bodyPr>
          <a:lstStyle/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I/O Structure</a:t>
            </a:r>
            <a:endParaRPr lang="en-US" sz="20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Storage Structure</a:t>
            </a:r>
            <a:endParaRPr lang="en-US" sz="20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How a Modern Computer Works</a:t>
            </a:r>
            <a:endParaRPr lang="en-US" sz="20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Direct Memory Access Structure</a:t>
            </a:r>
            <a:endParaRPr lang="en-US" sz="20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Computer-System Architecture</a:t>
            </a:r>
            <a:endParaRPr lang="en-US" sz="20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A Dual-Core Design</a:t>
            </a:r>
            <a:endParaRPr lang="en-US" sz="20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Clustered Systems</a:t>
            </a:r>
            <a:endParaRPr lang="en-US" sz="20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Operating-System Operations</a:t>
            </a:r>
            <a:endParaRPr lang="en-US" sz="20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Multiprogramming and Multitasking</a:t>
            </a:r>
            <a:endParaRPr lang="en-US" sz="20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Dual-mode and Multimode Operation</a:t>
            </a:r>
            <a:endParaRPr lang="en-US" sz="20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Process Management</a:t>
            </a:r>
            <a:endParaRPr lang="en-US" sz="20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Memory Management</a:t>
            </a:r>
            <a:endParaRPr lang="en-US" sz="20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File-system Management</a:t>
            </a:r>
            <a:endParaRPr lang="en-US" sz="20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Caching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I/O Structure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TextShape 2"/>
          <p:cNvSpPr txBox="1"/>
          <p:nvPr/>
        </p:nvSpPr>
        <p:spPr>
          <a:xfrm>
            <a:off x="284040" y="1920600"/>
            <a:ext cx="8385398" cy="4514924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5000" lnSpcReduction="10000"/>
          </a:bodyPr>
          <a:lstStyle/>
          <a:p>
            <a:pPr marL="453960" indent="-453600">
              <a:lnSpc>
                <a:spcPct val="9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After I/O starts, control returns to user program only upon I/O completion</a:t>
            </a:r>
          </a:p>
          <a:p>
            <a:pPr marL="914400" lvl="1" indent="-456840">
              <a:lnSpc>
                <a:spcPct val="9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Wait instruction idles the CPU until the next interrupt</a:t>
            </a:r>
          </a:p>
          <a:p>
            <a:pPr marL="914400" lvl="1" indent="-456840">
              <a:lnSpc>
                <a:spcPct val="9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Wait loop (contention for memory access)</a:t>
            </a:r>
          </a:p>
          <a:p>
            <a:pPr marL="914400" lvl="1" indent="-456840">
              <a:lnSpc>
                <a:spcPct val="9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At most one I/O request is outstanding at a time, no simultaneous I/O processing</a:t>
            </a:r>
          </a:p>
          <a:p>
            <a:pPr marL="453960" indent="-453600">
              <a:lnSpc>
                <a:spcPct val="9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After I/O starts, control returns to user program without waiting for I/O completion</a:t>
            </a:r>
          </a:p>
          <a:p>
            <a:pPr marL="914400" lvl="1" indent="-456840">
              <a:lnSpc>
                <a:spcPct val="9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1" strike="noStrike" spc="-1" dirty="0">
                <a:solidFill>
                  <a:srgbClr val="3366FF"/>
                </a:solidFill>
                <a:latin typeface="Calibri"/>
              </a:rPr>
              <a:t>System call </a:t>
            </a: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– request to the OS to allow user to wait for I/O completion</a:t>
            </a:r>
          </a:p>
          <a:p>
            <a:pPr marL="914400" lvl="1" indent="-456840">
              <a:lnSpc>
                <a:spcPct val="9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1" strike="noStrike" spc="-1" dirty="0">
                <a:solidFill>
                  <a:srgbClr val="3366FF"/>
                </a:solidFill>
                <a:latin typeface="Calibri"/>
              </a:rPr>
              <a:t>Device-status table </a:t>
            </a: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contains entry for each I/O device indicating its type, address, and state</a:t>
            </a:r>
          </a:p>
          <a:p>
            <a:pPr marL="914400" lvl="1" indent="-456840">
              <a:lnSpc>
                <a:spcPct val="9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OS indexes into I/O device table to determine device status and to modify table entry to include interrupt</a:t>
            </a:r>
          </a:p>
          <a:p>
            <a:endParaRPr lang="en-US" sz="2200" b="0" strike="noStrike" spc="-1" dirty="0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Storage Structure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TextShape 2"/>
          <p:cNvSpPr txBox="1"/>
          <p:nvPr/>
        </p:nvSpPr>
        <p:spPr>
          <a:xfrm>
            <a:off x="284040" y="1757880"/>
            <a:ext cx="8573760" cy="48178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Main memory – only large storage media that the CPU can access directly</a:t>
            </a: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1900" b="1" strike="noStrike" spc="-1">
                <a:solidFill>
                  <a:srgbClr val="3366FF"/>
                </a:solidFill>
                <a:latin typeface="Calibri"/>
              </a:rPr>
              <a:t>Random</a:t>
            </a:r>
            <a:r>
              <a:rPr lang="en-US" sz="1900" b="0" strike="noStrike" spc="-1">
                <a:solidFill>
                  <a:srgbClr val="0000FF"/>
                </a:solidFill>
                <a:latin typeface="Calibri"/>
              </a:rPr>
              <a:t> </a:t>
            </a:r>
            <a:r>
              <a:rPr lang="en-US" sz="1900" b="1" strike="noStrike" spc="-1">
                <a:solidFill>
                  <a:srgbClr val="3366FF"/>
                </a:solidFill>
                <a:latin typeface="Calibri"/>
              </a:rPr>
              <a:t>access</a:t>
            </a:r>
            <a:endParaRPr lang="en-US" sz="1900" b="0" strike="noStrike" spc="-1">
              <a:solidFill>
                <a:srgbClr val="262626"/>
              </a:solidFill>
              <a:latin typeface="Calibri"/>
            </a:endParaRP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Typically </a:t>
            </a:r>
            <a:r>
              <a:rPr lang="en-US" sz="1900" b="1" strike="noStrike" spc="-1">
                <a:solidFill>
                  <a:srgbClr val="3366FF"/>
                </a:solidFill>
                <a:latin typeface="Calibri"/>
              </a:rPr>
              <a:t>volatile</a:t>
            </a:r>
            <a:endParaRPr lang="en-US" sz="1900" b="0" strike="noStrike" spc="-1">
              <a:solidFill>
                <a:srgbClr val="262626"/>
              </a:solidFill>
              <a:latin typeface="Calibri"/>
            </a:endParaRP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Typically</a:t>
            </a:r>
            <a:r>
              <a:rPr lang="en-US" sz="1900" b="1" strike="noStrike" spc="-1">
                <a:solidFill>
                  <a:srgbClr val="3366FF"/>
                </a:solidFill>
                <a:latin typeface="Calibri"/>
              </a:rPr>
              <a:t> random-access memory </a:t>
            </a: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in the form of </a:t>
            </a:r>
            <a:r>
              <a:rPr lang="en-US" sz="1900" b="1" strike="noStrike" spc="-1">
                <a:solidFill>
                  <a:srgbClr val="3366FF"/>
                </a:solidFill>
                <a:latin typeface="Calibri"/>
              </a:rPr>
              <a:t>Dynamic Random-access Memory (DRAM)</a:t>
            </a:r>
            <a:endParaRPr lang="en-US" sz="1900" b="0" strike="noStrike" spc="-1">
              <a:solidFill>
                <a:srgbClr val="262626"/>
              </a:solidFill>
              <a:latin typeface="Calibri"/>
            </a:endParaRPr>
          </a:p>
          <a:p>
            <a:pPr marL="453960" indent="-45360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Secondary storage – extension of main memory that provides large </a:t>
            </a:r>
            <a:r>
              <a:rPr lang="en-US" sz="1900" b="1" strike="noStrike" spc="-1">
                <a:solidFill>
                  <a:srgbClr val="3366FF"/>
                </a:solidFill>
                <a:latin typeface="Calibri"/>
              </a:rPr>
              <a:t>nonvolatile</a:t>
            </a:r>
            <a:r>
              <a:rPr lang="en-US" sz="1900" b="0" strike="noStrike" spc="-1">
                <a:solidFill>
                  <a:srgbClr val="0000FF"/>
                </a:solidFill>
                <a:latin typeface="Calibri"/>
              </a:rPr>
              <a:t> </a:t>
            </a: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storage capacity</a:t>
            </a:r>
          </a:p>
          <a:p>
            <a:pPr marL="453960" indent="-45360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1900" b="1" strike="noStrike" spc="-1">
                <a:solidFill>
                  <a:srgbClr val="3366FF"/>
                </a:solidFill>
                <a:latin typeface="Calibri"/>
              </a:rPr>
              <a:t>Hard Disk Drives </a:t>
            </a: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(</a:t>
            </a:r>
            <a:r>
              <a:rPr lang="en-US" sz="1900" b="1" strike="noStrike" spc="-1">
                <a:solidFill>
                  <a:srgbClr val="3366FF"/>
                </a:solidFill>
                <a:latin typeface="Calibri"/>
              </a:rPr>
              <a:t>HDD</a:t>
            </a: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) – rigid metal or glass platters covered with magnetic recording material </a:t>
            </a: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Disk surface is logically divided into </a:t>
            </a:r>
            <a:r>
              <a:rPr lang="en-US" sz="1900" b="1" strike="noStrike" spc="-1">
                <a:solidFill>
                  <a:srgbClr val="3366FF"/>
                </a:solidFill>
                <a:latin typeface="Calibri"/>
              </a:rPr>
              <a:t>tracks</a:t>
            </a: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, which are subdivided into </a:t>
            </a:r>
            <a:r>
              <a:rPr lang="en-US" sz="1900" b="1" strike="noStrike" spc="-1">
                <a:solidFill>
                  <a:srgbClr val="3366FF"/>
                </a:solidFill>
                <a:latin typeface="Calibri"/>
              </a:rPr>
              <a:t>sectors</a:t>
            </a:r>
            <a:endParaRPr lang="en-US" sz="1900" b="0" strike="noStrike" spc="-1">
              <a:solidFill>
                <a:srgbClr val="262626"/>
              </a:solidFill>
              <a:latin typeface="Calibri"/>
            </a:endParaRP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The </a:t>
            </a:r>
            <a:r>
              <a:rPr lang="en-US" sz="1900" b="1" strike="noStrike" spc="-1">
                <a:solidFill>
                  <a:srgbClr val="3366FF"/>
                </a:solidFill>
                <a:latin typeface="Calibri"/>
              </a:rPr>
              <a:t>disk controller </a:t>
            </a: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determines the logical interaction between the device and the computer </a:t>
            </a:r>
          </a:p>
          <a:p>
            <a:pPr marL="453960" indent="-45360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1900" b="1" strike="noStrike" spc="-1">
                <a:solidFill>
                  <a:srgbClr val="3366FF"/>
                </a:solidFill>
                <a:latin typeface="Calibri"/>
              </a:rPr>
              <a:t>Non-volatile memory (NVM) </a:t>
            </a: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devices– faster than hard disks, nonvolatile</a:t>
            </a: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Various technologies</a:t>
            </a: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1900" b="0" strike="noStrike" spc="-1">
                <a:solidFill>
                  <a:srgbClr val="262626"/>
                </a:solidFill>
                <a:latin typeface="Calibri"/>
              </a:rPr>
              <a:t>Becoming more popular as capacity and performance increases, price drops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Storage Hierarchy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TextShape 2"/>
          <p:cNvSpPr txBox="1"/>
          <p:nvPr/>
        </p:nvSpPr>
        <p:spPr>
          <a:xfrm>
            <a:off x="284040" y="2021040"/>
            <a:ext cx="7076520" cy="39920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3000" lnSpcReduction="10000"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Storage systems organized in hierarchy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Speed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Cost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Volatility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3366FF"/>
                </a:solidFill>
                <a:latin typeface="Calibri"/>
              </a:rPr>
              <a:t>Caching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 – copying information into faster storage system; main memory can be viewed as a cache for secondary storage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3366FF"/>
                </a:solidFill>
                <a:latin typeface="Calibri"/>
              </a:rPr>
              <a:t>Device Driver 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for each device controller to manage I/O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Provides uniform </a:t>
            </a:r>
            <a:r>
              <a:rPr lang="en-US" sz="2200" b="1" strike="noStrike" spc="-1" dirty="0">
                <a:solidFill>
                  <a:srgbClr val="262626"/>
                </a:solidFill>
                <a:latin typeface="Calibri"/>
              </a:rPr>
              <a:t>interface between controller and kernel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Storage-Device Hierarchy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3" name="Picture 2"/>
          <p:cNvPicPr/>
          <p:nvPr/>
        </p:nvPicPr>
        <p:blipFill>
          <a:blip r:embed="rId2"/>
          <a:stretch/>
        </p:blipFill>
        <p:spPr>
          <a:xfrm>
            <a:off x="1206360" y="1979280"/>
            <a:ext cx="7419960" cy="4788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 fontScale="93500"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How a Modern Computer Works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3513960" y="6239520"/>
            <a:ext cx="2395440" cy="267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70" b="0" i="1" strike="noStrike" spc="-1">
                <a:solidFill>
                  <a:srgbClr val="000000"/>
                </a:solidFill>
                <a:latin typeface="Verdana"/>
                <a:ea typeface="MS PGothic"/>
              </a:rPr>
              <a:t>A von Neumann architecture</a:t>
            </a:r>
            <a:endParaRPr lang="en-US" sz="1170" b="0" strike="noStrike" spc="-1">
              <a:latin typeface="Arial"/>
            </a:endParaRPr>
          </a:p>
        </p:txBody>
      </p:sp>
      <p:pic>
        <p:nvPicPr>
          <p:cNvPr id="156" name="Picture 2"/>
          <p:cNvPicPr/>
          <p:nvPr/>
        </p:nvPicPr>
        <p:blipFill>
          <a:blip r:embed="rId3"/>
          <a:stretch/>
        </p:blipFill>
        <p:spPr>
          <a:xfrm>
            <a:off x="1655640" y="1916640"/>
            <a:ext cx="6112440" cy="4757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 fontScale="93500"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Direct Memory Access Structure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TextShape 2"/>
          <p:cNvSpPr txBox="1"/>
          <p:nvPr/>
        </p:nvSpPr>
        <p:spPr>
          <a:xfrm>
            <a:off x="284040" y="1883160"/>
            <a:ext cx="7076520" cy="3992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Used for high-speed I/O devices able to transmit information at close to memory speeds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Device controller transfers blocks of data from buffer storage directly to main memory without CPU intervention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Only one interrupt is generated per block, rather than the one interrupt per byte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Computer-System Architecture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TextShape 2"/>
          <p:cNvSpPr txBox="1"/>
          <p:nvPr/>
        </p:nvSpPr>
        <p:spPr>
          <a:xfrm>
            <a:off x="284040" y="1760399"/>
            <a:ext cx="8489570" cy="4732997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6000"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Most systems use a single general-purpose processor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Most systems have special-purpose processors as well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3366FF"/>
                </a:solidFill>
                <a:latin typeface="Calibri"/>
              </a:rPr>
              <a:t>Multiprocessors</a:t>
            </a:r>
            <a:r>
              <a:rPr lang="en-US" sz="2400" b="0" strike="noStrike" spc="-1" dirty="0">
                <a:solidFill>
                  <a:srgbClr val="3366FF"/>
                </a:solidFill>
                <a:latin typeface="Calibri"/>
              </a:rPr>
              <a:t> 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systems growing in use and importance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Also known as </a:t>
            </a:r>
            <a:r>
              <a:rPr lang="en-US" sz="2200" b="1" strike="noStrike" spc="-1" dirty="0">
                <a:solidFill>
                  <a:srgbClr val="3366FF"/>
                </a:solidFill>
                <a:latin typeface="Calibri"/>
              </a:rPr>
              <a:t>parallel systems</a:t>
            </a: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, </a:t>
            </a:r>
            <a:r>
              <a:rPr lang="en-US" sz="2200" b="1" strike="noStrike" spc="-1" dirty="0">
                <a:solidFill>
                  <a:srgbClr val="3366FF"/>
                </a:solidFill>
                <a:latin typeface="Calibri"/>
              </a:rPr>
              <a:t>tightly-coupled systems</a:t>
            </a:r>
            <a:endParaRPr lang="en-US" sz="2200" b="0" strike="noStrike" spc="-1" dirty="0">
              <a:solidFill>
                <a:srgbClr val="262626"/>
              </a:solidFill>
              <a:latin typeface="Calibri"/>
            </a:endParaRP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Advantages include:</a:t>
            </a:r>
          </a:p>
          <a:p>
            <a:pPr marL="1171440" lvl="2" indent="-45684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Corbel"/>
              <a:buAutoNum type="arabicPeriod"/>
            </a:pP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Increased throughput</a:t>
            </a:r>
            <a:endParaRPr lang="en-US" sz="2000" b="0" strike="noStrike" spc="-1" dirty="0">
              <a:solidFill>
                <a:srgbClr val="262626"/>
              </a:solidFill>
              <a:latin typeface="Calibri"/>
            </a:endParaRPr>
          </a:p>
          <a:p>
            <a:pPr marL="1171440" lvl="2" indent="-45684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Corbel"/>
              <a:buAutoNum type="arabicPeriod"/>
            </a:pP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Economy of scale</a:t>
            </a:r>
            <a:endParaRPr lang="en-US" sz="2000" b="0" strike="noStrike" spc="-1" dirty="0">
              <a:solidFill>
                <a:srgbClr val="262626"/>
              </a:solidFill>
              <a:latin typeface="Calibri"/>
            </a:endParaRPr>
          </a:p>
          <a:p>
            <a:pPr marL="1171440" lvl="2" indent="-45684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Corbel"/>
              <a:buAutoNum type="arabicPeriod"/>
            </a:pP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Increased reliability </a:t>
            </a: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– graceful degradation or fault tolerance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Two types:</a:t>
            </a:r>
          </a:p>
          <a:p>
            <a:pPr marL="1171440" lvl="2" indent="-45684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Corbel"/>
              <a:buAutoNum type="arabicPeriod"/>
            </a:pP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Asymmetric Multiprocessing </a:t>
            </a: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– each processor is assigned a specie task.</a:t>
            </a:r>
          </a:p>
          <a:p>
            <a:pPr marL="1171440" lvl="2" indent="-45684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Corbel"/>
              <a:buAutoNum type="arabicPeriod"/>
            </a:pP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Symmetric Multiprocessing </a:t>
            </a: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– each processor performs all tasks</a:t>
            </a:r>
          </a:p>
          <a:p>
            <a:endParaRPr lang="en-US" sz="2000" b="0" strike="noStrike" spc="-1" dirty="0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FFFFFF"/>
                </a:solidFill>
                <a:latin typeface="Corbel"/>
              </a:rPr>
              <a:t>Symmetric Multiprocessing Architecture</a:t>
            </a:r>
            <a:endParaRPr lang="en-US" sz="36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62" name="Picture 2"/>
          <p:cNvPicPr/>
          <p:nvPr/>
        </p:nvPicPr>
        <p:blipFill>
          <a:blip r:embed="rId2"/>
          <a:stretch/>
        </p:blipFill>
        <p:spPr>
          <a:xfrm>
            <a:off x="1545120" y="1841400"/>
            <a:ext cx="6189480" cy="4674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A Dual-Core Design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TextShape 2"/>
          <p:cNvSpPr txBox="1"/>
          <p:nvPr/>
        </p:nvSpPr>
        <p:spPr>
          <a:xfrm>
            <a:off x="284040" y="1895760"/>
            <a:ext cx="7076520" cy="3992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Multi-chip and </a:t>
            </a:r>
            <a:r>
              <a:rPr lang="en-US" sz="2000" b="1" strike="noStrike" spc="-1">
                <a:solidFill>
                  <a:srgbClr val="3366FF"/>
                </a:solidFill>
                <a:latin typeface="Calibri"/>
              </a:rPr>
              <a:t>multicore</a:t>
            </a:r>
            <a:endParaRPr lang="en-US" sz="2000" b="0" strike="noStrike" spc="-1">
              <a:solidFill>
                <a:srgbClr val="262626"/>
              </a:solidFill>
              <a:latin typeface="Calibri"/>
            </a:endParaRP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Systems containing all  chips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Chassis containing multiple separate systems</a:t>
            </a:r>
          </a:p>
          <a:p>
            <a:endParaRPr lang="en-US" sz="2000" b="0" strike="noStrike" spc="-1">
              <a:solidFill>
                <a:srgbClr val="262626"/>
              </a:solidFill>
              <a:latin typeface="Calibri"/>
            </a:endParaRPr>
          </a:p>
        </p:txBody>
      </p:sp>
      <p:pic>
        <p:nvPicPr>
          <p:cNvPr id="165" name="Picture 2"/>
          <p:cNvPicPr/>
          <p:nvPr/>
        </p:nvPicPr>
        <p:blipFill>
          <a:blip r:embed="rId3"/>
          <a:stretch/>
        </p:blipFill>
        <p:spPr>
          <a:xfrm>
            <a:off x="2242080" y="3254040"/>
            <a:ext cx="4326840" cy="3240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Clustered Systems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TextShape 2"/>
          <p:cNvSpPr txBox="1"/>
          <p:nvPr/>
        </p:nvSpPr>
        <p:spPr>
          <a:xfrm>
            <a:off x="284040" y="1908000"/>
            <a:ext cx="8759160" cy="46551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3000"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Like multiprocessor systems, but multiple systems working together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Usually sharing storage via a </a:t>
            </a:r>
            <a:r>
              <a:rPr lang="en-US" sz="2200" b="1" strike="noStrike" spc="-1">
                <a:solidFill>
                  <a:srgbClr val="3366FF"/>
                </a:solidFill>
                <a:latin typeface="Calibri"/>
              </a:rPr>
              <a:t>storage-area network (SAN)</a:t>
            </a:r>
            <a:endParaRPr lang="en-US" sz="2200" b="0" strike="noStrike" spc="-1">
              <a:solidFill>
                <a:srgbClr val="262626"/>
              </a:solidFill>
              <a:latin typeface="Calibri"/>
            </a:endParaRP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Provides a </a:t>
            </a:r>
            <a:r>
              <a:rPr lang="en-US" sz="2200" b="1" strike="noStrike" spc="-1">
                <a:solidFill>
                  <a:srgbClr val="3366FF"/>
                </a:solidFill>
                <a:latin typeface="Calibri"/>
              </a:rPr>
              <a:t>high-availability</a:t>
            </a:r>
            <a:r>
              <a:rPr lang="en-US" sz="2200" b="1" strike="noStrike" spc="-1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service which survives failures</a:t>
            </a:r>
          </a:p>
          <a:p>
            <a:pPr marL="1260360" lvl="2" indent="-345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1" strike="noStrike" spc="-1">
                <a:solidFill>
                  <a:srgbClr val="3366FF"/>
                </a:solidFill>
                <a:latin typeface="Calibri"/>
              </a:rPr>
              <a:t>Asymmetric clustering</a:t>
            </a:r>
            <a:r>
              <a:rPr lang="en-US" sz="2000" b="0" strike="noStrike" spc="-1">
                <a:solidFill>
                  <a:srgbClr val="3366FF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has one machine in hot-standby mode</a:t>
            </a:r>
          </a:p>
          <a:p>
            <a:pPr marL="1260360" lvl="2" indent="-345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1" strike="noStrike" spc="-1">
                <a:solidFill>
                  <a:srgbClr val="3366FF"/>
                </a:solidFill>
                <a:latin typeface="Calibri"/>
              </a:rPr>
              <a:t>Symmetric clustering</a:t>
            </a:r>
            <a:r>
              <a:rPr lang="en-US" sz="2000" b="0" strike="noStrike" spc="-1">
                <a:solidFill>
                  <a:srgbClr val="3366FF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has multiple nodes running applications, monitoring each other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Some clusters are for </a:t>
            </a:r>
            <a:r>
              <a:rPr lang="en-US" sz="2200" b="1" strike="noStrike" spc="-1">
                <a:solidFill>
                  <a:srgbClr val="3366FF"/>
                </a:solidFill>
                <a:latin typeface="Calibri"/>
              </a:rPr>
              <a:t>high-performance computing (HPC)</a:t>
            </a:r>
            <a:endParaRPr lang="en-US" sz="2200" b="0" strike="noStrike" spc="-1">
              <a:solidFill>
                <a:srgbClr val="262626"/>
              </a:solidFill>
              <a:latin typeface="Calibri"/>
            </a:endParaRPr>
          </a:p>
          <a:p>
            <a:pPr marL="1260360" lvl="2" indent="-345600">
              <a:lnSpc>
                <a:spcPct val="10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Applications must be written to use </a:t>
            </a:r>
            <a:r>
              <a:rPr lang="en-US" sz="2000" b="1" strike="noStrike" spc="-1">
                <a:solidFill>
                  <a:srgbClr val="3366FF"/>
                </a:solidFill>
                <a:latin typeface="Calibri"/>
              </a:rPr>
              <a:t>parallelization</a:t>
            </a:r>
            <a:endParaRPr lang="en-US" sz="2000" b="0" strike="noStrike" spc="-1">
              <a:solidFill>
                <a:srgbClr val="262626"/>
              </a:solidFill>
              <a:latin typeface="Calibri"/>
            </a:endParaRP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Some have</a:t>
            </a:r>
            <a:r>
              <a:rPr lang="en-US" sz="2200" b="1" strike="noStrike" spc="-1">
                <a:solidFill>
                  <a:srgbClr val="3366FF"/>
                </a:solidFill>
                <a:latin typeface="Calibri"/>
              </a:rPr>
              <a:t> distributed lock manager </a:t>
            </a: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(</a:t>
            </a:r>
            <a:r>
              <a:rPr lang="en-US" sz="2200" b="1" strike="noStrike" spc="-1">
                <a:solidFill>
                  <a:srgbClr val="3366FF"/>
                </a:solidFill>
                <a:latin typeface="Calibri"/>
              </a:rPr>
              <a:t>DLM</a:t>
            </a: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) to avoid conflicting operations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Clustered Systems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69" name="Picture 2"/>
          <p:cNvPicPr/>
          <p:nvPr/>
        </p:nvPicPr>
        <p:blipFill>
          <a:blip r:embed="rId2"/>
          <a:stretch/>
        </p:blipFill>
        <p:spPr>
          <a:xfrm>
            <a:off x="1370160" y="2004840"/>
            <a:ext cx="6693480" cy="4121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Operating-System Operations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TextShape 2"/>
          <p:cNvSpPr txBox="1"/>
          <p:nvPr/>
        </p:nvSpPr>
        <p:spPr>
          <a:xfrm>
            <a:off x="284039" y="1995840"/>
            <a:ext cx="8477995" cy="4543856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3500"/>
          </a:bodyPr>
          <a:lstStyle/>
          <a:p>
            <a:pPr marL="453960" indent="-453600">
              <a:lnSpc>
                <a:spcPct val="9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Bootstrap program – simple code to initialize the system, load the kernel</a:t>
            </a:r>
          </a:p>
          <a:p>
            <a:pPr marL="453960" indent="-453600">
              <a:lnSpc>
                <a:spcPct val="9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Kernel loads</a:t>
            </a:r>
          </a:p>
          <a:p>
            <a:pPr marL="453960" indent="-453600">
              <a:lnSpc>
                <a:spcPct val="9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Starts </a:t>
            </a:r>
            <a:r>
              <a:rPr lang="en-US" sz="2400" b="1" strike="noStrike" spc="-1" dirty="0">
                <a:solidFill>
                  <a:srgbClr val="3366FF"/>
                </a:solidFill>
                <a:latin typeface="Calibri"/>
              </a:rPr>
              <a:t>system daemons 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(services provided outside of the kernel)</a:t>
            </a:r>
          </a:p>
          <a:p>
            <a:pPr marL="453960" indent="-453600">
              <a:lnSpc>
                <a:spcPct val="9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Kernel</a:t>
            </a:r>
            <a:r>
              <a:rPr lang="en-US" sz="2400" b="1" strike="noStrike" spc="-1" dirty="0">
                <a:solidFill>
                  <a:srgbClr val="3366FF"/>
                </a:solidFill>
                <a:latin typeface="Calibri"/>
              </a:rPr>
              <a:t> interrupt driven 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(hardware and software)</a:t>
            </a:r>
          </a:p>
          <a:p>
            <a:pPr marL="914400" lvl="1" indent="-456840">
              <a:lnSpc>
                <a:spcPct val="9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Hardware interrupt by one of the devices </a:t>
            </a:r>
          </a:p>
          <a:p>
            <a:pPr marL="914400" lvl="1" indent="-456840">
              <a:lnSpc>
                <a:spcPct val="9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Software interrupt (</a:t>
            </a:r>
            <a:r>
              <a:rPr lang="en-US" sz="2200" b="1" strike="noStrike" spc="-1" dirty="0">
                <a:solidFill>
                  <a:srgbClr val="3366FF"/>
                </a:solidFill>
                <a:latin typeface="Calibri"/>
              </a:rPr>
              <a:t>exception </a:t>
            </a: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or </a:t>
            </a:r>
            <a:r>
              <a:rPr lang="en-US" sz="2200" b="1" strike="noStrike" spc="-1" dirty="0">
                <a:solidFill>
                  <a:srgbClr val="3366FF"/>
                </a:solidFill>
                <a:latin typeface="Calibri"/>
              </a:rPr>
              <a:t>trap):</a:t>
            </a:r>
            <a:endParaRPr lang="en-US" sz="2200" b="0" strike="noStrike" spc="-1" dirty="0">
              <a:solidFill>
                <a:srgbClr val="262626"/>
              </a:solidFill>
              <a:latin typeface="Calibri"/>
            </a:endParaRPr>
          </a:p>
          <a:p>
            <a:pPr marL="1260360" lvl="2" indent="-345600">
              <a:lnSpc>
                <a:spcPct val="9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Software error (e.g., division by zero)</a:t>
            </a:r>
          </a:p>
          <a:p>
            <a:pPr marL="1260360" lvl="2" indent="-345600">
              <a:lnSpc>
                <a:spcPct val="9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Request for operating system service – </a:t>
            </a: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system call</a:t>
            </a:r>
            <a:endParaRPr lang="en-US" sz="2000" b="0" strike="noStrike" spc="-1" dirty="0">
              <a:solidFill>
                <a:srgbClr val="262626"/>
              </a:solidFill>
              <a:latin typeface="Calibri"/>
            </a:endParaRPr>
          </a:p>
          <a:p>
            <a:pPr marL="1260360" lvl="2" indent="-345600">
              <a:lnSpc>
                <a:spcPct val="9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Other process problems include infinite loop, processes modifying each other or the operating system</a:t>
            </a:r>
          </a:p>
          <a:p>
            <a:endParaRPr lang="en-US" sz="2000" b="0" strike="noStrike" spc="-1" dirty="0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 fontScale="93500"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Multiprogramming and Multitasking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TextShape 2"/>
          <p:cNvSpPr txBox="1"/>
          <p:nvPr/>
        </p:nvSpPr>
        <p:spPr>
          <a:xfrm>
            <a:off x="259200" y="1870560"/>
            <a:ext cx="8884440" cy="46177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3960" indent="-453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Multiprogramming</a:t>
            </a: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 (</a:t>
            </a: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Batch system</a:t>
            </a: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) needed for efficiency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Single user cannot keep CPU and I/O devices busy at all times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Multiprogramming organizes jobs (code and data) so CPU always has one to execute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A subset of total jobs in system is kept in memory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One job selected and run via </a:t>
            </a: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job scheduling</a:t>
            </a:r>
            <a:endParaRPr lang="en-US" sz="2000" b="0" strike="noStrike" spc="-1" dirty="0">
              <a:solidFill>
                <a:srgbClr val="262626"/>
              </a:solidFill>
              <a:latin typeface="Calibri"/>
            </a:endParaRP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When it has to wait (for I/O for example), OS switches to another job</a:t>
            </a:r>
          </a:p>
          <a:p>
            <a:pPr marL="453960" indent="-453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Timesharing </a:t>
            </a: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(</a:t>
            </a: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multitasking</a:t>
            </a: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)</a:t>
            </a: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 </a:t>
            </a: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is logical extension in which CPU switches jobs so frequently that users can interact with each job while it is running, creating </a:t>
            </a: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interactive</a:t>
            </a: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 computing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Response time </a:t>
            </a: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should be &lt; 1 second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Each user has at least one program executing in memory </a:t>
            </a:r>
            <a:r>
              <a:rPr lang="en-US" sz="2000" b="0" strike="noStrike" spc="-1" dirty="0">
                <a:solidFill>
                  <a:srgbClr val="262626"/>
                </a:solidFill>
                <a:latin typeface="Wingdings 3"/>
              </a:rPr>
              <a:t></a:t>
            </a: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process</a:t>
            </a:r>
            <a:endParaRPr lang="en-US" sz="2000" b="0" strike="noStrike" spc="-1" dirty="0">
              <a:solidFill>
                <a:srgbClr val="262626"/>
              </a:solidFill>
              <a:latin typeface="Calibri"/>
            </a:endParaRP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If several jobs ready to run at the same time </a:t>
            </a:r>
            <a:r>
              <a:rPr lang="en-US" sz="2000" b="0" strike="noStrike" spc="-1" dirty="0">
                <a:solidFill>
                  <a:srgbClr val="262626"/>
                </a:solidFill>
                <a:latin typeface="Wingdings 3"/>
              </a:rPr>
              <a:t></a:t>
            </a: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CPU scheduling</a:t>
            </a:r>
            <a:endParaRPr lang="en-US" sz="2000" b="0" strike="noStrike" spc="-1" dirty="0">
              <a:solidFill>
                <a:srgbClr val="262626"/>
              </a:solidFill>
              <a:latin typeface="Calibri"/>
            </a:endParaRP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If processes doesn't fit in memory, </a:t>
            </a: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swapping</a:t>
            </a: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 moves them in and out to run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Virtual memory </a:t>
            </a: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allows execution of processes not completely in memory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FFFFFF"/>
                </a:solidFill>
                <a:latin typeface="Corbel"/>
              </a:rPr>
              <a:t>Memory Layout for Multiprogrammed System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75" name="Picture 2"/>
          <p:cNvPicPr/>
          <p:nvPr/>
        </p:nvPicPr>
        <p:blipFill>
          <a:blip r:embed="rId2"/>
          <a:stretch/>
        </p:blipFill>
        <p:spPr>
          <a:xfrm>
            <a:off x="3066480" y="1878840"/>
            <a:ext cx="2720520" cy="4459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 fontScale="93500"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Dual-mode and Multimode Operation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TextShape 2"/>
          <p:cNvSpPr txBox="1"/>
          <p:nvPr/>
        </p:nvSpPr>
        <p:spPr>
          <a:xfrm>
            <a:off x="284040" y="1933200"/>
            <a:ext cx="8573760" cy="44546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7000"/>
          </a:bodyPr>
          <a:lstStyle/>
          <a:p>
            <a:pPr marL="453960" indent="-453600">
              <a:lnSpc>
                <a:spcPct val="9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1" strike="noStrike" spc="-1" dirty="0">
                <a:solidFill>
                  <a:srgbClr val="3366FF"/>
                </a:solidFill>
                <a:latin typeface="Calibri"/>
              </a:rPr>
              <a:t>Dual-mode </a:t>
            </a: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operation allows OS to protect itself and other system components</a:t>
            </a:r>
          </a:p>
          <a:p>
            <a:pPr marL="914400" lvl="1" indent="-456840">
              <a:lnSpc>
                <a:spcPct val="9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1" strike="noStrike" spc="-1" dirty="0">
                <a:solidFill>
                  <a:srgbClr val="3366FF"/>
                </a:solidFill>
                <a:latin typeface="Calibri"/>
              </a:rPr>
              <a:t>User mode </a:t>
            </a: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and </a:t>
            </a:r>
            <a:r>
              <a:rPr lang="en-US" sz="2200" b="1" strike="noStrike" spc="-1" dirty="0">
                <a:solidFill>
                  <a:srgbClr val="3366FF"/>
                </a:solidFill>
                <a:latin typeface="Calibri"/>
              </a:rPr>
              <a:t>kernel mode </a:t>
            </a:r>
            <a:endParaRPr lang="en-US" sz="2200" b="0" strike="noStrike" spc="-1" dirty="0">
              <a:solidFill>
                <a:srgbClr val="262626"/>
              </a:solidFill>
              <a:latin typeface="Calibri"/>
            </a:endParaRPr>
          </a:p>
          <a:p>
            <a:pPr marL="914400" lvl="1" indent="-456840">
              <a:lnSpc>
                <a:spcPct val="9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1" strike="noStrike" spc="-1" dirty="0">
                <a:solidFill>
                  <a:srgbClr val="3366FF"/>
                </a:solidFill>
                <a:latin typeface="Calibri"/>
              </a:rPr>
              <a:t>Mode bit </a:t>
            </a: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provided by hardware</a:t>
            </a:r>
          </a:p>
          <a:p>
            <a:pPr marL="1260360" lvl="2" indent="-345600">
              <a:lnSpc>
                <a:spcPct val="9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Provides ability to distinguish when system is running user code or kernel code</a:t>
            </a:r>
          </a:p>
          <a:p>
            <a:pPr marL="1260360" lvl="2" indent="-345600">
              <a:lnSpc>
                <a:spcPct val="9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Some instructions designated as </a:t>
            </a:r>
            <a:r>
              <a:rPr lang="en-US" sz="2000" b="1" strike="noStrike" spc="-1" dirty="0">
                <a:solidFill>
                  <a:srgbClr val="3366FF"/>
                </a:solidFill>
                <a:latin typeface="Calibri"/>
              </a:rPr>
              <a:t>privileged</a:t>
            </a: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, only executable in kernel mode</a:t>
            </a:r>
          </a:p>
          <a:p>
            <a:pPr marL="1260360" lvl="2" indent="-345600">
              <a:lnSpc>
                <a:spcPct val="90000"/>
              </a:lnSpc>
              <a:spcBef>
                <a:spcPts val="6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0" strike="noStrike" spc="-1" dirty="0">
                <a:solidFill>
                  <a:srgbClr val="262626"/>
                </a:solidFill>
                <a:latin typeface="Calibri"/>
              </a:rPr>
              <a:t>System call changes mode to kernel, return from call resets it to user</a:t>
            </a:r>
          </a:p>
          <a:p>
            <a:pPr marL="453960" indent="-453600">
              <a:lnSpc>
                <a:spcPct val="9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Increasingly CPUs support multi-mode operations</a:t>
            </a:r>
          </a:p>
          <a:p>
            <a:pPr marL="914400" lvl="1" indent="-456840">
              <a:lnSpc>
                <a:spcPct val="9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i.e. </a:t>
            </a:r>
            <a:r>
              <a:rPr lang="en-US" sz="2200" b="1" strike="noStrike" spc="-1" dirty="0">
                <a:solidFill>
                  <a:srgbClr val="3366FF"/>
                </a:solidFill>
                <a:latin typeface="Calibri"/>
              </a:rPr>
              <a:t>virtual machine manager </a:t>
            </a: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(</a:t>
            </a:r>
            <a:r>
              <a:rPr lang="en-US" sz="2200" b="1" strike="noStrike" spc="-1" dirty="0">
                <a:solidFill>
                  <a:srgbClr val="3366FF"/>
                </a:solidFill>
                <a:latin typeface="Calibri"/>
              </a:rPr>
              <a:t>VMM</a:t>
            </a:r>
            <a:r>
              <a:rPr lang="en-US" sz="2200" b="0" strike="noStrike" spc="-1" dirty="0">
                <a:solidFill>
                  <a:srgbClr val="262626"/>
                </a:solidFill>
                <a:latin typeface="Calibri"/>
              </a:rPr>
              <a:t>) mode for guest </a:t>
            </a:r>
            <a:r>
              <a:rPr lang="en-US" sz="2200" b="1" strike="noStrike" spc="-1" dirty="0">
                <a:solidFill>
                  <a:srgbClr val="3366FF"/>
                </a:solidFill>
                <a:latin typeface="Calibri"/>
              </a:rPr>
              <a:t>VMs</a:t>
            </a:r>
            <a:endParaRPr lang="en-US" sz="2200" b="0" strike="noStrike" spc="-1" dirty="0">
              <a:solidFill>
                <a:srgbClr val="262626"/>
              </a:solidFill>
              <a:latin typeface="Calibri"/>
            </a:endParaRPr>
          </a:p>
          <a:p>
            <a:endParaRPr lang="en-US" sz="2200" b="0" strike="noStrike" spc="-1" dirty="0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 fontScale="93500"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Transition from User to Kernel Mode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" name="TextShape 2"/>
          <p:cNvSpPr txBox="1"/>
          <p:nvPr/>
        </p:nvSpPr>
        <p:spPr>
          <a:xfrm>
            <a:off x="284040" y="1787400"/>
            <a:ext cx="8573760" cy="48070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Timer to prevent infinite loop / process hogging resources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Timer is set to interrupt the computer after some time period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Keep a counter that is decremented by the physical clock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Operating system set the counter (privileged instruction)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When counter zero generate an interrupt</a:t>
            </a: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Set up before scheduling process to regain control or terminate program that exceeds allotted 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 fontScale="93500"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Transition from User to Kernel Mode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81" name="Picture 2"/>
          <p:cNvPicPr/>
          <p:nvPr/>
        </p:nvPicPr>
        <p:blipFill>
          <a:blip r:embed="rId2"/>
          <a:stretch/>
        </p:blipFill>
        <p:spPr>
          <a:xfrm>
            <a:off x="1189800" y="2647800"/>
            <a:ext cx="6939000" cy="2512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Process Management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TextShape 2"/>
          <p:cNvSpPr txBox="1"/>
          <p:nvPr/>
        </p:nvSpPr>
        <p:spPr>
          <a:xfrm>
            <a:off x="284040" y="1870200"/>
            <a:ext cx="8573760" cy="468252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9500" lnSpcReduction="10000"/>
          </a:bodyPr>
          <a:lstStyle/>
          <a:p>
            <a:pPr marL="453960" indent="-453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A process is a program in execution. It is a unit of work within the system. Program is a </a:t>
            </a:r>
            <a:r>
              <a:rPr lang="en-US" sz="2400" b="1" i="1" strike="noStrike" spc="-1">
                <a:solidFill>
                  <a:srgbClr val="262626"/>
                </a:solidFill>
                <a:latin typeface="Calibri"/>
              </a:rPr>
              <a:t>passive entity</a:t>
            </a: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, process is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an </a:t>
            </a:r>
            <a:r>
              <a:rPr lang="en-US" sz="2400" b="1" i="1" strike="noStrike" spc="-1">
                <a:solidFill>
                  <a:srgbClr val="000000"/>
                </a:solidFill>
                <a:latin typeface="Calibri"/>
              </a:rPr>
              <a:t>active entity</a:t>
            </a: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453960" indent="-453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Process needs resources to accomplish its task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CPU, memory, I/O, files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Initialization data</a:t>
            </a:r>
          </a:p>
          <a:p>
            <a:pPr marL="453960" indent="-453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Process termination requires reclaim of any reusable resources</a:t>
            </a:r>
          </a:p>
          <a:p>
            <a:pPr marL="453960" indent="-453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Single-threaded process has one </a:t>
            </a:r>
            <a:r>
              <a:rPr lang="en-US" sz="2400" b="1" strike="noStrike" spc="-1">
                <a:solidFill>
                  <a:srgbClr val="3366FF"/>
                </a:solidFill>
                <a:latin typeface="Calibri"/>
              </a:rPr>
              <a:t>program counter</a:t>
            </a:r>
            <a:r>
              <a:rPr lang="en-US" sz="1670" b="1" strike="noStrike" spc="-1">
                <a:solidFill>
                  <a:srgbClr val="3366FF"/>
                </a:solidFill>
                <a:latin typeface="Calibri"/>
              </a:rPr>
              <a:t> </a:t>
            </a: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specifying location of next instruction to execute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Process executes instructions sequentially, one at a time, until completion</a:t>
            </a:r>
          </a:p>
          <a:p>
            <a:pPr marL="453960" indent="-453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Multi-threaded process has one program counter per thread</a:t>
            </a:r>
          </a:p>
          <a:p>
            <a:pPr marL="453960" indent="-453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Typically system has many processes, some user, some operating system running concurrently on one or more CPUs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Concurrency by multiplexing the CPUs among the processes / threads</a:t>
            </a:r>
          </a:p>
          <a:p>
            <a:pPr>
              <a:lnSpc>
                <a:spcPct val="90000"/>
              </a:lnSpc>
            </a:pPr>
            <a:endParaRPr lang="en-US" sz="22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Process Management Activities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TextShape 2"/>
          <p:cNvSpPr txBox="1"/>
          <p:nvPr/>
        </p:nvSpPr>
        <p:spPr>
          <a:xfrm>
            <a:off x="284040" y="2008800"/>
            <a:ext cx="8573760" cy="43362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1"/>
              </a:spcBef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The operating system is responsible for the following activities in connection with process management: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Creating and deleting both user and system processes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Suspending and resuming processes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Providing mechanisms for process synchronization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Providing mechanisms for process communication</a:t>
            </a:r>
          </a:p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 dirty="0">
                <a:solidFill>
                  <a:srgbClr val="262626"/>
                </a:solidFill>
                <a:latin typeface="Calibri"/>
              </a:rPr>
              <a:t>Providing mechanisms for deadlock handling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Memory Management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TextShape 2"/>
          <p:cNvSpPr txBox="1"/>
          <p:nvPr/>
        </p:nvSpPr>
        <p:spPr>
          <a:xfrm>
            <a:off x="284040" y="1911960"/>
            <a:ext cx="8573760" cy="45162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5000"/>
          </a:bodyPr>
          <a:lstStyle/>
          <a:p>
            <a:pPr marL="453960" indent="-45360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To execute a program all (or part) of the instructions must be in memory</a:t>
            </a:r>
          </a:p>
          <a:p>
            <a:pPr marL="453960" indent="-45360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All  (or part) of the data that is needed by the program must be in memory</a:t>
            </a:r>
          </a:p>
          <a:p>
            <a:pPr marL="453960" indent="-45360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Memory management determines what is in memory and when</a:t>
            </a: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Optimizing CPU utilization and computer response to users</a:t>
            </a:r>
          </a:p>
          <a:p>
            <a:pPr marL="453960" indent="-45360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Memory management activities</a:t>
            </a: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Keeping track of which parts of memory are currently being used and by whom</a:t>
            </a: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Deciding which processes (or parts thereof) and data to move into and out of memory</a:t>
            </a: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Allocating and deallocating memory space as needed</a:t>
            </a:r>
          </a:p>
          <a:p>
            <a:endParaRPr lang="en-US" sz="22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File-system Management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TextShape 2"/>
          <p:cNvSpPr txBox="1"/>
          <p:nvPr/>
        </p:nvSpPr>
        <p:spPr>
          <a:xfrm>
            <a:off x="284040" y="1828800"/>
            <a:ext cx="8573760" cy="47516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3000"/>
          </a:bodyPr>
          <a:lstStyle/>
          <a:p>
            <a:pPr marL="453960" indent="-453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OS provides uniform, logical view of information storage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Abstracts physical properties to logical storage unit  - </a:t>
            </a:r>
            <a:r>
              <a:rPr lang="en-US" sz="2200" b="1" strike="noStrike" spc="-1">
                <a:solidFill>
                  <a:srgbClr val="3366FF"/>
                </a:solidFill>
                <a:latin typeface="Calibri"/>
              </a:rPr>
              <a:t>file</a:t>
            </a:r>
            <a:endParaRPr lang="en-US" sz="2200" b="0" strike="noStrike" spc="-1">
              <a:solidFill>
                <a:srgbClr val="262626"/>
              </a:solidFill>
              <a:latin typeface="Calibri"/>
            </a:endParaRP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Each medium is controlled by device (i.e., disk drive, tape drive)</a:t>
            </a:r>
          </a:p>
          <a:p>
            <a:pPr marL="1260360" lvl="2" indent="-345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Varying properties include access speed, capacity, data-transfer rate, access method (sequential or random)</a:t>
            </a:r>
          </a:p>
          <a:p>
            <a:endParaRPr lang="en-US" sz="2000" b="0" strike="noStrike" spc="-1">
              <a:solidFill>
                <a:srgbClr val="262626"/>
              </a:solidFill>
              <a:latin typeface="Calibri"/>
            </a:endParaRPr>
          </a:p>
          <a:p>
            <a:pPr marL="453960" indent="-453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File-System management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Files usually organized into directories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Access control on most systems to determine who can access what</a:t>
            </a:r>
          </a:p>
          <a:p>
            <a:pPr marL="914400" lvl="1" indent="-456840">
              <a:lnSpc>
                <a:spcPct val="9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OS activities include</a:t>
            </a:r>
          </a:p>
          <a:p>
            <a:pPr marL="1260360" lvl="2" indent="-345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Creating and deleting files and directories</a:t>
            </a:r>
          </a:p>
          <a:p>
            <a:pPr marL="1260360" lvl="2" indent="-345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Primitives to manipulate files and directories</a:t>
            </a:r>
          </a:p>
          <a:p>
            <a:pPr marL="1260360" lvl="2" indent="-345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Mapping files onto secondary storage</a:t>
            </a:r>
          </a:p>
          <a:p>
            <a:pPr marL="1260360" lvl="2" indent="-345600">
              <a:lnSpc>
                <a:spcPct val="9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000" b="0" strike="noStrike" spc="-1">
                <a:solidFill>
                  <a:srgbClr val="262626"/>
                </a:solidFill>
                <a:latin typeface="Calibri"/>
              </a:rPr>
              <a:t>Backup files onto stable (non-volatile) storage media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Shape 1"/>
          <p:cNvSpPr txBox="1"/>
          <p:nvPr/>
        </p:nvSpPr>
        <p:spPr>
          <a:xfrm>
            <a:off x="284040" y="630360"/>
            <a:ext cx="8573760" cy="967320"/>
          </a:xfrm>
          <a:prstGeom prst="rect">
            <a:avLst/>
          </a:prstGeom>
          <a:solidFill>
            <a:srgbClr val="262626">
              <a:alpha val="70000"/>
            </a:srgbClr>
          </a:solidFill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200" b="0" strike="noStrike" spc="-1">
                <a:solidFill>
                  <a:srgbClr val="FFFFFF"/>
                </a:solidFill>
                <a:latin typeface="Corbel"/>
              </a:rPr>
              <a:t>Caching</a:t>
            </a:r>
            <a:endParaRPr lang="en-US" sz="4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TextShape 2"/>
          <p:cNvSpPr txBox="1"/>
          <p:nvPr/>
        </p:nvSpPr>
        <p:spPr>
          <a:xfrm>
            <a:off x="284040" y="1911960"/>
            <a:ext cx="8573760" cy="46548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3960" indent="-45360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Important principle, performed at many levels in a computer (in hardware, operating system, software)</a:t>
            </a:r>
          </a:p>
          <a:p>
            <a:pPr marL="453960" indent="-45360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Information in use copied from slower to faster storage temporarily</a:t>
            </a:r>
          </a:p>
          <a:p>
            <a:pPr marL="453960" indent="-45360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Faster storage (cache) checked first to determine if information is there</a:t>
            </a: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If it is, information used directly from the cache (fast)</a:t>
            </a: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If not, data copied to cache and used there</a:t>
            </a:r>
          </a:p>
          <a:p>
            <a:pPr marL="453960" indent="-453600">
              <a:lnSpc>
                <a:spcPct val="100000"/>
              </a:lnSpc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Cache smaller than storage being cached</a:t>
            </a: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Cache management important design problem</a:t>
            </a:r>
          </a:p>
          <a:p>
            <a:pPr marL="914400" lvl="1" indent="-456840">
              <a:lnSpc>
                <a:spcPct val="100000"/>
              </a:lnSpc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Cache size and replacement policy</a:t>
            </a:r>
          </a:p>
          <a:p>
            <a:pPr>
              <a:lnSpc>
                <a:spcPct val="100000"/>
              </a:lnSpc>
            </a:pPr>
            <a:endParaRPr lang="en-US" sz="2200" b="0" strike="noStrike" spc="-1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1"/>
          <p:cNvSpPr/>
          <p:nvPr/>
        </p:nvSpPr>
        <p:spPr>
          <a:xfrm>
            <a:off x="335520" y="595080"/>
            <a:ext cx="3232440" cy="493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2001"/>
              </a:spcBef>
            </a:pPr>
            <a:r>
              <a:rPr lang="en-US" sz="2600" b="1" strike="noStrike" spc="-1">
                <a:solidFill>
                  <a:srgbClr val="000000"/>
                </a:solidFill>
                <a:latin typeface="Calibri"/>
              </a:rPr>
              <a:t>Books</a:t>
            </a:r>
            <a:endParaRPr lang="en-US" sz="2600" b="0" strike="noStrike" spc="-1">
              <a:latin typeface="Arial"/>
            </a:endParaRPr>
          </a:p>
        </p:txBody>
      </p:sp>
      <p:sp>
        <p:nvSpPr>
          <p:cNvPr id="193" name="CustomShape 2"/>
          <p:cNvSpPr/>
          <p:nvPr/>
        </p:nvSpPr>
        <p:spPr>
          <a:xfrm>
            <a:off x="335520" y="1203120"/>
            <a:ext cx="8229240" cy="3775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Operating Systems Concept</a:t>
            </a:r>
            <a:endParaRPr lang="en-US" sz="2400" b="0" strike="noStrike" spc="-1">
              <a:latin typeface="Arial"/>
            </a:endParaRP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Written by Galvin and Silberschatz</a:t>
            </a:r>
            <a:endParaRPr lang="en-US" sz="2200" b="0" strike="noStrike" spc="-1">
              <a:latin typeface="Arial"/>
            </a:endParaRP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Edition: 9</a:t>
            </a:r>
            <a:r>
              <a:rPr lang="en-US" sz="2200" b="0" strike="noStrike" spc="-1" baseline="30000">
                <a:solidFill>
                  <a:srgbClr val="262626"/>
                </a:solidFill>
                <a:latin typeface="Calibri"/>
              </a:rPr>
              <a:t>th</a:t>
            </a: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 </a:t>
            </a:r>
            <a:endParaRPr lang="en-US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335520" y="595080"/>
            <a:ext cx="3232440" cy="493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2001"/>
              </a:spcBef>
            </a:pPr>
            <a:r>
              <a:rPr lang="en-US" sz="2600" b="1" strike="noStrike" spc="-1">
                <a:solidFill>
                  <a:srgbClr val="000000"/>
                </a:solidFill>
                <a:latin typeface="Calibri"/>
              </a:rPr>
              <a:t>References</a:t>
            </a:r>
            <a:endParaRPr lang="en-US" sz="2600" b="0" strike="noStrike" spc="-1"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430560" y="1114200"/>
            <a:ext cx="8229240" cy="3775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453960" indent="-453600">
              <a:lnSpc>
                <a:spcPct val="100000"/>
              </a:lnSpc>
              <a:spcBef>
                <a:spcPts val="2001"/>
              </a:spcBef>
              <a:buClr>
                <a:srgbClr val="A6A6A6"/>
              </a:buClr>
              <a:buSzPct val="90000"/>
              <a:buFont typeface="Wingdings" charset="2"/>
              <a:buChar char=""/>
            </a:pPr>
            <a:r>
              <a:rPr lang="en-US" sz="2400" b="0" strike="noStrike" spc="-1">
                <a:solidFill>
                  <a:srgbClr val="262626"/>
                </a:solidFill>
                <a:latin typeface="Calibri"/>
              </a:rPr>
              <a:t>Operating Systems Concept</a:t>
            </a:r>
            <a:endParaRPr lang="en-US" sz="2400" b="0" strike="noStrike" spc="-1">
              <a:latin typeface="Arial"/>
            </a:endParaRP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Written by Galvin and Silberschatz</a:t>
            </a:r>
            <a:endParaRPr lang="en-US" sz="2200" b="0" strike="noStrike" spc="-1">
              <a:latin typeface="Arial"/>
            </a:endParaRPr>
          </a:p>
          <a:p>
            <a:pPr marL="914400" lvl="1" indent="-456840">
              <a:lnSpc>
                <a:spcPct val="100000"/>
              </a:lnSpc>
              <a:spcBef>
                <a:spcPts val="601"/>
              </a:spcBef>
              <a:buClr>
                <a:srgbClr val="404040"/>
              </a:buClr>
              <a:buSzPct val="90000"/>
              <a:buFont typeface="Wingdings" charset="2"/>
              <a:buChar char=""/>
            </a:pP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Edition: 9</a:t>
            </a:r>
            <a:r>
              <a:rPr lang="en-US" sz="2200" b="0" strike="noStrike" spc="-1" baseline="30000">
                <a:solidFill>
                  <a:srgbClr val="262626"/>
                </a:solidFill>
                <a:latin typeface="Calibri"/>
              </a:rPr>
              <a:t>th</a:t>
            </a:r>
            <a:r>
              <a:rPr lang="en-US" sz="2200" b="0" strike="noStrike" spc="-1">
                <a:solidFill>
                  <a:srgbClr val="262626"/>
                </a:solidFill>
                <a:latin typeface="Calibri"/>
              </a:rPr>
              <a:t> </a:t>
            </a:r>
            <a:endParaRPr lang="en-US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954</TotalTime>
  <Words>1637</Words>
  <Application>Microsoft Macintosh PowerPoint</Application>
  <PresentationFormat>On-screen Show (4:3)</PresentationFormat>
  <Paragraphs>210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Calibri</vt:lpstr>
      <vt:lpstr>Corbel</vt:lpstr>
      <vt:lpstr>Symbol</vt:lpstr>
      <vt:lpstr>Times New Roman</vt:lpstr>
      <vt:lpstr>Verdana</vt:lpstr>
      <vt:lpstr>Wingdings</vt:lpstr>
      <vt:lpstr>Wingdings 3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subject/>
  <dc:creator>Mahbubul Syeed</dc:creator>
  <dc:description/>
  <cp:lastModifiedBy>Microsoft Office User</cp:lastModifiedBy>
  <cp:revision>42</cp:revision>
  <dcterms:created xsi:type="dcterms:W3CDTF">2018-12-10T17:20:29Z</dcterms:created>
  <dcterms:modified xsi:type="dcterms:W3CDTF">2020-10-21T08:41:45Z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home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21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26</vt:i4>
  </property>
</Properties>
</file>