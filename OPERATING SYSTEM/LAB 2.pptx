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69" r:id="rId18"/>
  </p:sldIdLst>
  <p:sldSz cx="9144000" cy="6858000" type="screen4x3"/>
  <p:notesSz cx="7772400" cy="100584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0728"/>
  </p:normalViewPr>
  <p:slideViewPr>
    <p:cSldViewPr snapToGrid="0" snapToObjects="1">
      <p:cViewPr varScale="1">
        <p:scale>
          <a:sx n="80" d="100"/>
          <a:sy n="80" d="100"/>
        </p:scale>
        <p:origin x="2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8F17C-2769-8146-A62B-173EB8733BEC}" type="datetimeFigureOut">
              <a:rPr lang="en-BD" smtClean="0"/>
              <a:t>21/10/20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01FFF-1896-4E4D-841F-26FBF9F23FA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5351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BD" dirty="0"/>
              <a:t>mdir ..we can delete empty directory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01FFF-1896-4E4D-841F-26FBF9F23FA0}" type="slidenum">
              <a:rPr lang="en-BD" smtClean="0"/>
              <a:t>12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7239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8D0EE0-9E3F-4259-BB01-C7F4FA85B326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10/21/20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306280" y="167400"/>
            <a:ext cx="630360" cy="359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6C22586-2436-496E-8858-22469EC5445E}" type="slidenum">
              <a:rPr lang="en-US" sz="1400" b="1" strike="noStrike" spc="-1">
                <a:solidFill>
                  <a:srgbClr val="262626"/>
                </a:solidFill>
                <a:latin typeface="Calibri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3" name="CustomShape 4"/>
          <p:cNvSpPr/>
          <p:nvPr/>
        </p:nvSpPr>
        <p:spPr>
          <a:xfrm>
            <a:off x="284040" y="444600"/>
            <a:ext cx="8573760" cy="1468080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" name="Group 5"/>
          <p:cNvGrpSpPr/>
          <p:nvPr/>
        </p:nvGrpSpPr>
        <p:grpSpPr>
          <a:xfrm>
            <a:off x="284040" y="1906560"/>
            <a:ext cx="8575920" cy="137160"/>
            <a:chOff x="284040" y="1906560"/>
            <a:chExt cx="8575920" cy="137160"/>
          </a:xfrm>
        </p:grpSpPr>
        <p:sp>
          <p:nvSpPr>
            <p:cNvPr id="5" name="CustomShape 6"/>
            <p:cNvSpPr/>
            <p:nvPr/>
          </p:nvSpPr>
          <p:spPr>
            <a:xfrm>
              <a:off x="284040" y="1906560"/>
              <a:ext cx="274284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3026520" y="1906560"/>
              <a:ext cx="159984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4626720" y="1906560"/>
              <a:ext cx="423324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" name="PlaceHolder 9"/>
          <p:cNvSpPr>
            <a:spLocks noGrp="1"/>
          </p:cNvSpPr>
          <p:nvPr>
            <p:ph type="title"/>
          </p:nvPr>
        </p:nvSpPr>
        <p:spPr>
          <a:xfrm>
            <a:off x="421200" y="448920"/>
            <a:ext cx="7808760" cy="1087920"/>
          </a:xfrm>
          <a:prstGeom prst="rect">
            <a:avLst/>
          </a:prstGeom>
        </p:spPr>
        <p:txBody>
          <a:bodyPr anchor="b">
            <a:normAutofit fontScale="77000"/>
          </a:bodyPr>
          <a:lstStyle/>
          <a:p>
            <a:pPr>
              <a:lnSpc>
                <a:spcPts val="4601"/>
              </a:lnSpc>
            </a:pPr>
            <a:r>
              <a:rPr lang="fi-FI" sz="4200" b="0" strike="noStrike" spc="-1">
                <a:solidFill>
                  <a:srgbClr val="FFFFFF"/>
                </a:solidFill>
                <a:latin typeface="Corbel"/>
              </a:rPr>
              <a:t>Click to edit Master title style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284040" y="6226920"/>
            <a:ext cx="8573760" cy="17352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" name="Picture 2" descr="Image result for AIUB logo"/>
          <p:cNvPicPr/>
          <p:nvPr/>
        </p:nvPicPr>
        <p:blipFill>
          <a:blip r:embed="rId14"/>
          <a:stretch/>
        </p:blipFill>
        <p:spPr>
          <a:xfrm>
            <a:off x="7438680" y="459720"/>
            <a:ext cx="1419120" cy="1428120"/>
          </a:xfrm>
          <a:prstGeom prst="rect">
            <a:avLst/>
          </a:prstGeom>
          <a:ln>
            <a:noFill/>
          </a:ln>
        </p:spPr>
      </p:pic>
      <p:sp>
        <p:nvSpPr>
          <p:cNvPr id="11" name="PlaceHolder 11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284040" y="455760"/>
            <a:ext cx="8573760" cy="11336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9" name="Group 2"/>
          <p:cNvGrpSpPr/>
          <p:nvPr/>
        </p:nvGrpSpPr>
        <p:grpSpPr>
          <a:xfrm>
            <a:off x="284040" y="1577880"/>
            <a:ext cx="8575920" cy="137160"/>
            <a:chOff x="284040" y="1577880"/>
            <a:chExt cx="8575920" cy="137160"/>
          </a:xfrm>
        </p:grpSpPr>
        <p:sp>
          <p:nvSpPr>
            <p:cNvPr id="50" name="CustomShape 3"/>
            <p:cNvSpPr/>
            <p:nvPr/>
          </p:nvSpPr>
          <p:spPr>
            <a:xfrm>
              <a:off x="284040" y="1577880"/>
              <a:ext cx="159984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1" name="CustomShape 4"/>
            <p:cNvSpPr/>
            <p:nvPr/>
          </p:nvSpPr>
          <p:spPr>
            <a:xfrm>
              <a:off x="1885320" y="1577880"/>
              <a:ext cx="274284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" name="CustomShape 5"/>
            <p:cNvSpPr/>
            <p:nvPr/>
          </p:nvSpPr>
          <p:spPr>
            <a:xfrm>
              <a:off x="4626720" y="1577880"/>
              <a:ext cx="423324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3" name="PlaceHolder 6"/>
          <p:cNvSpPr>
            <a:spLocks noGrp="1"/>
          </p:cNvSpPr>
          <p:nvPr>
            <p:ph type="title"/>
          </p:nvPr>
        </p:nvSpPr>
        <p:spPr>
          <a:xfrm>
            <a:off x="284040" y="630360"/>
            <a:ext cx="8573760" cy="9673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fi-FI" sz="4200" b="0" strike="noStrike" spc="-1">
                <a:solidFill>
                  <a:srgbClr val="FFFFFF"/>
                </a:solidFill>
                <a:latin typeface="Corbel"/>
              </a:rPr>
              <a:t>Click to edit Master title style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body"/>
          </p:nvPr>
        </p:nvSpPr>
        <p:spPr>
          <a:xfrm>
            <a:off x="1781640" y="2133720"/>
            <a:ext cx="7076520" cy="3992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2400" b="0" strike="noStrike" spc="-1">
                <a:solidFill>
                  <a:srgbClr val="262626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"/>
            </a:pPr>
            <a:r>
              <a:rPr lang="fi-FI" sz="2200" b="0" strike="noStrike" spc="-1">
                <a:solidFill>
                  <a:srgbClr val="262626"/>
                </a:solidFill>
                <a:latin typeface="Calibri"/>
              </a:rPr>
              <a:t>Second level</a:t>
            </a: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  <a:p>
            <a:pPr marL="1260360" lvl="2" indent="-345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2000" b="0" strike="noStrike" spc="-1">
                <a:solidFill>
                  <a:srgbClr val="262626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rgbClr val="262626"/>
              </a:solidFill>
              <a:latin typeface="Calibri"/>
            </a:endParaRPr>
          </a:p>
          <a:p>
            <a:pPr marL="1600200" lvl="3" indent="-33948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"/>
            </a:pPr>
            <a:r>
              <a:rPr lang="fi-FI" sz="1800" b="0" strike="noStrike" spc="-1">
                <a:solidFill>
                  <a:srgbClr val="262626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rgbClr val="262626"/>
              </a:solidFill>
              <a:latin typeface="Calibri"/>
            </a:endParaRPr>
          </a:p>
          <a:p>
            <a:pPr marL="1940040" lvl="4" indent="-33156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1800" b="0" strike="noStrike" spc="-1">
                <a:solidFill>
                  <a:srgbClr val="262626"/>
                </a:solidFill>
                <a:latin typeface="Calibri"/>
              </a:rPr>
              <a:t>Fifth level</a:t>
            </a:r>
            <a:endParaRPr lang="en-US" sz="18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8297BA-08E7-487C-8E55-DB02EC1E79FF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10/21/20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56" name="PlaceHolder 9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7" name="PlaceHolder 10"/>
          <p:cNvSpPr>
            <a:spLocks noGrp="1"/>
          </p:cNvSpPr>
          <p:nvPr>
            <p:ph type="sldNum"/>
          </p:nvPr>
        </p:nvSpPr>
        <p:spPr>
          <a:xfrm>
            <a:off x="8306280" y="167400"/>
            <a:ext cx="630360" cy="359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6F199F0B-6CEB-4F67-AEF2-13294DA2C5DA}" type="slidenum">
              <a:rPr lang="en-US" sz="1400" b="1" strike="noStrike" spc="-1">
                <a:solidFill>
                  <a:srgbClr val="262626"/>
                </a:solidFill>
                <a:latin typeface="Calibri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E10612A-4977-430A-A211-772527A4ADAF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10/21/20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grpSp>
        <p:nvGrpSpPr>
          <p:cNvPr id="96" name="Group 3"/>
          <p:cNvGrpSpPr/>
          <p:nvPr/>
        </p:nvGrpSpPr>
        <p:grpSpPr>
          <a:xfrm>
            <a:off x="284040" y="452880"/>
            <a:ext cx="7364880" cy="137160"/>
            <a:chOff x="284040" y="452880"/>
            <a:chExt cx="7364880" cy="137160"/>
          </a:xfrm>
        </p:grpSpPr>
        <p:sp>
          <p:nvSpPr>
            <p:cNvPr id="97" name="CustomShape 4"/>
            <p:cNvSpPr/>
            <p:nvPr/>
          </p:nvSpPr>
          <p:spPr>
            <a:xfrm>
              <a:off x="284040" y="452880"/>
              <a:ext cx="137376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8" name="CustomShape 5"/>
            <p:cNvSpPr/>
            <p:nvPr/>
          </p:nvSpPr>
          <p:spPr>
            <a:xfrm>
              <a:off x="1659240" y="452880"/>
              <a:ext cx="235548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" name="CustomShape 6"/>
            <p:cNvSpPr/>
            <p:nvPr/>
          </p:nvSpPr>
          <p:spPr>
            <a:xfrm>
              <a:off x="4013640" y="452880"/>
              <a:ext cx="363528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00" name="Picture 2" descr="Image result for AIUB logo"/>
          <p:cNvPicPr/>
          <p:nvPr/>
        </p:nvPicPr>
        <p:blipFill>
          <a:blip r:embed="rId14"/>
          <a:stretch/>
        </p:blipFill>
        <p:spPr>
          <a:xfrm>
            <a:off x="7649280" y="55800"/>
            <a:ext cx="1278720" cy="1286640"/>
          </a:xfrm>
          <a:prstGeom prst="rect">
            <a:avLst/>
          </a:prstGeom>
          <a:ln>
            <a:noFill/>
          </a:ln>
        </p:spPr>
      </p:pic>
      <p:sp>
        <p:nvSpPr>
          <p:cNvPr id="101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02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21200" y="448920"/>
            <a:ext cx="7808760" cy="108792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ts val="4601"/>
              </a:lnSpc>
            </a:pPr>
            <a:r>
              <a:rPr lang="en-US" sz="4200" b="0" strike="noStrike" spc="-1" dirty="0">
                <a:solidFill>
                  <a:srgbClr val="FFFFFF"/>
                </a:solidFill>
                <a:latin typeface="Corbel"/>
              </a:rPr>
              <a:t>LAB 2 </a:t>
            </a: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476280" y="1532520"/>
            <a:ext cx="2789280" cy="4842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Course Code: CSC 2209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77040" y="2446920"/>
            <a:ext cx="9024120" cy="70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Arial"/>
              </a:rPr>
              <a:t>Dept. of Computer Science</a:t>
            </a:r>
            <a:endParaRPr lang="en-US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Arial"/>
              </a:rPr>
              <a:t>Faculty of Science and Technology</a:t>
            </a:r>
            <a:endParaRPr lang="en-US" sz="2000" b="0" strike="noStrike" spc="-1">
              <a:latin typeface="Arial"/>
            </a:endParaRPr>
          </a:p>
        </p:txBody>
      </p:sp>
      <p:graphicFrame>
        <p:nvGraphicFramePr>
          <p:cNvPr id="142" name="Table 4"/>
          <p:cNvGraphicFramePr/>
          <p:nvPr/>
        </p:nvGraphicFramePr>
        <p:xfrm>
          <a:off x="476280" y="5186160"/>
          <a:ext cx="8335440" cy="757440"/>
        </p:xfrm>
        <a:graphic>
          <a:graphicData uri="http://schemas.openxmlformats.org/drawingml/2006/table">
            <a:tbl>
              <a:tblPr/>
              <a:tblGrid>
                <a:gridCol w="14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Lecturer No: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Week No: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Semester: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D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Lecturer: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i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Name &amp; email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" name="CustomShape 5"/>
          <p:cNvSpPr/>
          <p:nvPr/>
        </p:nvSpPr>
        <p:spPr>
          <a:xfrm>
            <a:off x="3320640" y="1538280"/>
            <a:ext cx="416412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Course Title: Operating Systems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421200" y="448920"/>
            <a:ext cx="7808760" cy="10879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ts val="4601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Lecture Outline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486720" y="2363760"/>
            <a:ext cx="7753680" cy="38862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cat Command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Hidden Files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Showing Contents of a File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How to Append Files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How to Concatenate Files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cp Command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mv Command</a:t>
            </a:r>
            <a:endParaRPr lang="en-US" sz="24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rm Command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cat command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TextShape 2"/>
          <p:cNvSpPr txBox="1"/>
          <p:nvPr/>
        </p:nvSpPr>
        <p:spPr>
          <a:xfrm>
            <a:off x="284040" y="1967400"/>
            <a:ext cx="8573760" cy="41583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cat &gt;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test.txt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    This is a test.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    I like Unix operating systems.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To save the changes press CTRL-d i.e. press and hold CTRL and press d. Create another text file called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bar.txt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as follows: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Exercise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1520640" y="2508120"/>
            <a:ext cx="6324120" cy="1850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en-US" sz="3600" b="0" strike="noStrike" spc="-12" dirty="0">
                <a:solidFill>
                  <a:srgbClr val="000000"/>
                </a:solidFill>
                <a:latin typeface="Times New Roman"/>
                <a:ea typeface="Times New Roman"/>
              </a:rPr>
              <a:t>In dir1, create a text file called ‘file1.txt’, with the text: this is my first text</a:t>
            </a:r>
            <a:r>
              <a:rPr lang="en-US" sz="3600" b="0" strike="noStrike" spc="-7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3600" b="0" strike="noStrike" spc="-12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endParaRPr lang="en-US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Hidden Files 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284040" y="1842480"/>
            <a:ext cx="8573760" cy="48765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The special . and .. directories don’t show up when you do ls, they are </a:t>
            </a: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hidden files</a:t>
            </a:r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Similarly we have hidden files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Simple rule: files whose names start with . are considered ‘hidden’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Make ls display all files, even the hidden ones, by giving it the -a (all) option: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$ </a:t>
            </a: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ls -a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. .. .bashrc .profile report.doc</a:t>
            </a: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Hidden files are often used for configuration files</a:t>
            </a: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Usually found in a user’s home directory</a:t>
            </a:r>
          </a:p>
          <a:p>
            <a:pPr marL="453960" indent="-453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You can still read hidden files — they just don’t get listed by ls by default </a:t>
            </a:r>
            <a:br/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latin typeface="Corbel"/>
              </a:rPr>
              <a:t>cat command to show content of a file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284040" y="1911960"/>
            <a:ext cx="8573760" cy="42138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It's used to print the contents of a file to the screen(stdout more precisely), really useful when you want to have a quick look on contents of a file. 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As example, use </a:t>
            </a:r>
            <a:r>
              <a:rPr lang="en-US" sz="2400" b="1" strike="noStrike" spc="-1">
                <a:solidFill>
                  <a:srgbClr val="262626"/>
                </a:solidFill>
                <a:latin typeface="Calibri"/>
              </a:rPr>
              <a:t>cat a_text_file </a:t>
            </a: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to get the inside contents of that file in your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 dirty="0">
                <a:solidFill>
                  <a:srgbClr val="FFFFFF"/>
                </a:solidFill>
                <a:latin typeface="Corbel"/>
              </a:rPr>
              <a:t>cat command to append</a:t>
            </a: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TextShape 2"/>
          <p:cNvSpPr txBox="1"/>
          <p:nvPr/>
        </p:nvSpPr>
        <p:spPr>
          <a:xfrm>
            <a:off x="284040" y="1967400"/>
            <a:ext cx="8573760" cy="41583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Use the (&gt;&gt;) operator to append the contents of file1.txt to file2.txt :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cat file1.txt &gt;&gt; file2.txt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284040" y="1953360"/>
            <a:ext cx="8573760" cy="41724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3000" lnSpcReduction="10000"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create a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cat&gt;filename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cat&gt;ex1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view the content of the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 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 ex1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append some details with the existing details in the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cat&gt;&gt;filename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cat&gt;&gt;ex1 </a:t>
            </a:r>
            <a:br>
              <a:rPr dirty="0"/>
            </a:b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</a:p>
        </p:txBody>
      </p:sp>
      <p:sp>
        <p:nvSpPr>
          <p:cNvPr id="157" name="TextShape 2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Create, View and Append file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Concatenate multiple files 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TextShape 2"/>
          <p:cNvSpPr txBox="1"/>
          <p:nvPr/>
        </p:nvSpPr>
        <p:spPr>
          <a:xfrm>
            <a:off x="284040" y="1953360"/>
            <a:ext cx="8573760" cy="4172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concatenate multiple files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cat file1 file2 &gt;&gt; file3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cat computer compiler &gt;&gt; world 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cp command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284040" y="1933200"/>
            <a:ext cx="8573760" cy="3992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cp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, You can copy files and directories with this command. Typical usage is like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cp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file_a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file_1_copy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or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cp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directory_a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dir_a_copy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 marL="803160" lvl="1" indent="-34272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Syntax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cp source destination</a:t>
            </a:r>
            <a:br>
              <a:rPr dirty="0"/>
            </a:b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Example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cp ex1 ex2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Also don't forget to use proper path when you're coping something to different location.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mv command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TextShape 2"/>
          <p:cNvSpPr txBox="1"/>
          <p:nvPr/>
        </p:nvSpPr>
        <p:spPr>
          <a:xfrm>
            <a:off x="284040" y="1807920"/>
            <a:ext cx="8573760" cy="3992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The mv command is used to move or rename directories and files.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To rename a file use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mv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old_name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new_name</a:t>
            </a:r>
            <a:br>
              <a:rPr dirty="0"/>
            </a:b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Syntax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mv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oldfile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newfile</a:t>
            </a:r>
            <a:br>
              <a:rPr dirty="0"/>
            </a:b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Example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: $ mv ex1 ex3 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</a:p>
          <a:p>
            <a:pPr>
              <a:lnSpc>
                <a:spcPct val="100000"/>
              </a:lnSpc>
              <a:spcBef>
                <a:spcPts val="2001"/>
              </a:spcBef>
            </a:pP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/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rm command</a:t>
            </a:r>
            <a:br/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TextShape 2"/>
          <p:cNvSpPr txBox="1"/>
          <p:nvPr/>
        </p:nvSpPr>
        <p:spPr>
          <a:xfrm>
            <a:off x="284040" y="1820520"/>
            <a:ext cx="8573760" cy="43671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5000" lnSpcReduction="10000"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The rm command is used to remove files or directory.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delete a file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rm filename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rm ex1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delete all files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rm * 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Rm –d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dir_name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(empty directory remove)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rm -r /</a:t>
            </a:r>
            <a:r>
              <a:rPr lang="en-US" sz="2400" b="1" strike="noStrike" spc="-1" dirty="0" err="1">
                <a:solidFill>
                  <a:srgbClr val="262626"/>
                </a:solidFill>
                <a:latin typeface="Calibri"/>
              </a:rPr>
              <a:t>tmp</a:t>
            </a: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/backup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to remove everything that folder.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Of course you've to be careful before removing anything.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latin typeface="Corbel"/>
              </a:rPr>
              <a:t>Create, change and remove a directory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284040" y="1833120"/>
            <a:ext cx="8573760" cy="46368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create a directory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mkdir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dirname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change the name of the directory (!!)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cd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dirname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(!! mv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old_name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new_name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)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remove the directory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rmdir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dirname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Example: $ </a:t>
            </a:r>
            <a:r>
              <a:rPr lang="en-US" sz="2400" b="0" strike="noStrike" spc="-1" dirty="0" err="1">
                <a:solidFill>
                  <a:srgbClr val="262626"/>
                </a:solidFill>
                <a:latin typeface="Calibri"/>
              </a:rPr>
              <a:t>rmdir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flower 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262626"/>
                </a:solidFill>
                <a:latin typeface="Calibri"/>
              </a:rPr>
              <a:t>To delete all directories </a:t>
            </a:r>
            <a:r>
              <a:rPr lang="en-US" sz="2400" b="0" strike="noStrike" spc="-1" dirty="0">
                <a:solidFill>
                  <a:srgbClr val="212529"/>
                </a:solidFill>
                <a:latin typeface="montserrat"/>
              </a:rPr>
              <a:t>The </a:t>
            </a:r>
            <a:r>
              <a:rPr lang="en-US" sz="2400" b="0" strike="noStrike" spc="-1" dirty="0">
                <a:solidFill>
                  <a:srgbClr val="212529"/>
                </a:solidFill>
                <a:latin typeface="Inconsolata"/>
              </a:rPr>
              <a:t>-p</a:t>
            </a:r>
            <a:r>
              <a:rPr lang="en-US" sz="2400" b="0" strike="noStrike" spc="-1" dirty="0">
                <a:solidFill>
                  <a:srgbClr val="212529"/>
                </a:solidFill>
                <a:latin typeface="montserrat"/>
              </a:rPr>
              <a:t> option can delete directory and its subdirectories/sub-folders:</a:t>
            </a:r>
            <a:br>
              <a:rPr dirty="0"/>
            </a:b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Syntax: $ </a:t>
            </a:r>
            <a:r>
              <a:rPr lang="en-US" sz="2400" b="1" strike="noStrike" spc="-1" dirty="0" err="1">
                <a:solidFill>
                  <a:srgbClr val="212529"/>
                </a:solidFill>
                <a:latin typeface="Inconsolata"/>
              </a:rPr>
              <a:t>rmdir</a:t>
            </a:r>
            <a:r>
              <a:rPr lang="en-US" sz="2400" b="1" strike="noStrike" spc="-1" dirty="0">
                <a:solidFill>
                  <a:srgbClr val="212529"/>
                </a:solidFill>
                <a:latin typeface="Inconsolata"/>
              </a:rPr>
              <a:t> -p dir1/dir2/dir3</a:t>
            </a:r>
            <a:endParaRPr lang="en-US" sz="24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DAA7-8714-274F-A1EB-726F5695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C3D5A-90CF-954A-8BC8-4CC261973BE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endParaRPr lang="en-US" sz="1500" spc="-12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r>
              <a:rPr lang="en-US" sz="1500" spc="-12" dirty="0">
                <a:solidFill>
                  <a:srgbClr val="000000"/>
                </a:solidFill>
                <a:latin typeface="Times New Roman"/>
                <a:ea typeface="Times New Roman"/>
              </a:rPr>
              <a:t>In AIUB, create a text file called ‘file1.txt’, with the text: </a:t>
            </a:r>
          </a:p>
          <a:p>
            <a:pPr marL="0" indent="0">
              <a:buNone/>
            </a:pPr>
            <a:r>
              <a:rPr lang="en-US" sz="1500" spc="-12" dirty="0">
                <a:solidFill>
                  <a:srgbClr val="000000"/>
                </a:solidFill>
                <a:latin typeface="Times New Roman"/>
                <a:ea typeface="Times New Roman"/>
              </a:rPr>
              <a:t>“this is my first text</a:t>
            </a:r>
            <a:r>
              <a:rPr lang="en-US" sz="1500" spc="-7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500" spc="-12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</a:p>
          <a:p>
            <a:pPr marL="0" indent="0">
              <a:buNone/>
            </a:pPr>
            <a:r>
              <a:rPr lang="en-US" sz="1500" spc="-12" dirty="0">
                <a:solidFill>
                  <a:srgbClr val="000000"/>
                </a:solidFill>
                <a:latin typeface="Times New Roman"/>
              </a:rPr>
              <a:t>Second line of my first text file”</a:t>
            </a:r>
          </a:p>
          <a:p>
            <a:r>
              <a:rPr lang="en-US" sz="1500" spc="-12" dirty="0">
                <a:solidFill>
                  <a:srgbClr val="000000"/>
                </a:solidFill>
                <a:latin typeface="Times New Roman"/>
              </a:rPr>
              <a:t>Create another file name file2.txt with the text</a:t>
            </a:r>
          </a:p>
          <a:p>
            <a:pPr marL="0" indent="0">
              <a:buNone/>
            </a:pPr>
            <a:r>
              <a:rPr lang="en-US" sz="1500" spc="-12" dirty="0">
                <a:solidFill>
                  <a:srgbClr val="000000"/>
                </a:solidFill>
                <a:latin typeface="Times New Roman"/>
              </a:rPr>
              <a:t>“second </a:t>
            </a:r>
            <a:r>
              <a:rPr lang="en-US" sz="1500" spc="-12" dirty="0" err="1">
                <a:solidFill>
                  <a:srgbClr val="000000"/>
                </a:solidFill>
                <a:latin typeface="Times New Roman"/>
              </a:rPr>
              <a:t>file_yourname</a:t>
            </a:r>
            <a:r>
              <a:rPr lang="en-US" sz="1500" spc="-12" dirty="0">
                <a:solidFill>
                  <a:srgbClr val="000000"/>
                </a:solidFill>
                <a:latin typeface="Times New Roman"/>
              </a:rPr>
              <a:t>”</a:t>
            </a:r>
            <a:endParaRPr lang="en-BD" sz="1500" spc="-12" dirty="0">
              <a:solidFill>
                <a:srgbClr val="000000"/>
              </a:solidFill>
              <a:latin typeface="Times New Roman"/>
            </a:endParaRPr>
          </a:p>
          <a:p>
            <a:r>
              <a:rPr lang="en-BD" sz="1500" spc="-12" dirty="0">
                <a:solidFill>
                  <a:srgbClr val="000000"/>
                </a:solidFill>
                <a:latin typeface="Times New Roman"/>
              </a:rPr>
              <a:t>Copy file1.txt to file2.txt</a:t>
            </a:r>
          </a:p>
          <a:p>
            <a:r>
              <a:rPr lang="en-US" sz="1500" spc="-1" dirty="0">
                <a:solidFill>
                  <a:srgbClr val="000000"/>
                </a:solidFill>
                <a:latin typeface="Times New Roman"/>
              </a:rPr>
              <a:t>Rename file2.txt to </a:t>
            </a:r>
            <a:r>
              <a:rPr lang="en-US" sz="1500" spc="-1" dirty="0" err="1">
                <a:solidFill>
                  <a:srgbClr val="000000"/>
                </a:solidFill>
                <a:latin typeface="Times New Roman"/>
              </a:rPr>
              <a:t>your_name.txt</a:t>
            </a:r>
            <a:endParaRPr lang="en-US" sz="1500" spc="-1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1500" spc="-1" dirty="0">
                <a:solidFill>
                  <a:srgbClr val="000000"/>
                </a:solidFill>
                <a:latin typeface="Times New Roman"/>
              </a:rPr>
              <a:t>Delete file2.txt </a:t>
            </a:r>
          </a:p>
          <a:p>
            <a:r>
              <a:rPr lang="en-US" sz="1500" spc="-1" dirty="0">
                <a:solidFill>
                  <a:srgbClr val="000000"/>
                </a:solidFill>
                <a:latin typeface="Times New Roman"/>
              </a:rPr>
              <a:t>Delete </a:t>
            </a:r>
            <a:r>
              <a:rPr lang="en-US" sz="1500" spc="-1" dirty="0" err="1">
                <a:solidFill>
                  <a:srgbClr val="000000"/>
                </a:solidFill>
                <a:latin typeface="Times New Roman"/>
              </a:rPr>
              <a:t>your_name.txt</a:t>
            </a:r>
            <a:endParaRPr lang="en-US" sz="1500" spc="-1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1500" spc="-1" dirty="0">
                <a:solidFill>
                  <a:srgbClr val="000000"/>
                </a:solidFill>
                <a:latin typeface="Times New Roman"/>
              </a:rPr>
              <a:t>Delete AIUB</a:t>
            </a:r>
            <a:endParaRPr lang="en-BD" sz="1500" spc="-12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963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335520" y="595080"/>
            <a:ext cx="3232440" cy="49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Books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335520" y="1203120"/>
            <a:ext cx="8229240" cy="377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Unix Shell Programming</a:t>
            </a:r>
            <a:endParaRPr lang="en-US" sz="24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Written by Yashavant P. Kanetkar</a:t>
            </a:r>
            <a:endParaRPr lang="en-US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964</TotalTime>
  <Words>812</Words>
  <Application>Microsoft Macintosh PowerPoint</Application>
  <PresentationFormat>On-screen Show (4:3)</PresentationFormat>
  <Paragraphs>104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Corbel</vt:lpstr>
      <vt:lpstr>Inconsolata</vt:lpstr>
      <vt:lpstr>montserrat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subject/>
  <dc:creator>Mahbubul Syeed</dc:creator>
  <dc:description/>
  <cp:lastModifiedBy>Microsoft Office User</cp:lastModifiedBy>
  <cp:revision>50</cp:revision>
  <dcterms:created xsi:type="dcterms:W3CDTF">2018-12-10T17:20:29Z</dcterms:created>
  <dcterms:modified xsi:type="dcterms:W3CDTF">2020-10-21T09:42:15Z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home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14</vt:i4>
  </property>
</Properties>
</file>