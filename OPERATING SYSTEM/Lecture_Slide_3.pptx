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15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264" r:id="rId46"/>
    <p:sldId id="265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715"/>
  </p:normalViewPr>
  <p:slideViewPr>
    <p:cSldViewPr snapToGrid="0" snapToObjects="1">
      <p:cViewPr varScale="1">
        <p:scale>
          <a:sx n="67" d="100"/>
          <a:sy n="67" d="100"/>
        </p:scale>
        <p:origin x="12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62EC04-7D60-4AB9-B379-094C93710B6A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3E2C309-0F7C-405F-B0F5-6110DDDFE16B}" type="slidenum">
              <a:rPr lang="en-US" altLang="en-US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E9412E-6F2A-4850-89C2-1DDE534ECB99}" type="slidenum">
              <a:rPr lang="en-US" altLang="en-US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A3AD4C-0F4C-4967-81DC-31E56AC8E93B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E9EAA3-6F69-4C81-AFF0-E97EBA8F54E5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1205BA-D8D8-4DA6-B89E-CA1DD90B3210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6C75F9-FDCF-4EFA-A11C-45EDF10CC663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6F4DE0-4140-464B-AFF9-EA0E38FC5A57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493C6B-35C7-45FB-B4EC-081C849429EA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0FD985-7AB6-476C-B5AA-6FC9EE227EE7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8B4E9D5-CB35-4476-8EF2-5404DB918E4E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EE85C6-8B79-4E3C-BFFA-0122E7FB069B}" type="slidenum">
              <a:rPr lang="en-US" altLang="en-US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9499939-8D92-4983-B22C-7F8B42BC4ECA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6A48942-DD23-4804-BE0B-434F0A6E1F9A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B37B43-61A8-43CF-986E-DFC9D9B5D6BE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CDD625B-B1F6-4843-84B5-5EA7C42E1BE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BD43AD-D15F-4596-8E92-15765EC66280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2CA7907-2BB7-4769-8863-B93F6D1F665D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AB61B3-D084-4B26-A703-2C1A7878D469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B016B9-9731-4CAE-8D6F-90509394870D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166E8DD-36B2-4EC7-B419-2F11A7F564BB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7D36967-E320-43CC-A7BA-9CD312AD7E4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311CFB4-B6C9-41C1-8EC7-D4EA5FB5A50A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0DA1A8-0174-49A6-BA9F-B8732EF01E86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E68BFE2-ACF6-4EAE-9B87-689871C5CBB6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5C8161-D134-454B-B9A1-2FB6BCB4562E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D" dirty="0"/>
              <a:t>* </a:t>
            </a:r>
            <a:r>
              <a:rPr lang="en-GB" dirty="0"/>
              <a:t>O</a:t>
            </a:r>
            <a:r>
              <a:rPr lang="en-BD" dirty="0"/>
              <a:t>nly intel processor / hw so no way but allow access to h/w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38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57856A-ACF3-4D4F-8289-19DD1781387F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7467277-5B33-4177-8EC6-AB7AEC8C42E8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Separate change not possible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F1A594-C83A-4D96-ACF4-C8D80DBEF0A8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11C1560-742C-4E74-AC1F-C0D98761BFB8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Design and layer positioning difficulty.. Only works with below layer… take time to reach all layer ..delay but hardware protected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5F2BF-F375-4A5A-9500-79309CB0E367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2EB37B-3DA3-46FE-9622-DA7D0B90AD9D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Communication/ message can be too much system overhead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86D8AF1-2639-4610-ACEB-86F7008F29E5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OOP based modules ..loaded only on demand .. Layered (any communication possible with core kernel) + Microkernel (no </a:t>
            </a:r>
            <a:r>
              <a:rPr lang="en-US" altLang="en-US">
                <a:latin typeface="Times New Roman" pitchFamily="18" charset="0"/>
              </a:rPr>
              <a:t>message passing needed) 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E81FA74-679F-4D0D-ADB5-E2B9E43DA7BE}" type="slidenum">
              <a:rPr lang="en-US" altLang="en-US">
                <a:latin typeface="Times New Roman" pitchFamily="18" charset="0"/>
              </a:rPr>
              <a:pPr/>
              <a:t>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Operating-System Structures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2638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User Operating System Interface – CLI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OS provides Graphical User Interface (GUI)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Calls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API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Arduino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Linkers and Loaders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Design and Implementation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Structure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Microkernels</a:t>
            </a:r>
          </a:p>
          <a:p>
            <a:pPr marL="457200" indent="-457200">
              <a:buFont typeface="Wingdings" pitchFamily="2" charset="2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sz="4400" dirty="0"/>
              <a:t>Operating System Services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Operating systems provide an environment for execution of programs and services to programs and users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One set of operating-system </a:t>
            </a:r>
            <a:r>
              <a:rPr lang="en-US" altLang="en-US" sz="1800" b="1" dirty="0"/>
              <a:t>services</a:t>
            </a:r>
            <a:r>
              <a:rPr lang="en-US" altLang="en-US" sz="1800" dirty="0"/>
              <a:t> provides functions that are </a:t>
            </a:r>
            <a:r>
              <a:rPr lang="en-US" altLang="en-US" sz="1800" b="1" dirty="0"/>
              <a:t>helpful to the user</a:t>
            </a:r>
            <a:r>
              <a:rPr lang="en-US" altLang="en-US" sz="1800" dirty="0"/>
              <a:t>: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User interface </a:t>
            </a:r>
            <a:r>
              <a:rPr lang="en-US" altLang="en-US" sz="1800" dirty="0"/>
              <a:t>- Almost all operating systems have a user interface (</a:t>
            </a:r>
            <a:r>
              <a:rPr lang="en-US" altLang="en-US" sz="1800" b="1" dirty="0">
                <a:solidFill>
                  <a:srgbClr val="3366FF"/>
                </a:solidFill>
              </a:rPr>
              <a:t>UI</a:t>
            </a:r>
            <a:r>
              <a:rPr lang="en-US" altLang="en-US" sz="1800" dirty="0"/>
              <a:t>).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Varies between </a:t>
            </a:r>
            <a:r>
              <a:rPr lang="en-US" altLang="en-US" sz="1800" b="1" dirty="0">
                <a:solidFill>
                  <a:srgbClr val="3366FF"/>
                </a:solidFill>
              </a:rPr>
              <a:t>Command-Line Interface </a:t>
            </a:r>
            <a:r>
              <a:rPr lang="en-US" altLang="en-US" sz="1800" b="1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CLI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 </a:t>
            </a:r>
            <a:r>
              <a:rPr lang="en-US" altLang="en-US" sz="18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800" b="1" dirty="0">
                <a:solidFill>
                  <a:srgbClr val="000000"/>
                </a:solidFill>
              </a:rPr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GUI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</a:t>
            </a:r>
            <a:r>
              <a:rPr lang="en-US" altLang="en-US" sz="1800" b="1" dirty="0">
                <a:solidFill>
                  <a:srgbClr val="3366FF"/>
                </a:solidFill>
              </a:rPr>
              <a:t>  touch-screen,  Batch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Program execution </a:t>
            </a:r>
            <a:r>
              <a:rPr lang="en-US" altLang="en-US" sz="1800" dirty="0"/>
              <a:t>- The system must be able to load a program into memory and to run that program, end execution, either normally or abnormally (indicating error)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I/O operations </a:t>
            </a:r>
            <a:r>
              <a:rPr lang="en-US" altLang="en-US" sz="1800" dirty="0"/>
              <a:t>-  A running program may require I/O, which may involve a file or an I/O device</a:t>
            </a:r>
          </a:p>
        </p:txBody>
      </p:sp>
    </p:spTree>
    <p:extLst>
      <p:ext uri="{BB962C8B-B14F-4D97-AF65-F5344CB8AC3E}">
        <p14:creationId xmlns:p14="http://schemas.microsoft.com/office/powerpoint/2010/main" val="404464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8"/>
            <a:ext cx="8574087" cy="4480142"/>
          </a:xfrm>
        </p:spPr>
        <p:txBody>
          <a:bodyPr>
            <a:noAutofit/>
          </a:bodyPr>
          <a:lstStyle/>
          <a:p>
            <a:pPr marL="666735" lvl="1" indent="-285750">
              <a:buFont typeface="Wingdings" pitchFamily="2" charset="2"/>
              <a:buChar char="q"/>
              <a:defRPr/>
            </a:pPr>
            <a:endParaRPr lang="en-US" altLang="en-US" sz="1800" b="1" dirty="0"/>
          </a:p>
          <a:p>
            <a:pPr marL="666735" lvl="1" indent="-285750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en-US" sz="1800" b="1" dirty="0"/>
              <a:t>File-system manipulation </a:t>
            </a:r>
            <a:r>
              <a:rPr lang="en-US" altLang="en-US" sz="18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800" b="1" dirty="0"/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Communications</a:t>
            </a:r>
            <a:r>
              <a:rPr lang="en-US" altLang="en-US" sz="1800" dirty="0"/>
              <a:t> – Processes may exchange information, on the same computer or between computers over a network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Communications may be via shared memory or through message passing (packets moved by the OS)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Error detection </a:t>
            </a:r>
            <a:r>
              <a:rPr lang="en-US" altLang="en-US" sz="1800" dirty="0"/>
              <a:t>– OS needs to be constantly aware of possible errors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May occur in the CPU and memory hardware, in I/O devices, in user program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For each type of error, OS should take the appropriate action to ensure correct and consistent computing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Debugging facilities can greatly enhance the user</a:t>
            </a:r>
            <a:r>
              <a:rPr lang="ja-JP" altLang="en-US" sz="1800" dirty="0"/>
              <a:t>’</a:t>
            </a:r>
            <a:r>
              <a:rPr lang="en-US" altLang="ja-JP" sz="1800" dirty="0"/>
              <a:t>s and programmer</a:t>
            </a:r>
            <a:r>
              <a:rPr lang="ja-JP" altLang="en-US" sz="1800" dirty="0"/>
              <a:t>’</a:t>
            </a:r>
            <a:r>
              <a:rPr lang="en-US" altLang="ja-JP" sz="1800" dirty="0"/>
              <a:t>s abilities to efficiently use the system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6919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Another set of </a:t>
            </a:r>
            <a:r>
              <a:rPr lang="en-US" altLang="en-US" sz="1800" b="1" dirty="0"/>
              <a:t>OS functions</a:t>
            </a:r>
            <a:r>
              <a:rPr lang="en-US" altLang="en-US" sz="1800" dirty="0"/>
              <a:t> for ensuring the efficient operation of the system itself via </a:t>
            </a:r>
            <a:r>
              <a:rPr lang="en-US" altLang="en-US" sz="1800" b="1" dirty="0"/>
              <a:t>resource sharing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Resource allocation - </a:t>
            </a:r>
            <a:r>
              <a:rPr lang="en-US" altLang="en-US" sz="1800" dirty="0"/>
              <a:t>When  multiple users or multiple jobs running concurrently, resources must be allocated to each of them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Many types of resources -   CPU cycles, main memory, file storage, I/O devices.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Logging -</a:t>
            </a:r>
            <a:r>
              <a:rPr lang="en-US" altLang="en-US" sz="1800" dirty="0"/>
              <a:t> To keep track of which users use how much and what kinds of computer resources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 and security - </a:t>
            </a:r>
            <a:r>
              <a:rPr lang="en-US" altLang="en-US" sz="18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</a:t>
            </a:r>
            <a:r>
              <a:rPr lang="en-US" altLang="en-US" sz="1800" dirty="0"/>
              <a:t> involves ensuring that all access to system resources is controlled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Security</a:t>
            </a:r>
            <a:r>
              <a:rPr lang="en-US" altLang="en-US" sz="1800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457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en-US" altLang="en-US" dirty="0"/>
              <a:t>A View of Operating System Services</a:t>
            </a:r>
            <a:br>
              <a:rPr lang="en-US" altLang="en-US" dirty="0"/>
            </a:br>
            <a:r>
              <a:rPr lang="en-US" altLang="en-US" dirty="0"/>
              <a:t>Service level Architecture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6" y="2262305"/>
            <a:ext cx="7102258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03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User Operating System Interface - CLI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252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CLI or </a:t>
            </a:r>
            <a:r>
              <a:rPr lang="en-US" altLang="en-US" b="1" dirty="0">
                <a:solidFill>
                  <a:srgbClr val="3366FF"/>
                </a:solidFill>
              </a:rPr>
              <a:t>command interpreter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allows direct command entry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implemented in kernel, sometimes by systems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multiple flavors implemented – </a:t>
            </a:r>
            <a:r>
              <a:rPr lang="en-US" altLang="en-US" b="1" dirty="0">
                <a:solidFill>
                  <a:srgbClr val="3366FF"/>
                </a:solidFill>
              </a:rPr>
              <a:t>shells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Primarily fetches a command from user and executes it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commands built-in, sometimes just names of programs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If the latter, adding new features doesn’</a:t>
            </a:r>
            <a:r>
              <a:rPr lang="en-US" altLang="ja-JP" dirty="0"/>
              <a:t>t require shell modification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62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OS provides Graphical User Interface (GUI)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User-friendly </a:t>
            </a:r>
            <a:r>
              <a:rPr lang="en-US" altLang="en-US" b="1" dirty="0">
                <a:solidFill>
                  <a:srgbClr val="3366FF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mouse, keyboard, and monitor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Icons</a:t>
            </a:r>
            <a:r>
              <a:rPr lang="en-US" altLang="en-US" dirty="0"/>
              <a:t> represent files, programs, actions, etc.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3366FF"/>
                </a:solidFill>
              </a:rPr>
              <a:t>folder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Invented at Xerox PARC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Many systems now include both CLI and GUI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Unix and Linux have CLI with optional GUI interfaces (CDE, KDE, GNOME)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386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6430" y="213777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Mouse not possible or not desired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Actions and selection based on gestures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Virtual keyboard for text entry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Voice commands</a:t>
            </a:r>
          </a:p>
          <a:p>
            <a:pPr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 marL="723885" lvl="1" indent="-342900"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2137775"/>
            <a:ext cx="2306637" cy="417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18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95" y="2208965"/>
            <a:ext cx="7390356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69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Programming interface to the services provided by the OS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Typically written in a high-level language (C or C++)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 use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915829" y="5830697"/>
            <a:ext cx="5740400" cy="5909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dirty="0">
                <a:latin typeface="+mn-lt"/>
              </a:rPr>
              <a:t>Note that the system-call names used throughout this text are generic</a:t>
            </a:r>
          </a:p>
        </p:txBody>
      </p:sp>
    </p:spTree>
    <p:extLst>
      <p:ext uri="{BB962C8B-B14F-4D97-AF65-F5344CB8AC3E}">
        <p14:creationId xmlns:p14="http://schemas.microsoft.com/office/powerpoint/2010/main" val="166109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System Calls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92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call sequence to copy the contents of one file to another file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572" y="2678449"/>
            <a:ext cx="4751252" cy="3857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92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Standard API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34" y="1979112"/>
            <a:ext cx="5123145" cy="438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6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Implementation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Typically, a number associated with each system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system call interface invokes  the intended system call in OS kernel and returns status of the system call and any return values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caller need know nothing about how the system call is implemented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Just needs to obey API and understand what OS will do as a result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Most details of  OS interface hidden from programmer by API  </a:t>
            </a:r>
          </a:p>
          <a:p>
            <a:pPr marL="1057247" lvl="2" indent="-342900">
              <a:buFont typeface="Wingdings" pitchFamily="2" charset="2"/>
              <a:buChar char="q"/>
              <a:defRPr/>
            </a:pPr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  <p:extLst>
      <p:ext uri="{BB962C8B-B14F-4D97-AF65-F5344CB8AC3E}">
        <p14:creationId xmlns:p14="http://schemas.microsoft.com/office/powerpoint/2010/main" val="248863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API – System Call – OS Relationship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37" y="2064610"/>
            <a:ext cx="5298052" cy="388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03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Parameter Passing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Often, more information is required than simply identity of desired system call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Exact type and amount of information vary according to OS and call</a:t>
            </a:r>
            <a:endParaRPr lang="en-US" altLang="en-US" sz="750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Three general methods used to pass parameters to the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Simplest:  pass the parameters in registers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 In some cases, may be more parameters than registers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table, in memory, and address of block passed as a parameter in a register 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This approach taken by Linux and Solaris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3366FF"/>
                </a:solidFill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3366FF"/>
                </a:solidFill>
              </a:rPr>
              <a:t>stack</a:t>
            </a:r>
            <a:r>
              <a:rPr lang="en-US" altLang="en-US" i="1" dirty="0"/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3366FF"/>
                </a:solidFill>
              </a:rPr>
              <a:t>popped</a:t>
            </a:r>
            <a:r>
              <a:rPr lang="en-US" altLang="en-US" i="1" dirty="0"/>
              <a:t> </a:t>
            </a:r>
            <a:r>
              <a:rPr lang="en-US" altLang="en-US" dirty="0"/>
              <a:t>off the stack by the operating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557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Parameter Passing via Table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074" y="1856958"/>
            <a:ext cx="65262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104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Types of System Calls</a:t>
            </a:r>
          </a:p>
        </p:txBody>
      </p:sp>
      <p:sp>
        <p:nvSpPr>
          <p:cNvPr id="46083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Process control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process, terminate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end, abort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load,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process attributes, set process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for time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event, signal event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allocate and free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Dump memory if error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3366FF"/>
                </a:solidFill>
              </a:rPr>
              <a:t>bugs, single step </a:t>
            </a:r>
            <a:r>
              <a:rPr lang="en-US" altLang="en-US" dirty="0"/>
              <a:t>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Locks</a:t>
            </a:r>
            <a:r>
              <a:rPr lang="en-US" altLang="en-US" dirty="0"/>
              <a:t> for managing access to shared data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231049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8131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File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file, delete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open, close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file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Device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request device, release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device attributes, set device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logically attach or detach devices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3187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0179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Information maintenance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time or date, set time or date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system data, set system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and set process, file, or device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create, delete communication connection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send, receive messages if </a:t>
            </a:r>
            <a:r>
              <a:rPr lang="en-US" altLang="en-US" b="1">
                <a:solidFill>
                  <a:srgbClr val="3366FF"/>
                </a:solidFill>
              </a:rPr>
              <a:t>message passing model </a:t>
            </a:r>
            <a:r>
              <a:rPr lang="en-US" altLang="en-US"/>
              <a:t>to </a:t>
            </a:r>
            <a:r>
              <a:rPr lang="en-US" altLang="en-US" b="1">
                <a:solidFill>
                  <a:srgbClr val="3366FF"/>
                </a:solidFill>
              </a:rPr>
              <a:t>host name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process name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From</a:t>
            </a:r>
            <a:r>
              <a:rPr lang="en-US" altLang="en-US" b="1">
                <a:solidFill>
                  <a:srgbClr val="3366FF"/>
                </a:solidFill>
              </a:rPr>
              <a:t> client </a:t>
            </a:r>
            <a:r>
              <a:rPr lang="en-US" altLang="en-US"/>
              <a:t>to</a:t>
            </a:r>
            <a:r>
              <a:rPr lang="en-US" altLang="en-US" b="1">
                <a:solidFill>
                  <a:srgbClr val="3366FF"/>
                </a:solidFill>
              </a:rPr>
              <a:t> server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>
                <a:solidFill>
                  <a:srgbClr val="3366FF"/>
                </a:solidFill>
              </a:rPr>
              <a:t>Shared-memory model </a:t>
            </a:r>
            <a:r>
              <a:rPr lang="en-US" altLang="en-US"/>
              <a:t>create and gain access to memory regions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transfer status information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attach and detach remote devices</a:t>
            </a:r>
          </a:p>
        </p:txBody>
      </p:sp>
    </p:spTree>
    <p:extLst>
      <p:ext uri="{BB962C8B-B14F-4D97-AF65-F5344CB8AC3E}">
        <p14:creationId xmlns:p14="http://schemas.microsoft.com/office/powerpoint/2010/main" val="84283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2227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Protection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Control access to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permissions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and deny user access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5881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Examples of Windows and  Unix System Calls</a:t>
            </a:r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088" y="1828799"/>
            <a:ext cx="3959225" cy="434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40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Standard C Library 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 program invoking </a:t>
            </a:r>
            <a:r>
              <a:rPr lang="en-US" altLang="en-US" dirty="0" err="1"/>
              <a:t>printf</a:t>
            </a:r>
            <a:r>
              <a:rPr lang="en-US" altLang="en-US" dirty="0"/>
              <a:t>() library call, which calls write() system call</a:t>
            </a:r>
          </a:p>
        </p:txBody>
      </p:sp>
      <p:pic>
        <p:nvPicPr>
          <p:cNvPr id="563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393" y="2610467"/>
            <a:ext cx="5054035" cy="37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562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Example: </a:t>
            </a:r>
            <a:r>
              <a:rPr lang="en-US" altLang="en-US" dirty="0" err="1"/>
              <a:t>Arduino</a:t>
            </a:r>
            <a:endParaRPr lang="en-US" altLang="en-US" dirty="0"/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4" y="2025016"/>
            <a:ext cx="5715804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Single-tasking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Programs (sketch) loaded via USB into flash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Single memory space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Boot loader loads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exit -&gt; shell reloaded</a:t>
            </a:r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4739273" y="5278572"/>
            <a:ext cx="485122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r>
              <a:rPr kumimoji="1" lang="en-US" altLang="en-US" dirty="0">
                <a:latin typeface="Helvetica" pitchFamily="-84" charset="0"/>
              </a:rPr>
              <a:t>At system startup          running a program</a:t>
            </a:r>
          </a:p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endParaRPr kumimoji="1" lang="en-US" altLang="en-US" dirty="0">
              <a:latin typeface="Helvetica" pitchFamily="-84" charset="0"/>
            </a:endParaRPr>
          </a:p>
        </p:txBody>
      </p:sp>
      <p:pic>
        <p:nvPicPr>
          <p:cNvPr id="58373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90" y="2143126"/>
            <a:ext cx="2680570" cy="316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53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Programs (Service)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programs provide a convenient environment for program development and execution.  They can be divided into: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File manipulation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Status information sometimes stored in a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Programming language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loading and 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services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Application programs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Most users</a:t>
            </a:r>
            <a:r>
              <a:rPr lang="ja-JP" altLang="en-US" dirty="0"/>
              <a:t>’</a:t>
            </a:r>
            <a:r>
              <a:rPr lang="en-US" altLang="ja-JP" dirty="0"/>
              <a:t> view of the operation system is defined by system programs, not the actual system calls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392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Program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a convenient environment for program development and execution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of them are simply user interfaces to system calls; others are considerably more complex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management </a:t>
            </a:r>
            <a:r>
              <a:rPr lang="en-US" altLang="en-US" dirty="0"/>
              <a:t>- Create, delete, copy, rename, print, dump, list, and generally manipulate files and directories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Status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Others provide detailed performance, logging, and debugging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3366FF"/>
                </a:solidFill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4161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Program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modification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Text editors to create and modify files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Special commands to search contents of files or perform transformations of the text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Programming-language support </a:t>
            </a:r>
            <a:r>
              <a:rPr lang="en-US" altLang="en-US" dirty="0"/>
              <a:t>- Compilers, assemblers, debuggers and interpreters sometimes provided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 loading and execution</a:t>
            </a:r>
            <a:r>
              <a:rPr lang="en-US" altLang="en-US" dirty="0"/>
              <a:t>- Absolute loaders, relocatable loaders, linkage editors, and overlay-loaders, debugging systems for higher-level and machine language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Communications</a:t>
            </a:r>
            <a:r>
              <a:rPr lang="en-US" altLang="en-US" dirty="0"/>
              <a:t> - Provide the mechanism for creating virtual connections among processes, users, and computer systems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Allow users to send messages to one another</a:t>
            </a:r>
            <a:r>
              <a:rPr lang="ja-JP" altLang="en-US" dirty="0"/>
              <a:t>’</a:t>
            </a:r>
            <a:r>
              <a:rPr lang="en-US" altLang="ja-JP" dirty="0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180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Background Services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 at boot time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for system startup, then terminate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from system boot to shutdown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in user context not kernel context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marL="619100" lvl="1" indent="-238115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Application programs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Don’t pertain to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by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Not typically considered part of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Launched by command line, mouse click, finger poke</a:t>
            </a:r>
          </a:p>
        </p:txBody>
      </p:sp>
    </p:spTree>
    <p:extLst>
      <p:ext uri="{BB962C8B-B14F-4D97-AF65-F5344CB8AC3E}">
        <p14:creationId xmlns:p14="http://schemas.microsoft.com/office/powerpoint/2010/main" val="385281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Linkers and Loaders</a:t>
            </a:r>
          </a:p>
        </p:txBody>
      </p:sp>
      <p:sp>
        <p:nvSpPr>
          <p:cNvPr id="686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70553"/>
            <a:ext cx="8574087" cy="47682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Source code compiled into object files designed to be loaded into any physical memory location – </a:t>
            </a:r>
            <a:r>
              <a:rPr lang="en-US" altLang="en-US" sz="1600" b="1" dirty="0" err="1">
                <a:solidFill>
                  <a:srgbClr val="3366FF"/>
                </a:solidFill>
              </a:rPr>
              <a:t>relocatable</a:t>
            </a:r>
            <a:r>
              <a:rPr lang="en-US" altLang="en-US" sz="1600" b="1" dirty="0">
                <a:solidFill>
                  <a:srgbClr val="3366FF"/>
                </a:solidFill>
              </a:rPr>
              <a:t> object file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Linker </a:t>
            </a:r>
            <a:r>
              <a:rPr lang="en-US" altLang="en-US" sz="1600" dirty="0"/>
              <a:t>combines these into single binary </a:t>
            </a:r>
            <a:r>
              <a:rPr lang="en-US" altLang="en-US" sz="1600" b="1" dirty="0">
                <a:solidFill>
                  <a:srgbClr val="3366FF"/>
                </a:solidFill>
              </a:rPr>
              <a:t>executable</a:t>
            </a:r>
            <a:r>
              <a:rPr lang="en-US" altLang="en-US" sz="1600" dirty="0"/>
              <a:t>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Also brings in libraries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resides on secondary storage as binary executable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Must be brought into memory by </a:t>
            </a:r>
            <a:r>
              <a:rPr lang="en-US" altLang="en-US" sz="1600" b="1" dirty="0">
                <a:solidFill>
                  <a:srgbClr val="3366FF"/>
                </a:solidFill>
              </a:rPr>
              <a:t>loader</a:t>
            </a:r>
            <a:r>
              <a:rPr lang="en-US" altLang="en-US" sz="1600" dirty="0"/>
              <a:t> to be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Relocation</a:t>
            </a:r>
            <a:r>
              <a:rPr lang="en-US" altLang="en-US" sz="1600" dirty="0"/>
              <a:t> assigns final addresses to program parts and adjusts code and data in program to match those addresses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Modern general purpose systems don’t link libraries into executables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Rather, </a:t>
            </a:r>
            <a:r>
              <a:rPr lang="en-US" altLang="en-US" sz="1600" b="1" dirty="0">
                <a:solidFill>
                  <a:srgbClr val="3366FF"/>
                </a:solidFill>
              </a:rPr>
              <a:t>dynamically linked libraries </a:t>
            </a:r>
            <a:r>
              <a:rPr lang="en-US" altLang="en-US" sz="1600" dirty="0"/>
              <a:t>(in Windows, </a:t>
            </a:r>
            <a:r>
              <a:rPr lang="en-US" altLang="en-US" sz="1600" b="1" dirty="0">
                <a:solidFill>
                  <a:srgbClr val="3366FF"/>
                </a:solidFill>
              </a:rPr>
              <a:t>DLLs</a:t>
            </a:r>
            <a:r>
              <a:rPr lang="en-US" altLang="en-US" sz="1600" dirty="0"/>
              <a:t>) are loaded as needed, shared by all that use the same version of that same library (loaded once)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Object, executable files have standard formats, so operating system knows how to load and start them</a:t>
            </a:r>
          </a:p>
        </p:txBody>
      </p:sp>
    </p:spTree>
    <p:extLst>
      <p:ext uri="{BB962C8B-B14F-4D97-AF65-F5344CB8AC3E}">
        <p14:creationId xmlns:p14="http://schemas.microsoft.com/office/powerpoint/2010/main" val="402190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The Role of the Linker and Loader</a:t>
            </a:r>
          </a:p>
        </p:txBody>
      </p:sp>
      <p:pic>
        <p:nvPicPr>
          <p:cNvPr id="69635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6316" y="2054268"/>
            <a:ext cx="4139124" cy="4321480"/>
          </a:xfrm>
        </p:spPr>
      </p:pic>
    </p:spTree>
    <p:extLst>
      <p:ext uri="{BB962C8B-B14F-4D97-AF65-F5344CB8AC3E}">
        <p14:creationId xmlns:p14="http://schemas.microsoft.com/office/powerpoint/2010/main" val="1462553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Why Applications are Operating System Specific</a:t>
            </a:r>
          </a:p>
        </p:txBody>
      </p:sp>
      <p:sp>
        <p:nvSpPr>
          <p:cNvPr id="66563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598222"/>
            <a:ext cx="8574087" cy="445509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endParaRPr lang="en-US" altLang="en-US" sz="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compiled on one system usually not executable on other operating systems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Each operating system provides its own unique system calls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Own file formats,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can be multi-operating system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Written in interpreted language like Python, Ruby, and interpreter available on multiple operating systems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App written in language that includes a VM containing the running app (like Java)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Use standard language (like C), compile separately on each operating system to run on each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b="1" dirty="0">
                <a:solidFill>
                  <a:srgbClr val="3366FF"/>
                </a:solidFill>
              </a:rPr>
              <a:t>Application Binary Interface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ABI</a:t>
            </a:r>
            <a:r>
              <a:rPr lang="en-US" altLang="en-US" sz="1800" dirty="0"/>
              <a:t>) is architecture equivalent of API, defines how different components of binary code can interface for a given operating system on a given architecture, CPU, </a:t>
            </a:r>
            <a:r>
              <a:rPr lang="en-US" altLang="en-US" sz="1800" dirty="0" err="1"/>
              <a:t>etc</a:t>
            </a:r>
            <a:r>
              <a:rPr lang="en-US" alt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376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Operating System Design and Implementation</a:t>
            </a: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Internal structure of different Operating Systems  can vary widely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Start the design by defining goals and specifications 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Affected by choice of hardware, type of system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User </a:t>
            </a:r>
            <a:r>
              <a:rPr lang="en-US" altLang="en-US" dirty="0"/>
              <a:t>goals and </a:t>
            </a:r>
            <a:r>
              <a:rPr lang="en-US" altLang="en-US" b="1" dirty="0">
                <a:solidFill>
                  <a:srgbClr val="3366FF"/>
                </a:solidFill>
              </a:rPr>
              <a:t>System </a:t>
            </a:r>
            <a:r>
              <a:rPr lang="en-US" altLang="en-US" dirty="0"/>
              <a:t>goals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User goals – operating system should be convenient to use, easy to learn, reliable, safe, and fast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System goals – operating system should be easy to design, implement, and maintain, as well as flexible, reliable, error-free,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599948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Operating System Design and Implementation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Important principle to separate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	</a:t>
            </a:r>
            <a:r>
              <a:rPr lang="en-US" altLang="en-US" b="1" dirty="0">
                <a:solidFill>
                  <a:srgbClr val="3366FF"/>
                </a:solidFill>
              </a:rPr>
              <a:t>Policy</a:t>
            </a:r>
            <a:r>
              <a:rPr lang="en-US" altLang="en-US" b="1" dirty="0"/>
              <a:t>:   </a:t>
            </a:r>
            <a:r>
              <a:rPr lang="en-US" altLang="en-US" b="1" i="1" dirty="0"/>
              <a:t>What</a:t>
            </a:r>
            <a:r>
              <a:rPr lang="en-US" altLang="en-US" dirty="0"/>
              <a:t> will be done?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3366FF"/>
                </a:solidFill>
              </a:rPr>
              <a:t>Mechanism</a:t>
            </a:r>
            <a:r>
              <a:rPr lang="en-US" altLang="en-US" b="1" dirty="0"/>
              <a:t>:  </a:t>
            </a:r>
            <a:r>
              <a:rPr lang="en-US" altLang="en-US" b="1" i="1" dirty="0"/>
              <a:t>How</a:t>
            </a:r>
            <a:r>
              <a:rPr lang="en-US" altLang="en-US" dirty="0"/>
              <a:t> to do it?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Mechanisms determine how to do something, policies decide what will be done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separation of policy from mechanism is a very important principle, it allows maximum flexibility if policy decisions are to be changed later (example –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Specifying and designing an OS is highly creative task of </a:t>
            </a:r>
            <a:r>
              <a:rPr lang="en-US" altLang="en-US" b="1" dirty="0">
                <a:solidFill>
                  <a:srgbClr val="3366FF"/>
                </a:solidFill>
              </a:rPr>
              <a:t>software engineering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7273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Implementation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Much variation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Early </a:t>
            </a:r>
            <a:r>
              <a:rPr lang="en-US" altLang="en-US" dirty="0" err="1"/>
              <a:t>OSes</a:t>
            </a:r>
            <a:r>
              <a:rPr lang="en-US" altLang="en-US" dirty="0"/>
              <a:t> in assembly language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Then system programming languages like </a:t>
            </a:r>
            <a:r>
              <a:rPr lang="en-US" altLang="en-US" dirty="0" err="1"/>
              <a:t>Algol</a:t>
            </a:r>
            <a:r>
              <a:rPr lang="en-US" altLang="en-US" dirty="0"/>
              <a:t>, PL/1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Now C, C++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Actually usually a mix of languages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Lowest levels in assembly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Main body in 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 in C, C++, scripting languages like PERL, Python, shell scripts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More high-level language easier to</a:t>
            </a:r>
            <a:r>
              <a:rPr lang="en-US" altLang="en-US" b="1" dirty="0">
                <a:solidFill>
                  <a:srgbClr val="3366FF"/>
                </a:solidFill>
              </a:rPr>
              <a:t> port </a:t>
            </a:r>
            <a:r>
              <a:rPr lang="en-US" altLang="en-US" dirty="0"/>
              <a:t>to other hardware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slower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Emulation</a:t>
            </a:r>
            <a:r>
              <a:rPr lang="en-US" altLang="en-US" dirty="0"/>
              <a:t> can allow an OS to run on non-native hardware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0976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Structure</a:t>
            </a:r>
          </a:p>
        </p:txBody>
      </p:sp>
      <p:sp>
        <p:nvSpPr>
          <p:cNvPr id="788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General-purpose OS is very large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Various ways to structure ones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Simple structure – MS-DOS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More complex -- UNIX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Layered – an </a:t>
            </a:r>
            <a:r>
              <a:rPr lang="en-US" altLang="en-US" dirty="0" err="1"/>
              <a:t>abstrcation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Microkernel -Mach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00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Simple Structure (MS DOS)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3C5CFE5-1443-3F4E-8601-F6BA86303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391" y="1743441"/>
            <a:ext cx="6523629" cy="5040987"/>
          </a:xfrm>
        </p:spPr>
      </p:pic>
    </p:spTree>
    <p:extLst>
      <p:ext uri="{BB962C8B-B14F-4D97-AF65-F5344CB8AC3E}">
        <p14:creationId xmlns:p14="http://schemas.microsoft.com/office/powerpoint/2010/main" val="39135254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Monolithic Structure – Original UNIX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UNIX – limited by hardware functionality, the original UNIX operating system had limited structuring.  The UNIX OS consists of two separable parts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kernel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Consists of everything below the system-call interface and above the physical hardware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Provides the file system, CPU scheduling, memory management, and other operating-system functions; a large number of functions for one level</a:t>
            </a:r>
          </a:p>
        </p:txBody>
      </p:sp>
    </p:spTree>
    <p:extLst>
      <p:ext uri="{BB962C8B-B14F-4D97-AF65-F5344CB8AC3E}">
        <p14:creationId xmlns:p14="http://schemas.microsoft.com/office/powerpoint/2010/main" val="2252372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Traditional UNIX System Structure</a:t>
            </a:r>
          </a:p>
        </p:txBody>
      </p:sp>
      <p:sp>
        <p:nvSpPr>
          <p:cNvPr id="81923" name="TextBox 1"/>
          <p:cNvSpPr txBox="1">
            <a:spLocks noChangeArrowheads="1"/>
          </p:cNvSpPr>
          <p:nvPr/>
        </p:nvSpPr>
        <p:spPr bwMode="auto">
          <a:xfrm>
            <a:off x="284163" y="2011680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Beyond simple but not fully layered</a:t>
            </a:r>
          </a:p>
        </p:txBody>
      </p:sp>
      <p:pic>
        <p:nvPicPr>
          <p:cNvPr id="819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586" y="2473345"/>
            <a:ext cx="5386714" cy="410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728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Linux System Structure</a:t>
            </a:r>
          </a:p>
        </p:txBody>
      </p:sp>
      <p:sp>
        <p:nvSpPr>
          <p:cNvPr id="83971" name="TextBox 1"/>
          <p:cNvSpPr txBox="1">
            <a:spLocks noChangeArrowheads="1"/>
          </p:cNvSpPr>
          <p:nvPr/>
        </p:nvSpPr>
        <p:spPr bwMode="auto">
          <a:xfrm>
            <a:off x="284163" y="2117134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Monolithic plus modular design</a:t>
            </a: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52" y="2084566"/>
            <a:ext cx="24653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766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Layered Approach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870553"/>
            <a:ext cx="5434478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operating system is divided into a number of layers (levels), each built on top of lower layers.  The bottom layer (layer 0), is the hardware; the highest (layer N) is the user interface.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With modularity, layers are selected such that each uses functions (operations) and services of only lower-level layers</a:t>
            </a:r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642" y="2321490"/>
            <a:ext cx="3284537" cy="365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83817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Microkernels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Moves as much from the kernel into user space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Mach </a:t>
            </a: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3366FF"/>
                </a:solidFill>
              </a:rPr>
              <a:t>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3366FF"/>
                </a:solidFill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Benefits: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extend a 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port the operating system to new architectures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reliable (less code is running in kernel mode)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secure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Detriments: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Performance overhead of user space to kernel space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83001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Microkernel System Structure </a:t>
            </a:r>
          </a:p>
        </p:txBody>
      </p:sp>
      <p:pic>
        <p:nvPicPr>
          <p:cNvPr id="9011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81" y="1873794"/>
            <a:ext cx="6950075" cy="403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322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Modules Structure of OS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820449"/>
            <a:ext cx="3951506" cy="417044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 modern operating systems implement </a:t>
            </a:r>
            <a:r>
              <a:rPr lang="en-US" altLang="en-US" b="1" dirty="0">
                <a:solidFill>
                  <a:srgbClr val="3366FF"/>
                </a:solidFill>
              </a:rPr>
              <a:t>loadable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kernel modules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LKMs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object-oriented approach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core component is separate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talks to the others over known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is loadable as needed within the kernel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Overall, similar to layers but with more flexible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Linux, Solaris,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FA371C-4634-7A49-9EFB-475422400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69" y="2714733"/>
            <a:ext cx="4256689" cy="340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8628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Hybrid Systems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Most modern operating systems are actually not one pure model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Hybrid combines multiple approaches to address performance, security, usability needs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 and Solaris kernels in kernel address space, so monolithic, plus modular for dynamic loading of functionality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mostly monolithic, plus microkernel for different subsystem </a:t>
            </a:r>
            <a:r>
              <a:rPr lang="en-US" altLang="en-US" b="1" i="1" dirty="0"/>
              <a:t>personalities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Apple Mac OS X hybrid, layered, </a:t>
            </a:r>
            <a:r>
              <a:rPr lang="en-US" altLang="en-US" b="1" dirty="0">
                <a:solidFill>
                  <a:srgbClr val="3366FF"/>
                </a:solidFill>
              </a:rPr>
              <a:t>Aqua</a:t>
            </a:r>
            <a:r>
              <a:rPr lang="en-US" altLang="en-US" dirty="0"/>
              <a:t> UI plus </a:t>
            </a:r>
            <a:r>
              <a:rPr lang="en-US" altLang="en-US" b="1" dirty="0">
                <a:solidFill>
                  <a:srgbClr val="3366FF"/>
                </a:solidFill>
              </a:rPr>
              <a:t>Cocoa</a:t>
            </a:r>
            <a:r>
              <a:rPr lang="en-US" altLang="en-US" dirty="0"/>
              <a:t> programming environment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Below is kernel consisting of Mach microkernel and BSD Unix parts, plus I/O kit and dynamically loadable modules (called </a:t>
            </a:r>
            <a:r>
              <a:rPr lang="en-US" altLang="en-US" b="1" dirty="0">
                <a:solidFill>
                  <a:srgbClr val="3366FF"/>
                </a:solidFill>
              </a:rPr>
              <a:t>kernel extensions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830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900</TotalTime>
  <Words>2732</Words>
  <Application>Microsoft Office PowerPoint</Application>
  <PresentationFormat>On-screen Show (4:3)</PresentationFormat>
  <Paragraphs>338</Paragraphs>
  <Slides>46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Calibri</vt:lpstr>
      <vt:lpstr>Corbel</vt:lpstr>
      <vt:lpstr>Helvetica</vt:lpstr>
      <vt:lpstr>Monotype Sorts</vt:lpstr>
      <vt:lpstr>Times New Roman</vt:lpstr>
      <vt:lpstr>Wingdings</vt:lpstr>
      <vt:lpstr>Spectrum</vt:lpstr>
      <vt:lpstr>Operating-System Structures</vt:lpstr>
      <vt:lpstr>Lecture Outline</vt:lpstr>
      <vt:lpstr>Operating System Services</vt:lpstr>
      <vt:lpstr>Operating System Services (cont’d)</vt:lpstr>
      <vt:lpstr>Operating System Services (cont’d)</vt:lpstr>
      <vt:lpstr>A View of Operating System Services Service level Architecture</vt:lpstr>
      <vt:lpstr>User Operating System Interface - CLI</vt:lpstr>
      <vt:lpstr>OS provides Graphical User Interface (GUI)</vt:lpstr>
      <vt:lpstr>Touchscreen Interfaces</vt:lpstr>
      <vt:lpstr>System Calls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</vt:lpstr>
      <vt:lpstr>Types of System Calls (cont’d)</vt:lpstr>
      <vt:lpstr>Types of System Calls (cont’d)</vt:lpstr>
      <vt:lpstr>Types of System Calls (cont’d)</vt:lpstr>
      <vt:lpstr>Examples of Windows and  Unix System Calls</vt:lpstr>
      <vt:lpstr>Standard C Library Example</vt:lpstr>
      <vt:lpstr>Example: Arduino</vt:lpstr>
      <vt:lpstr>System Programs (Service)</vt:lpstr>
      <vt:lpstr>System Program (cont’d)</vt:lpstr>
      <vt:lpstr>System Program (cont’d)</vt:lpstr>
      <vt:lpstr>System Services (cont’d)</vt:lpstr>
      <vt:lpstr>Linkers and Loaders</vt:lpstr>
      <vt:lpstr>The Role of the Linker and Loader</vt:lpstr>
      <vt:lpstr>Why Applications are Operating System Specific</vt:lpstr>
      <vt:lpstr>Operating System Design and Implementation</vt:lpstr>
      <vt:lpstr>Operating System Design and Implementation (cont’d)</vt:lpstr>
      <vt:lpstr>Implementation</vt:lpstr>
      <vt:lpstr>Operating System Structure</vt:lpstr>
      <vt:lpstr>Simple Structure (MS DOS)</vt:lpstr>
      <vt:lpstr>Monolithic Structure – Original UNIX</vt:lpstr>
      <vt:lpstr>Traditional UNIX System Structure</vt:lpstr>
      <vt:lpstr>Linux System Structure</vt:lpstr>
      <vt:lpstr>Layered Approach</vt:lpstr>
      <vt:lpstr>Microkernels</vt:lpstr>
      <vt:lpstr>Microkernel System Structure </vt:lpstr>
      <vt:lpstr>Modules Structure of OS</vt:lpstr>
      <vt:lpstr>Hybrid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Umme Sadia Salsabil</cp:lastModifiedBy>
  <cp:revision>50</cp:revision>
  <dcterms:created xsi:type="dcterms:W3CDTF">2018-12-10T17:20:29Z</dcterms:created>
  <dcterms:modified xsi:type="dcterms:W3CDTF">2023-06-13T02:33:45Z</dcterms:modified>
</cp:coreProperties>
</file>