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309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8566" autoAdjust="0"/>
  </p:normalViewPr>
  <p:slideViewPr>
    <p:cSldViewPr snapToGrid="0" snapToObjects="1">
      <p:cViewPr varScale="1">
        <p:scale>
          <a:sx n="72" d="100"/>
          <a:sy n="72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Introduction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086956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Assistant Professor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</a:t>
                      </a:r>
                      <a:r>
                        <a:rPr lang="en-US" i="1" dirty="0" err="1"/>
                        <a:t>Shohag</a:t>
                      </a:r>
                      <a:r>
                        <a:rPr lang="en-US" i="1" dirty="0"/>
                        <a:t> Barman</a:t>
                      </a:r>
                    </a:p>
                    <a:p>
                      <a:r>
                        <a:rPr lang="en-US" i="1" dirty="0" err="1"/>
                        <a:t>shohag@</a:t>
                      </a:r>
                      <a:r>
                        <a:rPr lang="en-US" i="1" err="1"/>
                        <a:t>aiub</a:t>
                      </a:r>
                      <a:r>
                        <a:rPr lang="en-US" i="1"/>
                        <a:t>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586496"/>
          </a:xfrm>
        </p:spPr>
        <p:txBody>
          <a:bodyPr>
            <a:normAutofit/>
          </a:bodyPr>
          <a:lstStyle/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Vision and Mission of AIUB</a:t>
            </a:r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Goals of AIUB </a:t>
            </a:r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Vision and Mission of CS Department</a:t>
            </a:r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ja-JP" sz="2800" b="1" dirty="0">
                <a:solidFill>
                  <a:schemeClr val="tx1"/>
                </a:solidFill>
                <a:cs typeface="Arial" charset="0"/>
              </a:rPr>
              <a:t>Goals of CS Department </a:t>
            </a:r>
            <a:endParaRPr lang="en-US" sz="2800" b="1" dirty="0">
              <a:solidFill>
                <a:schemeClr val="tx1"/>
              </a:solidFill>
            </a:endParaRPr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Course Introduction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  <a:cs typeface="Arial" charset="0"/>
              </a:rPr>
              <a:t>Vision &amp; Mission </a:t>
            </a:r>
            <a:r>
              <a:rPr lang="en-US" altLang="ja-JP" sz="4000" b="1" dirty="0">
                <a:latin typeface="+mn-lt"/>
              </a:rPr>
              <a:t>of AIUB </a:t>
            </a:r>
            <a:endParaRPr lang="en-US" sz="40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4716" y="2088107"/>
            <a:ext cx="8939283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b="1" dirty="0">
                <a:solidFill>
                  <a:srgbClr val="0000FF"/>
                </a:solidFill>
              </a:rPr>
              <a:t>Vision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AMERICAN INTERNATIONAL UNIVERSITY-BANGLADESH (AIUB) envisions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promoting professionals and excellent leadership catering to the technological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progress and development needs of the country.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rgbClr val="0000FF"/>
                </a:solidFill>
              </a:rPr>
              <a:t>Mission: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AMERICAN INTERNATIONAL UNIVERSITY-BANGLADESH (AIUB) is committed to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provide quality and excellent computer-based academic programs responsive to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the emerging challenges of the time. It is dedicated to nurture and produce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competent world class professional imbued with strong sense of ethical values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ready to face the competitive world of arts, business, science, social science and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000" dirty="0"/>
              <a:t>technology. 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Goals of AIUB</a:t>
            </a:r>
          </a:p>
        </p:txBody>
      </p:sp>
      <p:sp>
        <p:nvSpPr>
          <p:cNvPr id="4" name="Rectangle 3"/>
          <p:cNvSpPr/>
          <p:nvPr/>
        </p:nvSpPr>
        <p:spPr>
          <a:xfrm>
            <a:off x="257565" y="2093207"/>
            <a:ext cx="8654423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Sustain development and progress of the university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Continue to upgrade educational services and facilities responsive of the demands for change and needs of the society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Inculcate professional culture among management, faculty and personnel in the attainment of the institution's vision, mission and goals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Enhance research consciousness in discovering new dimensions for curriculum development and enrichment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Implement meaningful and relevant community outreach programs reflective of the available resources and expertise of the university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Establish strong networking of programs, sharing of resources and expertise with local and international educational institutions and organizations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Accelerate the participation of alumni, students and professionals in the implementation of educational programs and development of projects designed to expand and improve global academic standards </a:t>
            </a:r>
            <a:r>
              <a:rPr lang="en-US" sz="160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3600" b="1" dirty="0">
                <a:latin typeface="+mn-lt"/>
                <a:cs typeface="Arial" charset="0"/>
              </a:rPr>
              <a:t>Vision &amp; Mission of CS Department</a:t>
            </a:r>
            <a:endParaRPr lang="en-US" sz="36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0129" y="2088108"/>
            <a:ext cx="8884692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ja-JP" sz="2400" b="1" dirty="0">
                <a:solidFill>
                  <a:srgbClr val="0000FF"/>
                </a:solidFill>
                <a:cs typeface="Arial" panose="020B0604020202020204" pitchFamily="34" charset="0"/>
              </a:rPr>
              <a:t>Vision</a:t>
            </a:r>
          </a:p>
          <a:p>
            <a:pPr marL="274320" indent="-274320">
              <a:spcBef>
                <a:spcPts val="600"/>
              </a:spcBef>
              <a:defRPr/>
            </a:pPr>
            <a:r>
              <a:rPr lang="en-US" altLang="ja-JP" sz="2000" dirty="0"/>
              <a:t>Provides leadership in the pursuit of quality and excellent computer education and </a:t>
            </a:r>
          </a:p>
          <a:p>
            <a:pPr marL="274320" indent="-274320">
              <a:spcBef>
                <a:spcPts val="600"/>
              </a:spcBef>
              <a:defRPr/>
            </a:pPr>
            <a:r>
              <a:rPr lang="en-US" altLang="ja-JP" sz="2000" dirty="0"/>
              <a:t>produce highly skilled and globally competitive IT professionals.</a:t>
            </a:r>
          </a:p>
          <a:p>
            <a:pPr marL="274320" indent="-274320">
              <a:spcBef>
                <a:spcPts val="600"/>
              </a:spcBef>
              <a:defRPr/>
            </a:pPr>
            <a:endParaRPr lang="en-US" altLang="ja-JP" sz="2000" dirty="0"/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ja-JP" sz="2400" b="1" dirty="0">
                <a:cs typeface="Arial" panose="020B0604020202020204" pitchFamily="34" charset="0"/>
              </a:rPr>
              <a:t> </a:t>
            </a:r>
            <a:r>
              <a:rPr lang="en-US" altLang="ja-JP" sz="2400" b="1" dirty="0">
                <a:solidFill>
                  <a:srgbClr val="0000FF"/>
                </a:solidFill>
                <a:cs typeface="Arial" panose="020B0604020202020204" pitchFamily="34" charset="0"/>
              </a:rPr>
              <a:t>Mission</a:t>
            </a:r>
            <a:endParaRPr lang="en-US" sz="2400" b="1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274320" indent="-274320" algn="just">
              <a:spcBef>
                <a:spcPts val="600"/>
              </a:spcBef>
              <a:defRPr/>
            </a:pPr>
            <a:r>
              <a:rPr lang="en-US" altLang="ja-JP" sz="2000" dirty="0"/>
              <a:t>Committed to educate students to think analytically and communicate effectively; </a:t>
            </a:r>
          </a:p>
          <a:p>
            <a:pPr marL="274320" indent="-274320" algn="just">
              <a:spcBef>
                <a:spcPts val="600"/>
              </a:spcBef>
              <a:defRPr/>
            </a:pPr>
            <a:r>
              <a:rPr lang="en-US" altLang="ja-JP" sz="2000" dirty="0"/>
              <a:t>train them to acquire technological, industry and research-oriented accepted skills; </a:t>
            </a:r>
          </a:p>
          <a:p>
            <a:pPr marL="274320" indent="-274320" algn="just">
              <a:spcBef>
                <a:spcPts val="600"/>
              </a:spcBef>
              <a:defRPr/>
            </a:pPr>
            <a:r>
              <a:rPr lang="en-US" altLang="ja-JP" sz="2000" dirty="0"/>
              <a:t>keep them abreast of the new trends and progress in the world of information </a:t>
            </a:r>
          </a:p>
          <a:p>
            <a:pPr marL="274320" indent="-274320" algn="just">
              <a:spcBef>
                <a:spcPts val="600"/>
              </a:spcBef>
              <a:defRPr/>
            </a:pPr>
            <a:r>
              <a:rPr lang="en-US" altLang="ja-JP" sz="2000" dirty="0"/>
              <a:t>communication technology; and inculcate in them the value of professional ethics.</a:t>
            </a:r>
          </a:p>
          <a:p>
            <a:pPr marL="274320" indent="-274320" algn="just">
              <a:spcBef>
                <a:spcPts val="600"/>
              </a:spcBef>
              <a:defRPr/>
            </a:pPr>
            <a:endParaRPr lang="en-US" sz="2000" dirty="0"/>
          </a:p>
          <a:p>
            <a:pPr marL="274320" indent="-274320">
              <a:spcBef>
                <a:spcPts val="600"/>
              </a:spcBef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  <a:cs typeface="Arial" charset="0"/>
              </a:rPr>
              <a:t>Goals of CS Department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7539" y="2301646"/>
            <a:ext cx="839337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Enrich the computer education curriculum to suit the needs of the industry-wide standards for both domestic and international markets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Equip the faculty and staff with professional, modern technological and research skills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Upgrade continuously computer hardware, facilities and instructional materials to cope with the challenges of the information technology age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Initiate and conduct relevant research, software development and outreach services.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Establish linkage with industry and other IT-based organizations/institutions for sharing of resources and expertise, and better job opportunities for students 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Schedule: Mid Term Weeks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0" y="2208618"/>
            <a:ext cx="8504295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1:	Class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2: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3:	Class +  </a:t>
            </a:r>
            <a:r>
              <a:rPr lang="en-US" sz="2800" dirty="0">
                <a:solidFill>
                  <a:srgbClr val="0000FF"/>
                </a:solidFill>
              </a:rPr>
              <a:t>Quiz 1 (on second class of week 3)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4: 	Class</a:t>
            </a:r>
            <a:endParaRPr lang="en-US" sz="2800" dirty="0">
              <a:solidFill>
                <a:srgbClr val="009900"/>
              </a:solidFill>
            </a:endParaRP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5: 	Class +  </a:t>
            </a:r>
            <a:r>
              <a:rPr lang="en-US" sz="2800" dirty="0">
                <a:solidFill>
                  <a:srgbClr val="0000FF"/>
                </a:solidFill>
              </a:rPr>
              <a:t>Quiz 2 (on second class of week 5)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6: 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b="1" dirty="0">
                <a:solidFill>
                  <a:srgbClr val="0000FF"/>
                </a:solidFill>
              </a:rPr>
              <a:t>Week 7: 	Mid Term Exam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57" y="503597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Schedule: Final Term Weeks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2157" y="2274838"/>
            <a:ext cx="8558888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8   :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9   : 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10 : 	Class + </a:t>
            </a:r>
            <a:r>
              <a:rPr lang="en-US" sz="2800" b="1" dirty="0">
                <a:solidFill>
                  <a:srgbClr val="0000FF"/>
                </a:solidFill>
              </a:rPr>
              <a:t>Quiz 3 </a:t>
            </a:r>
            <a:r>
              <a:rPr lang="en-US" sz="2800" dirty="0">
                <a:solidFill>
                  <a:srgbClr val="0000FF"/>
                </a:solidFill>
              </a:rPr>
              <a:t>(on second class of week 10)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11 : 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12 : 	Class + </a:t>
            </a:r>
            <a:r>
              <a:rPr lang="en-US" sz="2800" b="1" dirty="0">
                <a:solidFill>
                  <a:srgbClr val="0000FF"/>
                </a:solidFill>
              </a:rPr>
              <a:t>Quiz 4 </a:t>
            </a:r>
            <a:r>
              <a:rPr lang="en-US" sz="2800" dirty="0">
                <a:solidFill>
                  <a:srgbClr val="0000FF"/>
                </a:solidFill>
              </a:rPr>
              <a:t>(on second class of week 12) 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13 : 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b="1" dirty="0">
                <a:solidFill>
                  <a:srgbClr val="0000FF"/>
                </a:solidFill>
              </a:rPr>
              <a:t>Week 14 : 	Final Exam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Course Evaluation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0" y="2274838"/>
            <a:ext cx="8722659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Class Attendance : 	10%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Quizzes 		:	40%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Term Exam	:	50%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b="1" dirty="0">
                <a:solidFill>
                  <a:srgbClr val="0000FF"/>
                </a:solidFill>
              </a:rPr>
              <a:t>Grand Total = </a:t>
            </a:r>
            <a:r>
              <a:rPr lang="en-US" sz="2800" b="1" dirty="0">
                <a:solidFill>
                  <a:srgbClr val="FF0000"/>
                </a:solidFill>
              </a:rPr>
              <a:t>40%</a:t>
            </a:r>
            <a:r>
              <a:rPr lang="en-US" sz="2800" b="1" dirty="0">
                <a:solidFill>
                  <a:srgbClr val="0000FF"/>
                </a:solidFill>
              </a:rPr>
              <a:t> of Mid Term + </a:t>
            </a:r>
            <a:r>
              <a:rPr lang="en-US" sz="2800" b="1" dirty="0">
                <a:solidFill>
                  <a:srgbClr val="FF0000"/>
                </a:solidFill>
              </a:rPr>
              <a:t>60%</a:t>
            </a:r>
            <a:r>
              <a:rPr lang="en-US" sz="2800" b="1" dirty="0">
                <a:solidFill>
                  <a:srgbClr val="0000FF"/>
                </a:solidFill>
              </a:rPr>
              <a:t> of Final Term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861" y="503597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Cheating Policy (Official Rule)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61" y="2505671"/>
            <a:ext cx="8231342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/>
              <a:t>AIUB does not allow any kind of cheating.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/>
              <a:t>In case of cheating, you’ll get an </a:t>
            </a:r>
            <a:r>
              <a:rPr lang="en-US" sz="3200" b="1" dirty="0">
                <a:solidFill>
                  <a:srgbClr val="FF0000"/>
                </a:solidFill>
              </a:rPr>
              <a:t>F</a:t>
            </a:r>
            <a:r>
              <a:rPr lang="en-US" sz="3200" dirty="0"/>
              <a:t> in the course.</a:t>
            </a:r>
          </a:p>
          <a:p>
            <a:pPr marL="274320" lvl="1" indent="-274320">
              <a:spcBef>
                <a:spcPts val="600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Course Requirements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6595" y="2279177"/>
            <a:ext cx="8598097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Must have at least 80% attendance to pass this course. </a:t>
            </a:r>
            <a:r>
              <a:rPr lang="en-US" sz="2800" dirty="0"/>
              <a:t>Failure to do so will result in an </a:t>
            </a:r>
            <a:r>
              <a:rPr lang="en-US" sz="2800" b="1" dirty="0">
                <a:solidFill>
                  <a:srgbClr val="FF0000"/>
                </a:solidFill>
              </a:rPr>
              <a:t>automatic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UW</a:t>
            </a:r>
            <a:r>
              <a:rPr lang="en-US" sz="2800" dirty="0"/>
              <a:t>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/>
              <a:t>Must appear in the midterm and final term exam.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/>
              <a:t>No make-up Quiz. </a:t>
            </a:r>
          </a:p>
          <a:p>
            <a:pPr marL="274320" lvl="1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/>
              <a:t>No request will be entertained for raising grade; but I will voluntarily give you bonus marks if you are eligible. </a:t>
            </a:r>
          </a:p>
          <a:p>
            <a:pPr marL="274320" lvl="1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I reserve the right to be more lenient to those who deserve.</a:t>
            </a:r>
            <a:endParaRPr lang="en-US" sz="32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ABOUT</a:t>
            </a:r>
            <a:r>
              <a:rPr lang="en-US" sz="4000" dirty="0">
                <a:latin typeface="+mn-lt"/>
              </a:rPr>
              <a:t>  </a:t>
            </a:r>
            <a:r>
              <a:rPr lang="en-US" sz="4000" b="1" dirty="0">
                <a:latin typeface="+mn-lt"/>
              </a:rPr>
              <a:t>CLASS</a:t>
            </a:r>
            <a:r>
              <a:rPr lang="en-US" sz="4000" dirty="0">
                <a:latin typeface="+mn-lt"/>
              </a:rPr>
              <a:t> </a:t>
            </a:r>
            <a:r>
              <a:rPr lang="en-US" sz="4000" b="1" dirty="0">
                <a:latin typeface="+mn-lt"/>
              </a:rPr>
              <a:t>ATTENDANCE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2973" y="2224586"/>
            <a:ext cx="8722659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If you have 100% attendance, you will get bonus marks.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If your attendance falls below 80%, you will get UW.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If you are absent for some reason, then you must submit an application with valid supporting documents when you come next time in the class.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u="sng" dirty="0">
                <a:solidFill>
                  <a:srgbClr val="FF0000"/>
                </a:solidFill>
              </a:rPr>
              <a:t>If you are in probation</a:t>
            </a:r>
            <a:r>
              <a:rPr lang="en-US" sz="2400" dirty="0">
                <a:solidFill>
                  <a:srgbClr val="FF0000"/>
                </a:solidFill>
              </a:rPr>
              <a:t>, do NOT miss any class and you MUST come for consultation at least once a week.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i="1" u="sng" dirty="0">
                <a:solidFill>
                  <a:srgbClr val="FF0000"/>
                </a:solidFill>
              </a:rPr>
              <a:t>Note</a:t>
            </a:r>
            <a:r>
              <a:rPr lang="en-US" sz="2400" dirty="0">
                <a:solidFill>
                  <a:srgbClr val="FF0000"/>
                </a:solidFill>
              </a:rPr>
              <a:t>: A Probation student can NOT DROP course.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8" y="341193"/>
            <a:ext cx="8722659" cy="1359724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+mn-lt"/>
              </a:rPr>
              <a:t>Why Study Discrete Mathematics?</a:t>
            </a:r>
            <a:endParaRPr lang="en-US" sz="3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5677" y="1955014"/>
            <a:ext cx="8845491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ja-JP" sz="2400" dirty="0"/>
              <a:t>There are several important reasons for studying </a:t>
            </a:r>
            <a:r>
              <a:rPr lang="en-US" altLang="ja-JP" sz="2400" b="1" i="1" dirty="0"/>
              <a:t>discrete mathematics –</a:t>
            </a:r>
          </a:p>
          <a:p>
            <a:pPr marL="731520" lvl="2" indent="-274320">
              <a:spcBef>
                <a:spcPts val="600"/>
              </a:spcBef>
              <a:buFont typeface="Arial" charset="0"/>
              <a:buChar char="•"/>
            </a:pPr>
            <a:r>
              <a:rPr lang="en-US" altLang="ja-JP" sz="2400" dirty="0"/>
              <a:t>Through this course you can develop your Mathematical Maturity, that is your ability to understand and create mathematical arguments.</a:t>
            </a:r>
          </a:p>
          <a:p>
            <a:pPr marL="731520" lvl="2" indent="-274320">
              <a:spcBef>
                <a:spcPts val="600"/>
              </a:spcBef>
              <a:buFont typeface="Arial" charset="0"/>
              <a:buChar char="•"/>
            </a:pPr>
            <a:r>
              <a:rPr lang="en-US" altLang="ja-JP" sz="2400" dirty="0"/>
              <a:t>Discrete mathematics is the gateway to more advanced courses in all parts of the mathematical sciences. It provides the mathematical foundations for many Computer Science courses, including </a:t>
            </a:r>
            <a:r>
              <a:rPr lang="en-US" altLang="ja-JP" sz="2400" dirty="0">
                <a:solidFill>
                  <a:srgbClr val="0000FF"/>
                </a:solidFill>
              </a:rPr>
              <a:t>Algorithm, Data Structure, Database Theory, Formal Languages, Compiler Theory, Computer Security, Operating Systems</a:t>
            </a:r>
            <a:r>
              <a:rPr lang="en-US" sz="2400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3600" b="1" dirty="0">
                <a:latin typeface="+mn-lt"/>
              </a:rPr>
              <a:t>Why Study Discrete Mathematics?</a:t>
            </a:r>
            <a:endParaRPr lang="en-US" sz="3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7539" y="2164818"/>
            <a:ext cx="8215953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0000FF"/>
                </a:solidFill>
              </a:rPr>
              <a:t>Discrete Mathematics can be applied –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the design of computing machines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the specification of systems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artificial intelligence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programming languages, and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other areas of computer science, as well as, to many other fields of study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653725"/>
            <a:ext cx="7808976" cy="1088136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</a:rPr>
              <a:t>Text/Reference Books  &amp; </a:t>
            </a:r>
            <a:br>
              <a:rPr lang="en-US" sz="4000" b="1" dirty="0">
                <a:latin typeface="+mn-lt"/>
              </a:rPr>
            </a:br>
            <a:r>
              <a:rPr lang="en-US" sz="4000" b="1" dirty="0">
                <a:latin typeface="+mn-lt"/>
              </a:rPr>
              <a:t>Study Materials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5653" y="2169995"/>
            <a:ext cx="8734568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i="1" dirty="0">
                <a:solidFill>
                  <a:srgbClr val="FF0000"/>
                </a:solidFill>
              </a:rPr>
              <a:t>Discrete Mathematics and its applications with </a:t>
            </a:r>
            <a:r>
              <a:rPr lang="en-US" sz="2000" i="1" dirty="0" err="1">
                <a:solidFill>
                  <a:srgbClr val="FF0000"/>
                </a:solidFill>
              </a:rPr>
              <a:t>combinatorics</a:t>
            </a:r>
            <a:r>
              <a:rPr lang="en-US" sz="2000" i="1" dirty="0">
                <a:solidFill>
                  <a:srgbClr val="FF0000"/>
                </a:solidFill>
              </a:rPr>
              <a:t> and graph theory (7</a:t>
            </a:r>
            <a:r>
              <a:rPr lang="en-US" sz="2000" i="1" baseline="30000" dirty="0">
                <a:solidFill>
                  <a:srgbClr val="FF0000"/>
                </a:solidFill>
              </a:rPr>
              <a:t>th</a:t>
            </a:r>
            <a:r>
              <a:rPr lang="en-US" sz="2000" i="1" dirty="0">
                <a:solidFill>
                  <a:srgbClr val="FF0000"/>
                </a:solidFill>
              </a:rPr>
              <a:t> edition) </a:t>
            </a:r>
            <a:r>
              <a:rPr lang="en-US" sz="2000" dirty="0">
                <a:solidFill>
                  <a:srgbClr val="FF0000"/>
                </a:solidFill>
              </a:rPr>
              <a:t>by Kenneth H. Rosen </a:t>
            </a:r>
            <a:r>
              <a:rPr lang="en-US" sz="2000" dirty="0">
                <a:solidFill>
                  <a:srgbClr val="0000FF"/>
                </a:solidFill>
              </a:rPr>
              <a:t>[Indian Adaptation by KAMALA KRITHIVASAN],</a:t>
            </a: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dirty="0"/>
              <a:t>published by </a:t>
            </a:r>
            <a:r>
              <a:rPr lang="en-US" altLang="ja-JP" sz="2000" dirty="0"/>
              <a:t>McGraw-Hill</a:t>
            </a:r>
            <a:r>
              <a:rPr lang="en-US" sz="2000" dirty="0"/>
              <a:t>, is the </a:t>
            </a:r>
            <a:r>
              <a:rPr lang="en-US" sz="2000" dirty="0">
                <a:solidFill>
                  <a:srgbClr val="FF0000"/>
                </a:solidFill>
              </a:rPr>
              <a:t>required text.  </a:t>
            </a:r>
            <a:endParaRPr lang="en-US" sz="2000" b="1" i="1" dirty="0">
              <a:solidFill>
                <a:srgbClr val="009900"/>
              </a:solidFill>
            </a:endParaRPr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  <a:endParaRPr lang="en-US" sz="2000" i="1" dirty="0"/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i="1" dirty="0"/>
              <a:t>SCHAUM’S  </a:t>
            </a:r>
            <a:r>
              <a:rPr lang="en-US" sz="2000" i="1" dirty="0" err="1"/>
              <a:t>ouTlines</a:t>
            </a:r>
            <a:r>
              <a:rPr lang="en-US" sz="2000" i="1" dirty="0"/>
              <a:t>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Seymour </a:t>
            </a:r>
            <a:r>
              <a:rPr lang="en-US" sz="2000" dirty="0" err="1"/>
              <a:t>Lipschutz</a:t>
            </a:r>
            <a:r>
              <a:rPr lang="en-US" sz="2000" dirty="0"/>
              <a:t>, Marc Lipson</a:t>
            </a:r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b="1" dirty="0"/>
              <a:t>Lecture slides </a:t>
            </a:r>
            <a:r>
              <a:rPr lang="en-US" sz="2000" dirty="0"/>
              <a:t>will be posted on VUES on a regular basis.</a:t>
            </a:r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b="1" dirty="0"/>
              <a:t>Lecture</a:t>
            </a:r>
            <a:r>
              <a:rPr lang="en-US" sz="2000" dirty="0"/>
              <a:t> </a:t>
            </a:r>
            <a:r>
              <a:rPr lang="en-US" sz="2000" b="1" dirty="0"/>
              <a:t>Notes</a:t>
            </a:r>
            <a:r>
              <a:rPr lang="en-US" sz="2000" dirty="0"/>
              <a:t> will be provided by the Course Instructor.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Summary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402007"/>
            <a:ext cx="7808976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Thanks a lot for your attention.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Any questions ??!!?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Summary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1445" y="2661314"/>
            <a:ext cx="63752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0000FF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Welcome to the course </a:t>
            </a:r>
          </a:p>
          <a:p>
            <a:r>
              <a:rPr lang="en-US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 Mathematics 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624</TotalTime>
  <Words>1061</Words>
  <Application>Microsoft Office PowerPoint</Application>
  <PresentationFormat>On-screen Show (4:3)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Corbel</vt:lpstr>
      <vt:lpstr>Wingdings</vt:lpstr>
      <vt:lpstr>Spectrum</vt:lpstr>
      <vt:lpstr>Introduction </vt:lpstr>
      <vt:lpstr>Lecture Outline</vt:lpstr>
      <vt:lpstr>Vision &amp; Mission of AIUB </vt:lpstr>
      <vt:lpstr>Goals of AIUB</vt:lpstr>
      <vt:lpstr>Vision &amp; Mission of CS Department</vt:lpstr>
      <vt:lpstr>Goals of CS Department</vt:lpstr>
      <vt:lpstr>Schedule: Mid Term Weeks</vt:lpstr>
      <vt:lpstr>Schedule: Final Term Weeks</vt:lpstr>
      <vt:lpstr>Course Evaluation</vt:lpstr>
      <vt:lpstr>Cheating Policy (Official Rule)</vt:lpstr>
      <vt:lpstr>Course Requirements</vt:lpstr>
      <vt:lpstr>ABOUT  CLASS ATTENDANCE</vt:lpstr>
      <vt:lpstr>Why Study Discrete Mathematics?</vt:lpstr>
      <vt:lpstr>Why Study Discrete Mathematics?</vt:lpstr>
      <vt:lpstr>Text/Reference Books  &amp;  Study Materials</vt:lpstr>
      <vt:lpstr>Summary</vt:lpstr>
      <vt:lpstr>Summary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shohagkoly@yahoo.com</cp:lastModifiedBy>
  <cp:revision>25</cp:revision>
  <dcterms:created xsi:type="dcterms:W3CDTF">2018-12-10T17:20:29Z</dcterms:created>
  <dcterms:modified xsi:type="dcterms:W3CDTF">2020-07-01T01:57:38Z</dcterms:modified>
</cp:coreProperties>
</file>