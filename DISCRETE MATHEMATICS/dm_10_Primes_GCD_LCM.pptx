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308" r:id="rId4"/>
    <p:sldId id="357" r:id="rId5"/>
    <p:sldId id="358" r:id="rId6"/>
    <p:sldId id="359" r:id="rId7"/>
    <p:sldId id="360" r:id="rId8"/>
    <p:sldId id="361" r:id="rId9"/>
    <p:sldId id="362" r:id="rId10"/>
    <p:sldId id="363" r:id="rId11"/>
    <p:sldId id="364" r:id="rId12"/>
    <p:sldId id="365" r:id="rId13"/>
    <p:sldId id="366" r:id="rId14"/>
    <p:sldId id="369" r:id="rId15"/>
    <p:sldId id="367" r:id="rId16"/>
    <p:sldId id="356" r:id="rId17"/>
    <p:sldId id="277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8566" autoAdjust="0"/>
  </p:normalViewPr>
  <p:slideViewPr>
    <p:cSldViewPr snapToGrid="0" snapToObjects="1">
      <p:cViewPr varScale="1">
        <p:scale>
          <a:sx n="72" d="100"/>
          <a:sy n="72" d="100"/>
        </p:scale>
        <p:origin x="132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8/3/2020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630E-50CB-41D4-B880-9F9D7FA7BA29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E53B5-49FB-46D3-8DDC-FF194BFECA44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3357-3270-44AD-8313-0626A2642B80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85F5-738C-480D-8B46-1B1B3DA4FF26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20414-9D97-4B74-A477-A764E0D269A0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15-530B-454C-ADA2-7F2157207175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8430-5DBF-4BDF-AAA2-FD9FC4A2D81F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C2E2-3F23-42C1-AFF2-4509F057067A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D1CE5-8CD7-468E-85A4-78CEAD3625E5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DB23-474F-49A8-A23D-7A0E84AD2BE6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5E30-D25B-4216-A7A0-BE8AD9B7E327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EFD5-F0AF-4965-A66C-E35F81ABEC91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A2D2-B87B-4847-9811-8BF83A23C0A4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2871-21BD-4EDE-AE57-59E17BF237ED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F78AD-1CB0-4608-B3A1-669F93264AC6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542CD-9A58-4A2A-A626-496AF398B07A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4EAB5B0-AB84-48D4-BAFB-665F1E7B35E0}" type="datetime1">
              <a:rPr lang="en-US" smtClean="0"/>
              <a:pPr/>
              <a:t>8/3/2020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21709"/>
            <a:ext cx="7808976" cy="1088136"/>
          </a:xfrm>
        </p:spPr>
        <p:txBody>
          <a:bodyPr>
            <a:noAutofit/>
          </a:bodyPr>
          <a:lstStyle/>
          <a:p>
            <a:r>
              <a:rPr lang="en-US" altLang="zh-TW" sz="3200" b="1" dirty="0">
                <a:latin typeface="+mn-lt"/>
              </a:rPr>
              <a:t>Primes and Greatest Common Divisors </a:t>
            </a:r>
            <a:endParaRPr lang="en-US" sz="32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3696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Discrete Mathematics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2920" y="2320124"/>
            <a:ext cx="8234223" cy="3889612"/>
          </a:xfrm>
        </p:spPr>
        <p:txBody>
          <a:bodyPr>
            <a:noAutofit/>
          </a:bodyPr>
          <a:lstStyle/>
          <a:p>
            <a:pPr marL="274320" indent="-274320">
              <a:spcBef>
                <a:spcPts val="600"/>
              </a:spcBef>
            </a:pPr>
            <a:r>
              <a:rPr lang="en-US" altLang="zh-TW" sz="2800" b="1" dirty="0">
                <a:solidFill>
                  <a:schemeClr val="tx1"/>
                </a:solidFill>
              </a:rPr>
              <a:t>3.5 Primes and Greatest Common Divisors </a:t>
            </a:r>
            <a:endParaRPr lang="en-US" sz="2800" b="1" dirty="0">
              <a:solidFill>
                <a:schemeClr val="tx1"/>
              </a:solidFill>
            </a:endParaRPr>
          </a:p>
          <a:p>
            <a:pPr marL="548640" indent="-274320">
              <a:buClrTx/>
              <a:buFont typeface="Arial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</a:rPr>
              <a:t>Prime and Composite numbers</a:t>
            </a:r>
          </a:p>
          <a:p>
            <a:pPr marL="548640" indent="-274320">
              <a:buClrTx/>
              <a:buFont typeface="Arial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</a:rPr>
              <a:t>Fundamental Theorem of Arithmetic</a:t>
            </a:r>
          </a:p>
          <a:p>
            <a:pPr marL="548640" indent="-274320">
              <a:buClrTx/>
              <a:buFont typeface="Arial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</a:rPr>
              <a:t>Greatest Common Divisors (gcd)</a:t>
            </a:r>
          </a:p>
          <a:p>
            <a:pPr marL="548640" indent="-274320">
              <a:buClrTx/>
              <a:buFont typeface="Arial" pitchFamily="34" charset="0"/>
              <a:buChar char="•"/>
            </a:pPr>
            <a:r>
              <a:rPr lang="en-US" altLang="zh-TW" sz="2800" dirty="0">
                <a:solidFill>
                  <a:schemeClr val="tx1"/>
                </a:solidFill>
              </a:rPr>
              <a:t>Least Common Multiple (lcm)</a:t>
            </a:r>
          </a:p>
          <a:p>
            <a:pPr marL="548640" indent="-274320">
              <a:buClrTx/>
              <a:buFont typeface="Arial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Finding gcd &amp; lcm of two integers using Prime Factorization 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marL="274320" indent="-274320">
              <a:spcBef>
                <a:spcPts val="600"/>
              </a:spcBef>
              <a:buClrTx/>
            </a:pPr>
            <a:endParaRPr lang="en-US" altLang="zh-TW" sz="28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Objectives and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213" y="2156348"/>
            <a:ext cx="866586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>
              <a:spcBef>
                <a:spcPts val="600"/>
              </a:spcBef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Objectives</a:t>
            </a:r>
            <a:r>
              <a:rPr lang="en-US" sz="2400" dirty="0"/>
              <a:t>: To understand prime and composite numbers, greatest common divisor (gcd) and least common multiple (lcm), how to find gcd and lcm of two integers using prime factorization.</a:t>
            </a:r>
          </a:p>
          <a:p>
            <a:pPr marL="274320" indent="-274320">
              <a:spcBef>
                <a:spcPts val="600"/>
              </a:spcBef>
              <a:buClr>
                <a:srgbClr val="FF0000"/>
              </a:buClr>
            </a:pPr>
            <a:endParaRPr lang="en-US" sz="24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Outcomes</a:t>
            </a:r>
            <a:r>
              <a:rPr lang="en-US" sz="2400" dirty="0"/>
              <a:t>: Students are expected to be able explain the terms prime number, composite number, greatest common divisor, least common multiple; be able to determine whether an integer is prime or composite; be able to find the greatest common divisor and least common multiple of two integers using prime factorization.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2157" y="530893"/>
            <a:ext cx="7808976" cy="108813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Primes and Composite Numbers</a:t>
            </a:r>
            <a:endParaRPr lang="en-US" sz="40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9453" y="2052848"/>
            <a:ext cx="8515739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u="sng" dirty="0">
                <a:solidFill>
                  <a:srgbClr val="FF0000"/>
                </a:solidFill>
              </a:rPr>
              <a:t>Definition 1</a:t>
            </a:r>
            <a:r>
              <a:rPr lang="en-US" altLang="zh-TW" sz="2800" dirty="0">
                <a:solidFill>
                  <a:srgbClr val="FF0000"/>
                </a:solidFill>
              </a:rPr>
              <a:t>: </a:t>
            </a:r>
            <a:r>
              <a:rPr lang="en-US" altLang="zh-TW" sz="2800" dirty="0"/>
              <a:t>A positive integer </a:t>
            </a:r>
            <a:r>
              <a:rPr lang="en-US" altLang="zh-TW" sz="2800" i="1" dirty="0"/>
              <a:t>p</a:t>
            </a:r>
            <a:r>
              <a:rPr lang="en-US" altLang="zh-TW" sz="2800" dirty="0"/>
              <a:t> greater than 1 is called </a:t>
            </a:r>
            <a:r>
              <a:rPr lang="en-US" altLang="zh-TW" sz="2800" b="1" i="1" dirty="0"/>
              <a:t>prime</a:t>
            </a:r>
            <a:r>
              <a:rPr lang="en-US" altLang="zh-TW" sz="2800" dirty="0"/>
              <a:t> if the only positive factors of </a:t>
            </a:r>
            <a:r>
              <a:rPr lang="en-US" altLang="zh-TW" sz="2800" i="1" dirty="0"/>
              <a:t>p</a:t>
            </a:r>
            <a:r>
              <a:rPr lang="en-US" altLang="zh-TW" sz="2800" dirty="0"/>
              <a:t> are 1 and </a:t>
            </a:r>
            <a:r>
              <a:rPr lang="en-US" altLang="zh-TW" sz="2800" i="1" dirty="0"/>
              <a:t>p</a:t>
            </a:r>
            <a:r>
              <a:rPr lang="en-US" altLang="zh-TW" sz="2800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A positive integer that is greater than 1 and is not prime is called </a:t>
            </a:r>
            <a:r>
              <a:rPr lang="en-US" altLang="zh-TW" sz="2800" b="1" i="1" dirty="0"/>
              <a:t>composite</a:t>
            </a:r>
            <a:r>
              <a:rPr lang="en-US" altLang="zh-TW" sz="2800" dirty="0"/>
              <a:t>.</a:t>
            </a: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>
              <a:solidFill>
                <a:srgbClr val="0000FF"/>
              </a:solidFill>
            </a:endParaRPr>
          </a:p>
          <a:p>
            <a:pPr marL="274320" lvl="1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u="sng" dirty="0">
                <a:solidFill>
                  <a:srgbClr val="FF0000"/>
                </a:solidFill>
              </a:rPr>
              <a:t>Note: </a:t>
            </a:r>
            <a:r>
              <a:rPr lang="en-US" altLang="zh-TW" sz="2800" dirty="0">
                <a:solidFill>
                  <a:srgbClr val="0000FF"/>
                </a:solidFill>
              </a:rPr>
              <a:t>The integer </a:t>
            </a:r>
            <a:r>
              <a:rPr lang="en-US" altLang="zh-TW" sz="2800" i="1" dirty="0">
                <a:solidFill>
                  <a:srgbClr val="0000FF"/>
                </a:solidFill>
              </a:rPr>
              <a:t>n</a:t>
            </a:r>
            <a:r>
              <a:rPr lang="en-US" altLang="zh-TW" sz="2800" dirty="0">
                <a:solidFill>
                  <a:srgbClr val="0000FF"/>
                </a:solidFill>
              </a:rPr>
              <a:t> is composite if and only if there exists an integer </a:t>
            </a:r>
            <a:r>
              <a:rPr lang="en-US" altLang="zh-TW" sz="2800" i="1" dirty="0">
                <a:solidFill>
                  <a:srgbClr val="0000FF"/>
                </a:solidFill>
              </a:rPr>
              <a:t>a</a:t>
            </a:r>
            <a:r>
              <a:rPr lang="en-US" altLang="zh-TW" sz="2800" dirty="0">
                <a:solidFill>
                  <a:srgbClr val="0000FF"/>
                </a:solidFill>
              </a:rPr>
              <a:t> such that </a:t>
            </a:r>
            <a:r>
              <a:rPr lang="en-US" altLang="zh-TW" sz="2800" i="1" dirty="0" err="1">
                <a:solidFill>
                  <a:srgbClr val="0000FF"/>
                </a:solidFill>
              </a:rPr>
              <a:t>a</a:t>
            </a:r>
            <a:r>
              <a:rPr lang="en-US" altLang="zh-TW" sz="2800" dirty="0" err="1">
                <a:solidFill>
                  <a:srgbClr val="0000FF"/>
                </a:solidFill>
              </a:rPr>
              <a:t>|</a:t>
            </a:r>
            <a:r>
              <a:rPr lang="en-US" altLang="zh-TW" sz="2800" i="1" dirty="0" err="1">
                <a:solidFill>
                  <a:srgbClr val="0000FF"/>
                </a:solidFill>
              </a:rPr>
              <a:t>n</a:t>
            </a:r>
            <a:r>
              <a:rPr lang="en-US" altLang="zh-TW" sz="2800" dirty="0">
                <a:solidFill>
                  <a:srgbClr val="0000FF"/>
                </a:solidFill>
              </a:rPr>
              <a:t> and 1 &lt; </a:t>
            </a:r>
            <a:r>
              <a:rPr lang="en-US" altLang="zh-TW" sz="2800" i="1" dirty="0">
                <a:solidFill>
                  <a:srgbClr val="0000FF"/>
                </a:solidFill>
              </a:rPr>
              <a:t>a </a:t>
            </a:r>
            <a:r>
              <a:rPr lang="en-US" altLang="zh-TW" sz="2800" dirty="0">
                <a:solidFill>
                  <a:srgbClr val="0000FF"/>
                </a:solidFill>
              </a:rPr>
              <a:t>&lt; </a:t>
            </a:r>
            <a:r>
              <a:rPr lang="en-US" altLang="zh-TW" sz="2800" i="1" dirty="0">
                <a:solidFill>
                  <a:srgbClr val="0000FF"/>
                </a:solidFill>
              </a:rPr>
              <a:t>n.</a:t>
            </a:r>
            <a:endParaRPr lang="en-US" altLang="zh-TW" sz="2800" i="1" u="sng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u="sng" dirty="0">
                <a:solidFill>
                  <a:srgbClr val="FF0000"/>
                </a:solidFill>
              </a:rPr>
              <a:t>Theorem 3</a:t>
            </a:r>
            <a:r>
              <a:rPr lang="en-US" altLang="zh-TW" sz="2800" dirty="0">
                <a:solidFill>
                  <a:srgbClr val="FF0000"/>
                </a:solidFill>
              </a:rPr>
              <a:t>: </a:t>
            </a:r>
            <a:r>
              <a:rPr lang="en-US" altLang="zh-TW" sz="2800" dirty="0"/>
              <a:t>There are infinitely many primes. </a:t>
            </a:r>
            <a:endParaRPr lang="en-US" altLang="zh-TW" sz="28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b="1" dirty="0">
                <a:latin typeface="+mn-lt"/>
              </a:rPr>
              <a:t>Example 1 (p. 223)</a:t>
            </a:r>
            <a:endParaRPr lang="en-US" sz="40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861" y="2210637"/>
            <a:ext cx="8515739" cy="29084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/>
              <a:t>The integer 7 is prime because its only positive factors are 1 and 7, whereas the integer 9 is composite because it is divisible by 3.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dirty="0">
                <a:solidFill>
                  <a:srgbClr val="FF0000"/>
                </a:solidFill>
              </a:rPr>
              <a:t>Question: What are the primes less than 100?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43917" y="571837"/>
            <a:ext cx="7808976" cy="1088136"/>
          </a:xfrm>
        </p:spPr>
        <p:txBody>
          <a:bodyPr>
            <a:normAutofit/>
          </a:bodyPr>
          <a:lstStyle/>
          <a:p>
            <a:r>
              <a:rPr lang="en-US" altLang="zh-TW" sz="3600" b="1" dirty="0">
                <a:latin typeface="+mn-lt"/>
              </a:rPr>
              <a:t>Fundamental Theorem of Arithmetic</a:t>
            </a:r>
            <a:endParaRPr lang="en-US" sz="36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43917" y="2102378"/>
            <a:ext cx="8693163" cy="4358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u="sng" dirty="0">
                <a:solidFill>
                  <a:srgbClr val="FF0000"/>
                </a:solidFill>
              </a:rPr>
              <a:t>Theorem 1</a:t>
            </a:r>
            <a:r>
              <a:rPr lang="en-US" altLang="zh-TW" sz="2400" dirty="0">
                <a:solidFill>
                  <a:srgbClr val="FF0000"/>
                </a:solidFill>
              </a:rPr>
              <a:t>(Fundamental Theorem of Arithmetic): </a:t>
            </a:r>
            <a:r>
              <a:rPr lang="en-US" altLang="zh-TW" sz="2400" dirty="0"/>
              <a:t>Every positive integer greater than 1 can be written uniquely as a prime or as the product of two or more primes where the prime factors are written in order of non-decreasing size.</a:t>
            </a: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en-US" altLang="en-US" sz="2400" dirty="0">
              <a:solidFill>
                <a:srgbClr val="FF0000"/>
              </a:solidFill>
            </a:endParaRPr>
          </a:p>
          <a:p>
            <a:pPr marL="274320" indent="-274320">
              <a:lnSpc>
                <a:spcPct val="9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</a:rPr>
              <a:t>Example 2 (p.224) : Prime factorization of 100, 641, 999, and 1024 are given by</a:t>
            </a:r>
          </a:p>
          <a:p>
            <a:pPr marL="731520" lvl="1" indent="-274320">
              <a:lnSpc>
                <a:spcPct val="90000"/>
              </a:lnSpc>
              <a:spcBef>
                <a:spcPts val="600"/>
              </a:spcBef>
            </a:pPr>
            <a:r>
              <a:rPr lang="en-US" altLang="en-US" sz="2400" dirty="0">
                <a:solidFill>
                  <a:srgbClr val="0000FF"/>
                </a:solidFill>
              </a:rPr>
              <a:t>	</a:t>
            </a:r>
            <a:r>
              <a:rPr lang="en-US" altLang="en-US" sz="2000" dirty="0"/>
              <a:t>100 = 2.2.5.5 = 2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.5</a:t>
            </a:r>
            <a:r>
              <a:rPr lang="en-US" altLang="en-US" sz="2000" baseline="30000" dirty="0"/>
              <a:t>2</a:t>
            </a:r>
            <a:endParaRPr lang="en-US" altLang="en-US" sz="2000" dirty="0"/>
          </a:p>
          <a:p>
            <a:pPr marL="731520" lvl="1" indent="-274320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	641 = 641</a:t>
            </a:r>
          </a:p>
          <a:p>
            <a:pPr marL="731520" lvl="1" indent="-274320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	999 = 3.3.3.37 = 3</a:t>
            </a:r>
            <a:r>
              <a:rPr lang="en-US" altLang="en-US" sz="2000" baseline="30000" dirty="0"/>
              <a:t>3</a:t>
            </a:r>
            <a:r>
              <a:rPr lang="en-US" altLang="en-US" sz="2000" dirty="0"/>
              <a:t>.37</a:t>
            </a:r>
          </a:p>
          <a:p>
            <a:pPr marL="731520" lvl="1" indent="-274320">
              <a:lnSpc>
                <a:spcPct val="90000"/>
              </a:lnSpc>
              <a:spcBef>
                <a:spcPts val="600"/>
              </a:spcBef>
            </a:pPr>
            <a:r>
              <a:rPr lang="en-US" altLang="en-US" sz="2000" dirty="0"/>
              <a:t>	1024 = 2.2.2.2.2.2.2.2.2.2 = 2</a:t>
            </a:r>
            <a:r>
              <a:rPr lang="en-US" altLang="en-US" sz="2000" baseline="30000" dirty="0"/>
              <a:t>10 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3101" y="612781"/>
            <a:ext cx="7808976" cy="108813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+mn-lt"/>
              </a:rPr>
              <a:t>Determining whether a given </a:t>
            </a:r>
            <a:br>
              <a:rPr lang="en-US" sz="3600" b="1" dirty="0">
                <a:latin typeface="+mn-lt"/>
              </a:rPr>
            </a:br>
            <a:r>
              <a:rPr lang="en-US" sz="3600" b="1" dirty="0">
                <a:latin typeface="+mn-lt"/>
              </a:rPr>
              <a:t>integer is Prime or Composite</a:t>
            </a:r>
            <a:endParaRPr lang="en-US" sz="36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3101" y="2119140"/>
            <a:ext cx="8583979" cy="33393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u="sng" dirty="0">
                <a:solidFill>
                  <a:srgbClr val="FF0000"/>
                </a:solidFill>
              </a:rPr>
              <a:t>Theorem 2</a:t>
            </a:r>
            <a:r>
              <a:rPr lang="en-US" altLang="zh-TW" sz="2800" dirty="0"/>
              <a:t>: If </a:t>
            </a:r>
            <a:r>
              <a:rPr lang="en-US" altLang="zh-TW" sz="2800" i="1" dirty="0"/>
              <a:t>n</a:t>
            </a:r>
            <a:r>
              <a:rPr lang="en-US" altLang="zh-TW" sz="2800" dirty="0"/>
              <a:t> is a </a:t>
            </a:r>
            <a:r>
              <a:rPr lang="en-US" altLang="zh-TW" sz="2800" b="1" dirty="0"/>
              <a:t>composite</a:t>
            </a:r>
            <a:r>
              <a:rPr lang="en-US" altLang="zh-TW" sz="2800" dirty="0"/>
              <a:t> integer, then </a:t>
            </a:r>
            <a:r>
              <a:rPr lang="en-US" altLang="zh-TW" sz="2800" i="1" dirty="0"/>
              <a:t>n</a:t>
            </a:r>
            <a:r>
              <a:rPr lang="en-US" altLang="zh-TW" sz="2800" dirty="0"/>
              <a:t> has a prime divisor less than or equal to √</a:t>
            </a:r>
            <a:r>
              <a:rPr lang="en-US" altLang="zh-TW" sz="2800" i="1" dirty="0"/>
              <a:t>n</a:t>
            </a:r>
            <a:r>
              <a:rPr lang="en-US" altLang="zh-TW" sz="2800" dirty="0"/>
              <a:t>.</a:t>
            </a:r>
            <a:endParaRPr lang="en-US" altLang="zh-TW" sz="2800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 From Theorem 2, it follows that an integer is prime if it is not divisible by any prime less than or equal to its square root.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2157" y="626429"/>
            <a:ext cx="7808976" cy="1088136"/>
          </a:xfrm>
        </p:spPr>
        <p:txBody>
          <a:bodyPr>
            <a:noAutofit/>
          </a:bodyPr>
          <a:lstStyle/>
          <a:p>
            <a:r>
              <a:rPr lang="en-US" sz="3600" b="1" dirty="0"/>
              <a:t>Determining whether a given </a:t>
            </a:r>
            <a:br>
              <a:rPr lang="en-US" sz="3600" b="1" dirty="0"/>
            </a:br>
            <a:r>
              <a:rPr lang="en-US" sz="3600" b="1" dirty="0"/>
              <a:t>integer is Prime or Composite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298509" y="2055982"/>
            <a:ext cx="8515739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Example 3 [p.224]: Show that 101 is prime.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200" b="1" u="sng" dirty="0">
                <a:solidFill>
                  <a:srgbClr val="0000FF"/>
                </a:solidFill>
              </a:rPr>
              <a:t>Solution</a:t>
            </a:r>
            <a:r>
              <a:rPr lang="en-US" sz="2200" dirty="0"/>
              <a:t>: The only primes not exceeding </a:t>
            </a:r>
            <a:r>
              <a:rPr lang="en-US" altLang="zh-TW" sz="2200" dirty="0"/>
              <a:t>√101 are 2, 3, 5, 7. Because 101 is not divisible by 2, 3, 5, or 7, it follows that </a:t>
            </a:r>
            <a:r>
              <a:rPr lang="en-US" altLang="zh-TW" sz="2200" b="1" dirty="0"/>
              <a:t>101 is prime</a:t>
            </a:r>
            <a:r>
              <a:rPr lang="en-US" altLang="zh-TW" sz="2200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200" dirty="0">
                <a:solidFill>
                  <a:srgbClr val="FF0000"/>
                </a:solidFill>
              </a:rPr>
              <a:t>Exercise 1(e)[p.230]: Determine whether 111 is prime.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200" b="1" u="sng" dirty="0">
                <a:solidFill>
                  <a:srgbClr val="0000FF"/>
                </a:solidFill>
              </a:rPr>
              <a:t>Solution</a:t>
            </a:r>
            <a:r>
              <a:rPr lang="en-US" sz="2200" dirty="0"/>
              <a:t>: The only primes not exceeding </a:t>
            </a:r>
            <a:r>
              <a:rPr lang="en-US" altLang="zh-TW" sz="2200" dirty="0"/>
              <a:t>√111 are 2, 3, 5, 7. Because 111 is divisible by 3, it follows that </a:t>
            </a:r>
            <a:r>
              <a:rPr lang="en-US" altLang="zh-TW" sz="2200" b="1" dirty="0"/>
              <a:t>111 is not prime</a:t>
            </a:r>
            <a:r>
              <a:rPr lang="en-US" altLang="zh-TW" sz="2200" dirty="0"/>
              <a:t>.</a:t>
            </a:r>
            <a:endParaRPr lang="en-US" altLang="zh-TW" sz="2200" dirty="0">
              <a:solidFill>
                <a:srgbClr val="FF0000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200" dirty="0">
                <a:solidFill>
                  <a:srgbClr val="FF0000"/>
                </a:solidFill>
              </a:rPr>
              <a:t>Exercise 1(f)[p.230]: Determine whether 143 is prime.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200" b="1" u="sng" dirty="0">
                <a:solidFill>
                  <a:srgbClr val="0000FF"/>
                </a:solidFill>
              </a:rPr>
              <a:t>Solution</a:t>
            </a:r>
            <a:r>
              <a:rPr lang="en-US" altLang="zh-TW" sz="2200" b="1" dirty="0">
                <a:solidFill>
                  <a:srgbClr val="0000FF"/>
                </a:solidFill>
              </a:rPr>
              <a:t>: </a:t>
            </a:r>
            <a:r>
              <a:rPr lang="en-US" altLang="zh-TW" sz="2200" dirty="0"/>
              <a:t>The</a:t>
            </a:r>
            <a:r>
              <a:rPr lang="en-US" altLang="zh-TW" sz="2200" b="1" dirty="0"/>
              <a:t> </a:t>
            </a:r>
            <a:r>
              <a:rPr lang="en-US" sz="2200" dirty="0"/>
              <a:t>only primes not exceeding </a:t>
            </a:r>
            <a:r>
              <a:rPr lang="en-US" altLang="zh-TW" sz="2200" dirty="0"/>
              <a:t>√143 are 2, 3, 5, 7,11. Because 143 is divisible by 11, it follows that </a:t>
            </a:r>
            <a:r>
              <a:rPr lang="en-US" altLang="zh-TW" sz="2200" b="1" dirty="0"/>
              <a:t>143 is not prime</a:t>
            </a:r>
            <a:r>
              <a:rPr lang="en-US" altLang="zh-TW" sz="2200" dirty="0"/>
              <a:t>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200" u="sng" dirty="0">
                <a:solidFill>
                  <a:srgbClr val="FF0000"/>
                </a:solidFill>
              </a:rPr>
              <a:t>Extra example</a:t>
            </a:r>
            <a:r>
              <a:rPr lang="en-US" altLang="zh-TW" sz="2200" dirty="0">
                <a:solidFill>
                  <a:srgbClr val="FF0000"/>
                </a:solidFill>
              </a:rPr>
              <a:t>: Test if 139 is prime. </a:t>
            </a:r>
            <a:endParaRPr lang="en-US" altLang="zh-TW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39453" y="585485"/>
            <a:ext cx="7808976" cy="1088136"/>
          </a:xfrm>
        </p:spPr>
        <p:txBody>
          <a:bodyPr>
            <a:normAutofit/>
          </a:bodyPr>
          <a:lstStyle/>
          <a:p>
            <a:r>
              <a:rPr lang="en-US" altLang="zh-TW" sz="4000" b="1" dirty="0">
                <a:latin typeface="+mn-lt"/>
              </a:rPr>
              <a:t>Greatest Common Divisor(gcd)</a:t>
            </a:r>
            <a:endParaRPr lang="en-US" sz="40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3186" y="2045049"/>
            <a:ext cx="859762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800" b="1" u="sng" dirty="0">
                <a:solidFill>
                  <a:srgbClr val="FF0000"/>
                </a:solidFill>
              </a:rPr>
              <a:t>Definition 2</a:t>
            </a:r>
            <a:r>
              <a:rPr lang="en-US" altLang="zh-TW" sz="2800" dirty="0"/>
              <a:t>: Let a and b be integers, not both zero. The </a:t>
            </a:r>
            <a:r>
              <a:rPr lang="en-US" altLang="zh-TW" sz="2800" dirty="0">
                <a:solidFill>
                  <a:srgbClr val="0000FF"/>
                </a:solidFill>
              </a:rPr>
              <a:t>largest integer </a:t>
            </a:r>
            <a:r>
              <a:rPr lang="en-US" altLang="zh-TW" sz="2800" i="1" dirty="0">
                <a:solidFill>
                  <a:srgbClr val="0000FF"/>
                </a:solidFill>
              </a:rPr>
              <a:t>d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/>
              <a:t>such that </a:t>
            </a:r>
            <a:r>
              <a:rPr lang="en-US" altLang="zh-TW" sz="2800" i="1" dirty="0"/>
              <a:t>d </a:t>
            </a:r>
            <a:r>
              <a:rPr lang="en-US" altLang="zh-TW" sz="2800" dirty="0"/>
              <a:t>|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d </a:t>
            </a:r>
            <a:r>
              <a:rPr lang="en-US" altLang="zh-TW" sz="2800" dirty="0"/>
              <a:t>| </a:t>
            </a:r>
            <a:r>
              <a:rPr lang="en-US" altLang="zh-TW" sz="2800" i="1" dirty="0"/>
              <a:t>b</a:t>
            </a:r>
            <a:r>
              <a:rPr lang="en-US" altLang="zh-TW" sz="2800" dirty="0"/>
              <a:t> is called the </a:t>
            </a:r>
            <a:r>
              <a:rPr lang="en-US" altLang="zh-TW" sz="2800" i="1" dirty="0">
                <a:solidFill>
                  <a:srgbClr val="0000FF"/>
                </a:solidFill>
              </a:rPr>
              <a:t>greatest common divisor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/>
              <a:t>of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b</a:t>
            </a:r>
            <a:r>
              <a:rPr lang="en-US" altLang="zh-TW" sz="2800" dirty="0"/>
              <a:t>.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The </a:t>
            </a:r>
            <a:r>
              <a:rPr lang="en-US" altLang="zh-TW" sz="2400" i="1" dirty="0"/>
              <a:t>greatest common divisor</a:t>
            </a:r>
            <a:r>
              <a:rPr lang="en-US" altLang="zh-TW" sz="2400" dirty="0"/>
              <a:t> of </a:t>
            </a:r>
            <a:r>
              <a:rPr lang="en-US" altLang="zh-TW" sz="2400" i="1" dirty="0"/>
              <a:t>a</a:t>
            </a:r>
            <a:r>
              <a:rPr lang="en-US" altLang="zh-TW" sz="2400" dirty="0"/>
              <a:t> and </a:t>
            </a:r>
            <a:r>
              <a:rPr lang="en-US" altLang="zh-TW" sz="2400" i="1" dirty="0"/>
              <a:t>b</a:t>
            </a:r>
            <a:r>
              <a:rPr lang="en-US" altLang="zh-TW" sz="2400" dirty="0"/>
              <a:t> is denoted by </a:t>
            </a:r>
            <a:r>
              <a:rPr lang="en-US" altLang="zh-TW" sz="2400" dirty="0">
                <a:solidFill>
                  <a:srgbClr val="0000FF"/>
                </a:solidFill>
              </a:rPr>
              <a:t>gcd(</a:t>
            </a:r>
            <a:r>
              <a:rPr lang="en-US" altLang="zh-TW" sz="2400" i="1" dirty="0">
                <a:solidFill>
                  <a:srgbClr val="0000FF"/>
                </a:solidFill>
              </a:rPr>
              <a:t>a</a:t>
            </a:r>
            <a:r>
              <a:rPr lang="en-US" altLang="zh-TW" sz="2400" dirty="0">
                <a:solidFill>
                  <a:srgbClr val="0000FF"/>
                </a:solidFill>
              </a:rPr>
              <a:t>, </a:t>
            </a:r>
            <a:r>
              <a:rPr lang="en-US" altLang="zh-TW" sz="2400" i="1" dirty="0">
                <a:solidFill>
                  <a:srgbClr val="0000FF"/>
                </a:solidFill>
              </a:rPr>
              <a:t>b</a:t>
            </a:r>
            <a:r>
              <a:rPr lang="en-US" altLang="zh-TW" sz="2400" dirty="0">
                <a:solidFill>
                  <a:srgbClr val="0000FF"/>
                </a:solidFill>
              </a:rPr>
              <a:t>)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u="sng" dirty="0">
                <a:solidFill>
                  <a:srgbClr val="FF3300"/>
                </a:solidFill>
              </a:rPr>
              <a:t>Example 10 (p.228)</a:t>
            </a:r>
            <a:r>
              <a:rPr lang="en-US" sz="2800" dirty="0">
                <a:solidFill>
                  <a:srgbClr val="FF3300"/>
                </a:solidFill>
              </a:rPr>
              <a:t>: What is the</a:t>
            </a:r>
            <a:r>
              <a:rPr lang="en-US" altLang="zh-TW" sz="2800" dirty="0">
                <a:solidFill>
                  <a:srgbClr val="FF3300"/>
                </a:solidFill>
              </a:rPr>
              <a:t> greatest common divisor of 24 and 36?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u="sng" dirty="0">
                <a:solidFill>
                  <a:srgbClr val="0000FF"/>
                </a:solidFill>
                <a:ea typeface="新細明體" pitchFamily="18" charset="-120"/>
              </a:rPr>
              <a:t>Solution</a:t>
            </a:r>
            <a:r>
              <a:rPr lang="en-US" sz="2800" dirty="0">
                <a:ea typeface="新細明體" pitchFamily="18" charset="-120"/>
              </a:rPr>
              <a:t>: </a:t>
            </a:r>
            <a:r>
              <a:rPr lang="en-US" sz="2800" dirty="0"/>
              <a:t> The positive common divisors of 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24 -</a:t>
            </a:r>
            <a:r>
              <a:rPr lang="en-US" sz="2800"/>
              <a:t>1, 2, 3, 4, 6, 12</a:t>
            </a:r>
            <a:endParaRPr lang="en-US" sz="2800" dirty="0"/>
          </a:p>
          <a:p>
            <a:pPr>
              <a:spcBef>
                <a:spcPts val="600"/>
              </a:spcBef>
            </a:pPr>
            <a:r>
              <a:rPr lang="en-US" sz="2800" dirty="0"/>
              <a:t>and 36 -1, 2, 3, 4, 6, 12, and 18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. Hence </a:t>
            </a:r>
            <a:r>
              <a:rPr lang="en-US" sz="2800" b="1" dirty="0"/>
              <a:t>gcd(24,36) = 12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Relatively Prime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3899" y="2038783"/>
            <a:ext cx="852985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800" u="sng" dirty="0">
                <a:solidFill>
                  <a:srgbClr val="FF0000"/>
                </a:solidFill>
              </a:rPr>
              <a:t>Definition 3</a:t>
            </a:r>
            <a:r>
              <a:rPr lang="en-US" altLang="zh-TW" sz="2800" dirty="0"/>
              <a:t>: The integers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b</a:t>
            </a:r>
            <a:r>
              <a:rPr lang="en-US" altLang="zh-TW" sz="2800" dirty="0"/>
              <a:t> are </a:t>
            </a:r>
            <a:r>
              <a:rPr lang="en-US" altLang="zh-TW" sz="2800" b="1" i="1" dirty="0"/>
              <a:t>relatively</a:t>
            </a:r>
            <a:r>
              <a:rPr lang="en-US" altLang="zh-TW" sz="2800" i="1" dirty="0"/>
              <a:t> </a:t>
            </a:r>
            <a:r>
              <a:rPr lang="en-US" altLang="zh-TW" sz="2800" b="1" i="1" dirty="0"/>
              <a:t>prime</a:t>
            </a:r>
            <a:r>
              <a:rPr lang="en-US" altLang="zh-TW" sz="2800" dirty="0"/>
              <a:t> if their gcd is 1.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Example 11 (p.228): What is the gcd of 17 and 22?</a:t>
            </a:r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800" u="sng" dirty="0">
                <a:solidFill>
                  <a:srgbClr val="0000FF"/>
                </a:solidFill>
              </a:rPr>
              <a:t>Solution</a:t>
            </a:r>
            <a:r>
              <a:rPr lang="en-US" sz="2800" dirty="0">
                <a:solidFill>
                  <a:srgbClr val="C00000"/>
                </a:solidFill>
              </a:rPr>
              <a:t>: </a:t>
            </a:r>
            <a:r>
              <a:rPr lang="en-US" sz="2800" dirty="0"/>
              <a:t>The integers 17 and 22 have no positive common divisors other than 1, so that gcd(17,22) = 1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By Example 11, it follows that the integers </a:t>
            </a:r>
            <a:r>
              <a:rPr lang="en-US" sz="2800" dirty="0">
                <a:solidFill>
                  <a:srgbClr val="0000FF"/>
                </a:solidFill>
              </a:rPr>
              <a:t>17 &amp; 22 are </a:t>
            </a:r>
            <a:r>
              <a:rPr lang="en-US" sz="2800" b="1" dirty="0">
                <a:solidFill>
                  <a:srgbClr val="0000FF"/>
                </a:solidFill>
              </a:rPr>
              <a:t>relatively</a:t>
            </a:r>
            <a:r>
              <a:rPr lang="en-US" sz="2800" dirty="0">
                <a:solidFill>
                  <a:srgbClr val="0000FF"/>
                </a:solidFill>
              </a:rPr>
              <a:t> </a:t>
            </a:r>
            <a:r>
              <a:rPr lang="en-US" sz="2800" b="1" dirty="0">
                <a:solidFill>
                  <a:srgbClr val="0000FF"/>
                </a:solidFill>
              </a:rPr>
              <a:t>prime</a:t>
            </a:r>
            <a:r>
              <a:rPr lang="en-US" sz="2800" dirty="0"/>
              <a:t>, because gcd(17,22) = 1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39453" y="544541"/>
            <a:ext cx="7808976" cy="1088136"/>
          </a:xfrm>
        </p:spPr>
        <p:txBody>
          <a:bodyPr>
            <a:normAutofit/>
          </a:bodyPr>
          <a:lstStyle/>
          <a:p>
            <a:pPr algn="ctr"/>
            <a:r>
              <a:rPr lang="en-US" altLang="zh-TW" sz="4000" b="1" dirty="0">
                <a:latin typeface="+mn-lt"/>
              </a:rPr>
              <a:t>Least Common Multiple(lcm)</a:t>
            </a:r>
            <a:endParaRPr lang="en-US" sz="4000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4733" y="2159108"/>
            <a:ext cx="859762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800" u="sng" dirty="0">
                <a:solidFill>
                  <a:srgbClr val="FF0000"/>
                </a:solidFill>
              </a:rPr>
              <a:t>Definition 5</a:t>
            </a:r>
            <a:r>
              <a:rPr lang="en-US" altLang="zh-TW" sz="2800" dirty="0"/>
              <a:t>: The </a:t>
            </a:r>
            <a:r>
              <a:rPr lang="en-US" altLang="zh-TW" sz="2800" i="1" dirty="0">
                <a:solidFill>
                  <a:srgbClr val="0000FF"/>
                </a:solidFill>
              </a:rPr>
              <a:t>least common multiple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r>
              <a:rPr lang="en-US" altLang="zh-TW" sz="2800" dirty="0"/>
              <a:t>of positive integers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b</a:t>
            </a:r>
            <a:r>
              <a:rPr lang="en-US" altLang="zh-TW" sz="2800" dirty="0"/>
              <a:t> is the </a:t>
            </a:r>
            <a:r>
              <a:rPr lang="en-US" altLang="zh-TW" sz="2800" dirty="0">
                <a:solidFill>
                  <a:srgbClr val="0000FF"/>
                </a:solidFill>
              </a:rPr>
              <a:t>smallest positive integer </a:t>
            </a:r>
            <a:r>
              <a:rPr lang="en-US" altLang="zh-TW" sz="2800" dirty="0"/>
              <a:t>that is divisible by both </a:t>
            </a:r>
            <a:r>
              <a:rPr lang="en-US" altLang="zh-TW" sz="2800" i="1" dirty="0"/>
              <a:t>a</a:t>
            </a:r>
            <a:r>
              <a:rPr lang="en-US" altLang="zh-TW" sz="2800" dirty="0"/>
              <a:t> and </a:t>
            </a:r>
            <a:r>
              <a:rPr lang="en-US" altLang="zh-TW" sz="2800" i="1" dirty="0"/>
              <a:t>b</a:t>
            </a:r>
            <a:r>
              <a:rPr lang="en-US" altLang="zh-TW" sz="2800" dirty="0"/>
              <a:t>. </a:t>
            </a:r>
          </a:p>
          <a:p>
            <a:pPr marL="731520" lvl="2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altLang="zh-TW" sz="2400" dirty="0"/>
              <a:t>The least common multiple of </a:t>
            </a:r>
            <a:r>
              <a:rPr lang="en-US" altLang="zh-TW" sz="2400" i="1" dirty="0"/>
              <a:t>a</a:t>
            </a:r>
            <a:r>
              <a:rPr lang="en-US" altLang="zh-TW" sz="2400" dirty="0"/>
              <a:t> and </a:t>
            </a:r>
            <a:r>
              <a:rPr lang="en-US" altLang="zh-TW" sz="2400" i="1" dirty="0"/>
              <a:t>b</a:t>
            </a:r>
            <a:r>
              <a:rPr lang="en-US" altLang="zh-TW" sz="2400" dirty="0"/>
              <a:t> is denoted by </a:t>
            </a:r>
            <a:r>
              <a:rPr lang="en-US" altLang="zh-TW" sz="2400" b="1" dirty="0">
                <a:solidFill>
                  <a:srgbClr val="0000FF"/>
                </a:solidFill>
              </a:rPr>
              <a:t>lcm(</a:t>
            </a:r>
            <a:r>
              <a:rPr lang="en-US" altLang="zh-TW" sz="2400" b="1" i="1" dirty="0">
                <a:solidFill>
                  <a:srgbClr val="0000FF"/>
                </a:solidFill>
              </a:rPr>
              <a:t>a</a:t>
            </a:r>
            <a:r>
              <a:rPr lang="en-US" altLang="zh-TW" sz="2400" b="1" dirty="0">
                <a:solidFill>
                  <a:srgbClr val="0000FF"/>
                </a:solidFill>
              </a:rPr>
              <a:t>, </a:t>
            </a:r>
            <a:r>
              <a:rPr lang="en-US" altLang="zh-TW" sz="2400" b="1" i="1" dirty="0">
                <a:solidFill>
                  <a:srgbClr val="0000FF"/>
                </a:solidFill>
              </a:rPr>
              <a:t>b</a:t>
            </a:r>
            <a:r>
              <a:rPr lang="en-US" altLang="zh-TW" sz="2400" b="1" dirty="0">
                <a:solidFill>
                  <a:srgbClr val="0000FF"/>
                </a:solidFill>
              </a:rPr>
              <a:t>)</a:t>
            </a:r>
          </a:p>
          <a:p>
            <a:pPr marL="274320" indent="-274320">
              <a:spcBef>
                <a:spcPts val="600"/>
              </a:spcBef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</a:pPr>
            <a:endParaRPr lang="en-US" altLang="zh-TW" sz="2800" dirty="0"/>
          </a:p>
          <a:p>
            <a:pPr marL="274320" indent="-274320">
              <a:spcBef>
                <a:spcPts val="600"/>
              </a:spcBef>
              <a:buFont typeface="Wingdings" pitchFamily="2" charset="2"/>
              <a:buChar char="§"/>
            </a:pPr>
            <a:r>
              <a:rPr lang="en-US" altLang="zh-TW" sz="2800" u="sng" dirty="0">
                <a:solidFill>
                  <a:srgbClr val="FF0000"/>
                </a:solidFill>
              </a:rPr>
              <a:t>Theorem 5</a:t>
            </a:r>
            <a:r>
              <a:rPr lang="en-US" altLang="zh-TW" sz="2800" dirty="0"/>
              <a:t>: </a:t>
            </a:r>
            <a:r>
              <a:rPr lang="en-US" altLang="zh-TW" sz="2800" dirty="0">
                <a:solidFill>
                  <a:srgbClr val="0000FF"/>
                </a:solidFill>
              </a:rPr>
              <a:t>Let </a:t>
            </a:r>
            <a:r>
              <a:rPr lang="en-US" altLang="zh-TW" sz="2800" i="1" dirty="0">
                <a:solidFill>
                  <a:srgbClr val="0000FF"/>
                </a:solidFill>
              </a:rPr>
              <a:t>a</a:t>
            </a:r>
            <a:r>
              <a:rPr lang="en-US" altLang="zh-TW" sz="2800" dirty="0">
                <a:solidFill>
                  <a:srgbClr val="0000FF"/>
                </a:solidFill>
              </a:rPr>
              <a:t> and </a:t>
            </a:r>
            <a:r>
              <a:rPr lang="en-US" altLang="zh-TW" sz="2800" i="1" dirty="0">
                <a:solidFill>
                  <a:srgbClr val="0000FF"/>
                </a:solidFill>
              </a:rPr>
              <a:t>b</a:t>
            </a:r>
            <a:r>
              <a:rPr lang="en-US" altLang="zh-TW" sz="2800" dirty="0">
                <a:solidFill>
                  <a:srgbClr val="0000FF"/>
                </a:solidFill>
              </a:rPr>
              <a:t> be positive integers. Then</a:t>
            </a:r>
            <a:br>
              <a:rPr lang="en-US" altLang="zh-TW" sz="2800" dirty="0">
                <a:solidFill>
                  <a:srgbClr val="0000FF"/>
                </a:solidFill>
              </a:rPr>
            </a:br>
            <a:r>
              <a:rPr lang="en-US" altLang="zh-TW" sz="2800" dirty="0">
                <a:solidFill>
                  <a:srgbClr val="0000FF"/>
                </a:solidFill>
              </a:rPr>
              <a:t>   	</a:t>
            </a:r>
            <a:r>
              <a:rPr lang="en-US" altLang="zh-TW" sz="2800" b="1" i="1" dirty="0" err="1">
                <a:solidFill>
                  <a:srgbClr val="0000FF"/>
                </a:solidFill>
              </a:rPr>
              <a:t>ab</a:t>
            </a:r>
            <a:r>
              <a:rPr lang="en-US" altLang="zh-TW" sz="2800" b="1" dirty="0">
                <a:solidFill>
                  <a:srgbClr val="0000FF"/>
                </a:solidFill>
              </a:rPr>
              <a:t> = gcd(</a:t>
            </a:r>
            <a:r>
              <a:rPr lang="en-US" altLang="zh-TW" sz="2800" b="1" i="1" dirty="0">
                <a:solidFill>
                  <a:srgbClr val="0000FF"/>
                </a:solidFill>
              </a:rPr>
              <a:t>a</a:t>
            </a:r>
            <a:r>
              <a:rPr lang="en-US" altLang="zh-TW" sz="2800" b="1" dirty="0">
                <a:solidFill>
                  <a:srgbClr val="0000FF"/>
                </a:solidFill>
              </a:rPr>
              <a:t>, </a:t>
            </a:r>
            <a:r>
              <a:rPr lang="en-US" altLang="zh-TW" sz="2800" b="1" i="1" dirty="0">
                <a:solidFill>
                  <a:srgbClr val="0000FF"/>
                </a:solidFill>
              </a:rPr>
              <a:t>b</a:t>
            </a:r>
            <a:r>
              <a:rPr lang="en-US" altLang="zh-TW" sz="2800" b="1" dirty="0">
                <a:solidFill>
                  <a:srgbClr val="0000FF"/>
                </a:solidFill>
              </a:rPr>
              <a:t>) . lcm(</a:t>
            </a:r>
            <a:r>
              <a:rPr lang="en-US" altLang="zh-TW" sz="2800" b="1" i="1" dirty="0">
                <a:solidFill>
                  <a:srgbClr val="0000FF"/>
                </a:solidFill>
              </a:rPr>
              <a:t>a</a:t>
            </a:r>
            <a:r>
              <a:rPr lang="en-US" altLang="zh-TW" sz="2800" b="1" dirty="0">
                <a:solidFill>
                  <a:srgbClr val="0000FF"/>
                </a:solidFill>
              </a:rPr>
              <a:t>, </a:t>
            </a:r>
            <a:r>
              <a:rPr lang="en-US" altLang="zh-TW" sz="2800" b="1" i="1" dirty="0">
                <a:solidFill>
                  <a:srgbClr val="0000FF"/>
                </a:solidFill>
              </a:rPr>
              <a:t>b</a:t>
            </a:r>
            <a:r>
              <a:rPr lang="en-US" altLang="zh-TW" sz="2800" b="1" dirty="0">
                <a:solidFill>
                  <a:srgbClr val="0000FF"/>
                </a:solidFill>
              </a:rPr>
              <a:t>) 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12157" y="571837"/>
            <a:ext cx="7808976" cy="1088136"/>
          </a:xfrm>
        </p:spPr>
        <p:txBody>
          <a:bodyPr>
            <a:noAutofit/>
          </a:bodyPr>
          <a:lstStyle/>
          <a:p>
            <a:r>
              <a:rPr lang="en-US" sz="4000" dirty="0">
                <a:latin typeface="+mn-lt"/>
              </a:rPr>
              <a:t>Finding </a:t>
            </a:r>
            <a:r>
              <a:rPr lang="en-US" sz="4000" b="1" dirty="0">
                <a:latin typeface="+mn-lt"/>
              </a:rPr>
              <a:t>gcd</a:t>
            </a:r>
            <a:r>
              <a:rPr lang="en-US" sz="4000" dirty="0">
                <a:latin typeface="+mn-lt"/>
              </a:rPr>
              <a:t> &amp; </a:t>
            </a:r>
            <a:r>
              <a:rPr lang="en-US" sz="4000" b="1" dirty="0">
                <a:latin typeface="+mn-lt"/>
              </a:rPr>
              <a:t>lcm</a:t>
            </a:r>
            <a:r>
              <a:rPr lang="en-US" sz="4000" dirty="0">
                <a:latin typeface="+mn-lt"/>
              </a:rPr>
              <a:t> of two integers</a:t>
            </a:r>
            <a:br>
              <a:rPr lang="en-US" sz="4000" dirty="0">
                <a:latin typeface="+mn-lt"/>
              </a:rPr>
            </a:br>
            <a:r>
              <a:rPr lang="en-US" sz="4000" dirty="0">
                <a:latin typeface="+mn-lt"/>
              </a:rPr>
              <a:t>using </a:t>
            </a:r>
            <a:r>
              <a:rPr lang="en-US" sz="4000" b="1" dirty="0">
                <a:latin typeface="+mn-lt"/>
              </a:rPr>
              <a:t>Prime Factorization</a:t>
            </a:r>
            <a:endParaRPr lang="en-US" sz="4000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2157" y="2075479"/>
            <a:ext cx="8624923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We can find the greatest common divisor (gcd), or least common multiple (lcm) of two integers using the prime factorization of these integers.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/>
              <a:t>Let prime factorization of the integers </a:t>
            </a:r>
            <a:r>
              <a:rPr lang="en-US" sz="2400" i="1" dirty="0"/>
              <a:t>a</a:t>
            </a:r>
            <a:r>
              <a:rPr lang="en-US" sz="2400" dirty="0"/>
              <a:t> and </a:t>
            </a:r>
            <a:r>
              <a:rPr lang="en-US" sz="2400" i="1" dirty="0"/>
              <a:t>b</a:t>
            </a:r>
            <a:r>
              <a:rPr lang="en-US" sz="2400" dirty="0"/>
              <a:t>, neither equal to zero, are  </a:t>
            </a:r>
            <a:r>
              <a:rPr lang="en-US" sz="2400" i="1" dirty="0"/>
              <a:t>a</a:t>
            </a:r>
            <a:r>
              <a:rPr lang="en-US" sz="2400" dirty="0"/>
              <a:t> = </a:t>
            </a:r>
            <a:r>
              <a:rPr lang="en-US" sz="2400" i="1" dirty="0"/>
              <a:t>p</a:t>
            </a:r>
            <a:r>
              <a:rPr lang="en-US" sz="2400" baseline="-25000" dirty="0"/>
              <a:t>1</a:t>
            </a:r>
            <a:r>
              <a:rPr lang="en-US" sz="2400" baseline="30000" dirty="0"/>
              <a:t>a1 </a:t>
            </a:r>
            <a:r>
              <a:rPr lang="en-US" sz="2400" i="1" dirty="0"/>
              <a:t>p</a:t>
            </a:r>
            <a:r>
              <a:rPr lang="en-US" sz="2400" baseline="-25000" dirty="0"/>
              <a:t>2</a:t>
            </a:r>
            <a:r>
              <a:rPr lang="en-US" sz="2400" baseline="30000" dirty="0"/>
              <a:t>a2  </a:t>
            </a:r>
            <a:r>
              <a:rPr lang="en-US" sz="2400" dirty="0"/>
              <a:t>….. </a:t>
            </a:r>
            <a:r>
              <a:rPr lang="en-US" sz="2400" i="1" dirty="0" err="1"/>
              <a:t>p</a:t>
            </a:r>
            <a:r>
              <a:rPr lang="en-US" sz="2400" baseline="-25000" dirty="0" err="1"/>
              <a:t>n</a:t>
            </a:r>
            <a:r>
              <a:rPr lang="en-US" sz="2400" baseline="30000" dirty="0" err="1"/>
              <a:t>a</a:t>
            </a:r>
            <a:r>
              <a:rPr lang="en-US" sz="2400" baseline="30000" dirty="0"/>
              <a:t> </a:t>
            </a:r>
            <a:r>
              <a:rPr lang="en-US" sz="2400" baseline="-10000" dirty="0"/>
              <a:t>n</a:t>
            </a:r>
            <a:r>
              <a:rPr lang="en-US" sz="2400" baseline="30000" dirty="0"/>
              <a:t>  </a:t>
            </a:r>
            <a:r>
              <a:rPr lang="en-US" sz="2400" dirty="0"/>
              <a:t> ,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/>
              <a:t>		        </a:t>
            </a:r>
            <a:r>
              <a:rPr lang="en-US" sz="2400" i="1" dirty="0"/>
              <a:t>b</a:t>
            </a:r>
            <a:r>
              <a:rPr lang="en-US" sz="2400" dirty="0"/>
              <a:t> = </a:t>
            </a:r>
            <a:r>
              <a:rPr lang="en-US" sz="2400" i="1" dirty="0"/>
              <a:t>p</a:t>
            </a:r>
            <a:r>
              <a:rPr lang="en-US" sz="2400" baseline="-25000" dirty="0"/>
              <a:t>1</a:t>
            </a:r>
            <a:r>
              <a:rPr lang="en-US" sz="2400" baseline="30000" dirty="0"/>
              <a:t>b1 </a:t>
            </a:r>
            <a:r>
              <a:rPr lang="en-US" sz="2400" i="1" dirty="0"/>
              <a:t>p</a:t>
            </a:r>
            <a:r>
              <a:rPr lang="en-US" sz="2400" baseline="-25000" dirty="0"/>
              <a:t>2</a:t>
            </a:r>
            <a:r>
              <a:rPr lang="en-US" sz="2400" baseline="30000" dirty="0"/>
              <a:t>b2  </a:t>
            </a:r>
            <a:r>
              <a:rPr lang="en-US" sz="2400" dirty="0"/>
              <a:t>…... </a:t>
            </a:r>
            <a:r>
              <a:rPr lang="en-US" sz="2400" i="1" dirty="0" err="1"/>
              <a:t>p</a:t>
            </a:r>
            <a:r>
              <a:rPr lang="en-US" sz="2400" baseline="-25000" dirty="0" err="1"/>
              <a:t>n</a:t>
            </a:r>
            <a:r>
              <a:rPr lang="en-US" sz="2400" baseline="30000" dirty="0" err="1"/>
              <a:t>b</a:t>
            </a:r>
            <a:r>
              <a:rPr lang="en-US" sz="2400" baseline="30000" dirty="0"/>
              <a:t> </a:t>
            </a:r>
            <a:r>
              <a:rPr lang="en-US" sz="2400" baseline="-10000" dirty="0"/>
              <a:t>n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>
                <a:solidFill>
                  <a:srgbClr val="0000FF"/>
                </a:solidFill>
              </a:rPr>
              <a:t>	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="1" dirty="0">
                <a:solidFill>
                  <a:srgbClr val="0000FF"/>
                </a:solidFill>
              </a:rPr>
              <a:t>	</a:t>
            </a:r>
            <a:r>
              <a:rPr lang="en-US" sz="2400" b="1" dirty="0" err="1">
                <a:solidFill>
                  <a:srgbClr val="FF0000"/>
                </a:solidFill>
              </a:rPr>
              <a:t>gcd</a:t>
            </a:r>
            <a:r>
              <a:rPr lang="en-US" sz="2400" b="1" dirty="0">
                <a:solidFill>
                  <a:srgbClr val="FF0000"/>
                </a:solidFill>
              </a:rPr>
              <a:t>(</a:t>
            </a:r>
            <a:r>
              <a:rPr lang="en-US" sz="2400" b="1" i="1" dirty="0">
                <a:solidFill>
                  <a:srgbClr val="FF0000"/>
                </a:solidFill>
              </a:rPr>
              <a:t>a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i="1" dirty="0">
                <a:solidFill>
                  <a:srgbClr val="FF0000"/>
                </a:solidFill>
              </a:rPr>
              <a:t>b</a:t>
            </a:r>
            <a:r>
              <a:rPr lang="en-US" sz="2400" b="1" dirty="0">
                <a:solidFill>
                  <a:srgbClr val="FF0000"/>
                </a:solidFill>
              </a:rPr>
              <a:t>) = </a:t>
            </a:r>
            <a:r>
              <a:rPr lang="en-US" sz="2400" b="1" i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baseline="30000" dirty="0">
                <a:solidFill>
                  <a:srgbClr val="FF0000"/>
                </a:solidFill>
              </a:rPr>
              <a:t>min(</a:t>
            </a:r>
            <a:r>
              <a:rPr lang="en-US" sz="2400" b="1" i="1" baseline="30000" dirty="0">
                <a:solidFill>
                  <a:srgbClr val="FF0000"/>
                </a:solidFill>
              </a:rPr>
              <a:t>a1, b1</a:t>
            </a:r>
            <a:r>
              <a:rPr lang="en-US" sz="2400" b="1" baseline="30000" dirty="0">
                <a:solidFill>
                  <a:srgbClr val="FF0000"/>
                </a:solidFill>
              </a:rPr>
              <a:t>)   </a:t>
            </a:r>
            <a:r>
              <a:rPr lang="en-US" sz="2400" b="1" i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baseline="30000" dirty="0">
                <a:solidFill>
                  <a:srgbClr val="FF0000"/>
                </a:solidFill>
              </a:rPr>
              <a:t>min(</a:t>
            </a:r>
            <a:r>
              <a:rPr lang="en-US" sz="2400" b="1" i="1" baseline="30000" dirty="0">
                <a:solidFill>
                  <a:srgbClr val="FF0000"/>
                </a:solidFill>
              </a:rPr>
              <a:t>a2, b2</a:t>
            </a:r>
            <a:r>
              <a:rPr lang="en-US" sz="2400" b="1" baseline="30000" dirty="0">
                <a:solidFill>
                  <a:srgbClr val="FF0000"/>
                </a:solidFill>
              </a:rPr>
              <a:t>)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baseline="30000" dirty="0">
                <a:solidFill>
                  <a:srgbClr val="FF0000"/>
                </a:solidFill>
              </a:rPr>
              <a:t>………</a:t>
            </a:r>
            <a:r>
              <a:rPr lang="en-US" sz="2400" b="1" i="1" dirty="0" err="1">
                <a:solidFill>
                  <a:srgbClr val="FF0000"/>
                </a:solidFill>
              </a:rPr>
              <a:t>p</a:t>
            </a:r>
            <a:r>
              <a:rPr lang="en-US" sz="2400" b="1" baseline="-25000" dirty="0" err="1">
                <a:solidFill>
                  <a:srgbClr val="FF0000"/>
                </a:solidFill>
              </a:rPr>
              <a:t>n</a:t>
            </a:r>
            <a:r>
              <a:rPr lang="en-US" sz="2400" b="1" baseline="30000" dirty="0" err="1">
                <a:solidFill>
                  <a:srgbClr val="FF0000"/>
                </a:solidFill>
              </a:rPr>
              <a:t>min</a:t>
            </a:r>
            <a:r>
              <a:rPr lang="en-US" sz="2400" b="1" baseline="30000" dirty="0">
                <a:solidFill>
                  <a:srgbClr val="FF0000"/>
                </a:solidFill>
              </a:rPr>
              <a:t>(</a:t>
            </a:r>
            <a:r>
              <a:rPr lang="en-US" sz="2400" b="1" i="1" baseline="30000" dirty="0">
                <a:solidFill>
                  <a:srgbClr val="FF0000"/>
                </a:solidFill>
              </a:rPr>
              <a:t>a</a:t>
            </a:r>
            <a:r>
              <a:rPr lang="en-US" sz="2400" b="1" i="1" baseline="20000" dirty="0">
                <a:solidFill>
                  <a:srgbClr val="FF0000"/>
                </a:solidFill>
              </a:rPr>
              <a:t>n ,</a:t>
            </a:r>
            <a:r>
              <a:rPr lang="en-US" sz="2400" b="1" i="1" baseline="30000" dirty="0">
                <a:solidFill>
                  <a:srgbClr val="FF0000"/>
                </a:solidFill>
              </a:rPr>
              <a:t> </a:t>
            </a:r>
            <a:r>
              <a:rPr lang="en-US" sz="2400" b="1" i="1" baseline="30000" dirty="0" err="1">
                <a:solidFill>
                  <a:srgbClr val="FF0000"/>
                </a:solidFill>
              </a:rPr>
              <a:t>b</a:t>
            </a:r>
            <a:r>
              <a:rPr lang="en-US" sz="2400" b="1" i="1" baseline="20000" dirty="0" err="1">
                <a:solidFill>
                  <a:srgbClr val="FF0000"/>
                </a:solidFill>
              </a:rPr>
              <a:t>n</a:t>
            </a:r>
            <a:r>
              <a:rPr lang="en-US" sz="2400" b="1" baseline="30000" dirty="0">
                <a:solidFill>
                  <a:srgbClr val="FF0000"/>
                </a:solidFill>
              </a:rPr>
              <a:t>)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400" baseline="20000" dirty="0">
              <a:solidFill>
                <a:srgbClr val="FF0000"/>
              </a:solidFill>
            </a:endParaRPr>
          </a:p>
          <a:p>
            <a:pPr marL="274320" indent="-274320">
              <a:spcBef>
                <a:spcPts val="600"/>
              </a:spcBef>
            </a:pPr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lang="en-US" sz="2400" b="1" dirty="0">
                <a:solidFill>
                  <a:srgbClr val="FF0000"/>
                </a:solidFill>
              </a:rPr>
              <a:t>lcm(</a:t>
            </a:r>
            <a:r>
              <a:rPr lang="en-US" sz="2400" b="1" i="1" dirty="0">
                <a:solidFill>
                  <a:srgbClr val="FF0000"/>
                </a:solidFill>
              </a:rPr>
              <a:t>a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i="1" dirty="0">
                <a:solidFill>
                  <a:srgbClr val="FF0000"/>
                </a:solidFill>
              </a:rPr>
              <a:t>b</a:t>
            </a:r>
            <a:r>
              <a:rPr lang="en-US" sz="2400" b="1" dirty="0">
                <a:solidFill>
                  <a:srgbClr val="FF0000"/>
                </a:solidFill>
              </a:rPr>
              <a:t>) = </a:t>
            </a:r>
            <a:r>
              <a:rPr lang="en-US" sz="2400" b="1" i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1</a:t>
            </a:r>
            <a:r>
              <a:rPr lang="en-US" sz="2400" b="1" baseline="30000" dirty="0">
                <a:solidFill>
                  <a:srgbClr val="FF0000"/>
                </a:solidFill>
              </a:rPr>
              <a:t>max(</a:t>
            </a:r>
            <a:r>
              <a:rPr lang="en-US" sz="2400" b="1" i="1" baseline="30000" dirty="0">
                <a:solidFill>
                  <a:srgbClr val="FF0000"/>
                </a:solidFill>
              </a:rPr>
              <a:t>a1, b1</a:t>
            </a:r>
            <a:r>
              <a:rPr lang="en-US" sz="2400" b="1" baseline="30000" dirty="0">
                <a:solidFill>
                  <a:srgbClr val="FF0000"/>
                </a:solidFill>
              </a:rPr>
              <a:t>)   </a:t>
            </a:r>
            <a:r>
              <a:rPr lang="en-US" sz="2400" b="1" i="1" dirty="0">
                <a:solidFill>
                  <a:srgbClr val="FF0000"/>
                </a:solidFill>
              </a:rPr>
              <a:t>p</a:t>
            </a:r>
            <a:r>
              <a:rPr lang="en-US" sz="2400" b="1" baseline="-25000" dirty="0">
                <a:solidFill>
                  <a:srgbClr val="FF0000"/>
                </a:solidFill>
              </a:rPr>
              <a:t>2</a:t>
            </a:r>
            <a:r>
              <a:rPr lang="en-US" sz="2400" b="1" baseline="30000" dirty="0">
                <a:solidFill>
                  <a:srgbClr val="FF0000"/>
                </a:solidFill>
              </a:rPr>
              <a:t>max(</a:t>
            </a:r>
            <a:r>
              <a:rPr lang="en-US" sz="2400" b="1" i="1" baseline="30000" dirty="0">
                <a:solidFill>
                  <a:srgbClr val="FF0000"/>
                </a:solidFill>
              </a:rPr>
              <a:t>a2, b2</a:t>
            </a:r>
            <a:r>
              <a:rPr lang="en-US" sz="2400" b="1" baseline="30000" dirty="0">
                <a:solidFill>
                  <a:srgbClr val="FF0000"/>
                </a:solidFill>
              </a:rPr>
              <a:t>)       ………</a:t>
            </a:r>
            <a:r>
              <a:rPr lang="en-US" sz="2400" b="1" i="1" dirty="0" err="1">
                <a:solidFill>
                  <a:srgbClr val="FF0000"/>
                </a:solidFill>
              </a:rPr>
              <a:t>p</a:t>
            </a:r>
            <a:r>
              <a:rPr lang="en-US" sz="2400" b="1" baseline="-25000" dirty="0" err="1">
                <a:solidFill>
                  <a:srgbClr val="FF0000"/>
                </a:solidFill>
              </a:rPr>
              <a:t>n</a:t>
            </a:r>
            <a:r>
              <a:rPr lang="en-US" sz="2400" b="1" baseline="30000" dirty="0" err="1">
                <a:solidFill>
                  <a:srgbClr val="FF0000"/>
                </a:solidFill>
              </a:rPr>
              <a:t>max</a:t>
            </a:r>
            <a:r>
              <a:rPr lang="en-US" sz="2400" b="1" baseline="30000" dirty="0">
                <a:solidFill>
                  <a:srgbClr val="FF0000"/>
                </a:solidFill>
              </a:rPr>
              <a:t>(</a:t>
            </a:r>
            <a:r>
              <a:rPr lang="en-US" sz="2400" b="1" i="1" baseline="30000" dirty="0">
                <a:solidFill>
                  <a:srgbClr val="FF0000"/>
                </a:solidFill>
              </a:rPr>
              <a:t>a</a:t>
            </a:r>
            <a:r>
              <a:rPr lang="en-US" sz="2400" b="1" i="1" baseline="20000" dirty="0">
                <a:solidFill>
                  <a:srgbClr val="FF0000"/>
                </a:solidFill>
              </a:rPr>
              <a:t>n ,</a:t>
            </a:r>
            <a:r>
              <a:rPr lang="en-US" sz="2400" b="1" i="1" baseline="30000" dirty="0">
                <a:solidFill>
                  <a:srgbClr val="FF0000"/>
                </a:solidFill>
              </a:rPr>
              <a:t> </a:t>
            </a:r>
            <a:r>
              <a:rPr lang="en-US" sz="2400" b="1" i="1" baseline="30000" dirty="0" err="1">
                <a:solidFill>
                  <a:srgbClr val="FF0000"/>
                </a:solidFill>
              </a:rPr>
              <a:t>b</a:t>
            </a:r>
            <a:r>
              <a:rPr lang="en-US" sz="2400" b="1" i="1" baseline="20000" dirty="0" err="1">
                <a:solidFill>
                  <a:srgbClr val="FF0000"/>
                </a:solidFill>
              </a:rPr>
              <a:t>n</a:t>
            </a:r>
            <a:r>
              <a:rPr lang="en-US" sz="2400" b="1" baseline="30000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Example 14(p. 229)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251" y="1967409"/>
            <a:ext cx="8516203" cy="395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What is the gcd of 120 and 500?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b="1" u="sng" dirty="0">
                <a:solidFill>
                  <a:srgbClr val="0000FF"/>
                </a:solidFill>
              </a:rPr>
              <a:t>Solution</a:t>
            </a:r>
            <a:r>
              <a:rPr lang="en-US" sz="2400" dirty="0"/>
              <a:t>: Because the prime factorization of 120 and 500 are  120 = 2</a:t>
            </a:r>
            <a:r>
              <a:rPr lang="en-US" sz="2400" baseline="30000" dirty="0"/>
              <a:t>3</a:t>
            </a:r>
            <a:r>
              <a:rPr lang="en-US" sz="2400" dirty="0"/>
              <a:t>.3.5 and 500 = 2</a:t>
            </a:r>
            <a:r>
              <a:rPr lang="en-US" sz="2400" baseline="30000" dirty="0"/>
              <a:t>2</a:t>
            </a:r>
            <a:r>
              <a:rPr lang="en-US" sz="2400" dirty="0"/>
              <a:t>.5</a:t>
            </a:r>
            <a:r>
              <a:rPr lang="en-US" sz="2400" baseline="30000" dirty="0"/>
              <a:t>3 </a:t>
            </a:r>
            <a:r>
              <a:rPr lang="en-US" sz="2400" dirty="0"/>
              <a:t> , the greatest common divisor is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aseline="30000" dirty="0"/>
              <a:t>	</a:t>
            </a:r>
            <a:r>
              <a:rPr lang="en-US" sz="2400" dirty="0"/>
              <a:t>gcd(120,500) = 2</a:t>
            </a:r>
            <a:r>
              <a:rPr lang="en-US" sz="2400" baseline="30000" dirty="0"/>
              <a:t>min(3,2) </a:t>
            </a:r>
            <a:r>
              <a:rPr lang="en-US" sz="2400" dirty="0"/>
              <a:t> 3</a:t>
            </a:r>
            <a:r>
              <a:rPr lang="en-US" sz="2400" baseline="30000" dirty="0"/>
              <a:t>min(1,0)</a:t>
            </a:r>
            <a:r>
              <a:rPr lang="en-US" sz="2400" dirty="0"/>
              <a:t> 5</a:t>
            </a:r>
            <a:r>
              <a:rPr lang="en-US" sz="2400" baseline="30000" dirty="0"/>
              <a:t>min(1,3)    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aseline="30000" dirty="0"/>
              <a:t>		</a:t>
            </a:r>
            <a:r>
              <a:rPr lang="en-US" sz="2400" dirty="0"/>
              <a:t>	   = 2</a:t>
            </a:r>
            <a:r>
              <a:rPr lang="en-US" sz="2400" baseline="30000" dirty="0"/>
              <a:t>2 </a:t>
            </a:r>
            <a:r>
              <a:rPr lang="en-US" sz="2400" dirty="0"/>
              <a:t> 3</a:t>
            </a:r>
            <a:r>
              <a:rPr lang="en-US" sz="2400" baseline="30000" dirty="0"/>
              <a:t>0</a:t>
            </a:r>
            <a:r>
              <a:rPr lang="en-US" sz="2400" dirty="0"/>
              <a:t> 5</a:t>
            </a:r>
            <a:r>
              <a:rPr lang="en-US" sz="2400" baseline="30000" dirty="0"/>
              <a:t>1   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baseline="30000" dirty="0"/>
              <a:t>			   </a:t>
            </a:r>
            <a:r>
              <a:rPr lang="en-US" sz="2400" dirty="0"/>
              <a:t>= 20</a:t>
            </a:r>
            <a:r>
              <a:rPr lang="en-US" sz="2400" baseline="30000" dirty="0"/>
              <a:t>  </a:t>
            </a:r>
          </a:p>
          <a:p>
            <a:pPr marL="274320" indent="-274320">
              <a:spcBef>
                <a:spcPts val="600"/>
              </a:spcBef>
            </a:pPr>
            <a:r>
              <a:rPr lang="en-US" sz="2400" dirty="0"/>
              <a:t>			</a:t>
            </a:r>
            <a:r>
              <a:rPr lang="en-US" sz="2400" dirty="0">
                <a:solidFill>
                  <a:srgbClr val="0000FF"/>
                </a:solidFill>
              </a:rPr>
              <a:t>[Note: 500 = 2</a:t>
            </a:r>
            <a:r>
              <a:rPr lang="en-US" sz="2400" baseline="30000" dirty="0">
                <a:solidFill>
                  <a:srgbClr val="0000FF"/>
                </a:solidFill>
              </a:rPr>
              <a:t>2</a:t>
            </a:r>
            <a:r>
              <a:rPr lang="en-US" sz="2400" dirty="0">
                <a:solidFill>
                  <a:srgbClr val="0000FF"/>
                </a:solidFill>
              </a:rPr>
              <a:t>. 3</a:t>
            </a:r>
            <a:r>
              <a:rPr lang="en-US" sz="2400" baseline="30000" dirty="0">
                <a:solidFill>
                  <a:srgbClr val="0000FF"/>
                </a:solidFill>
              </a:rPr>
              <a:t>0</a:t>
            </a:r>
            <a:r>
              <a:rPr lang="en-US" sz="2400" dirty="0">
                <a:solidFill>
                  <a:srgbClr val="0000FF"/>
                </a:solidFill>
              </a:rPr>
              <a:t>.5</a:t>
            </a:r>
            <a:r>
              <a:rPr lang="en-US" sz="2400" baseline="30000" dirty="0">
                <a:solidFill>
                  <a:srgbClr val="0000FF"/>
                </a:solidFill>
              </a:rPr>
              <a:t>3 </a:t>
            </a:r>
            <a:r>
              <a:rPr lang="en-US" sz="2400" dirty="0">
                <a:solidFill>
                  <a:srgbClr val="0000FF"/>
                </a:solidFill>
              </a:rPr>
              <a:t>]</a:t>
            </a:r>
          </a:p>
          <a:p>
            <a:pPr marL="274320" indent="-274320">
              <a:spcBef>
                <a:spcPts val="600"/>
              </a:spcBef>
            </a:pPr>
            <a:endParaRPr lang="en-US" sz="2400" dirty="0">
              <a:solidFill>
                <a:srgbClr val="0000FF"/>
              </a:solidFill>
            </a:endParaRPr>
          </a:p>
          <a:p>
            <a:pPr marL="274320" indent="-274320">
              <a:spcBef>
                <a:spcPts val="600"/>
              </a:spcBef>
            </a:pPr>
            <a:endParaRPr lang="en-US" sz="24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Class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5805" y="2271740"/>
            <a:ext cx="8515739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 Find the </a:t>
            </a:r>
            <a:r>
              <a:rPr lang="en-US" sz="2800" b="1" dirty="0">
                <a:solidFill>
                  <a:srgbClr val="FF0000"/>
                </a:solidFill>
              </a:rPr>
              <a:t>lcm(120,500)</a:t>
            </a:r>
            <a:r>
              <a:rPr lang="en-US" sz="2800" dirty="0">
                <a:solidFill>
                  <a:srgbClr val="FF0000"/>
                </a:solidFill>
              </a:rPr>
              <a:t>, and then prove the theorem 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>
                <a:solidFill>
                  <a:srgbClr val="FF0000"/>
                </a:solidFill>
              </a:rPr>
              <a:t>	</a:t>
            </a:r>
            <a:r>
              <a:rPr lang="en-US" altLang="zh-TW" sz="2800" i="1" dirty="0" err="1">
                <a:solidFill>
                  <a:srgbClr val="FF0000"/>
                </a:solidFill>
              </a:rPr>
              <a:t>ab</a:t>
            </a:r>
            <a:r>
              <a:rPr lang="en-US" altLang="zh-TW" sz="2800" dirty="0">
                <a:solidFill>
                  <a:srgbClr val="FF0000"/>
                </a:solidFill>
              </a:rPr>
              <a:t> = gcd(</a:t>
            </a:r>
            <a:r>
              <a:rPr lang="en-US" altLang="zh-TW" sz="2800" i="1" dirty="0">
                <a:solidFill>
                  <a:srgbClr val="FF0000"/>
                </a:solidFill>
              </a:rPr>
              <a:t>a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i="1" dirty="0">
                <a:solidFill>
                  <a:srgbClr val="FF0000"/>
                </a:solidFill>
              </a:rPr>
              <a:t>b</a:t>
            </a:r>
            <a:r>
              <a:rPr lang="en-US" altLang="zh-TW" sz="2800" dirty="0">
                <a:solidFill>
                  <a:srgbClr val="FF0000"/>
                </a:solidFill>
              </a:rPr>
              <a:t>) . lcm(</a:t>
            </a:r>
            <a:r>
              <a:rPr lang="en-US" altLang="zh-TW" sz="2800" i="1" dirty="0">
                <a:solidFill>
                  <a:srgbClr val="FF0000"/>
                </a:solidFill>
              </a:rPr>
              <a:t>a</a:t>
            </a:r>
            <a:r>
              <a:rPr lang="en-US" altLang="zh-TW" sz="2800" dirty="0">
                <a:solidFill>
                  <a:srgbClr val="FF0000"/>
                </a:solidFill>
              </a:rPr>
              <a:t>, </a:t>
            </a:r>
            <a:r>
              <a:rPr lang="en-US" altLang="zh-TW" sz="2800" i="1" dirty="0">
                <a:solidFill>
                  <a:srgbClr val="FF0000"/>
                </a:solidFill>
              </a:rPr>
              <a:t>b</a:t>
            </a:r>
            <a:r>
              <a:rPr lang="en-US" altLang="zh-TW" sz="2800" dirty="0">
                <a:solidFill>
                  <a:srgbClr val="FF0000"/>
                </a:solidFill>
              </a:rPr>
              <a:t>) , where </a:t>
            </a:r>
            <a:r>
              <a:rPr lang="en-US" altLang="zh-TW" sz="2800" i="1" dirty="0">
                <a:solidFill>
                  <a:srgbClr val="FF0000"/>
                </a:solidFill>
              </a:rPr>
              <a:t>a</a:t>
            </a:r>
            <a:r>
              <a:rPr lang="en-US" altLang="zh-TW" sz="2800" dirty="0">
                <a:solidFill>
                  <a:srgbClr val="FF0000"/>
                </a:solidFill>
              </a:rPr>
              <a:t> =120, and </a:t>
            </a:r>
            <a:r>
              <a:rPr lang="en-US" altLang="zh-TW" sz="2800" i="1" dirty="0">
                <a:solidFill>
                  <a:srgbClr val="FF0000"/>
                </a:solidFill>
              </a:rPr>
              <a:t>b</a:t>
            </a:r>
            <a:r>
              <a:rPr lang="en-US" altLang="zh-TW" sz="2800" dirty="0">
                <a:solidFill>
                  <a:srgbClr val="FF0000"/>
                </a:solidFill>
              </a:rPr>
              <a:t> = 500.</a:t>
            </a:r>
          </a:p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endParaRPr lang="en-US" altLang="zh-TW" sz="2800" dirty="0">
              <a:solidFill>
                <a:srgbClr val="FF0000"/>
              </a:solidFill>
            </a:endParaRPr>
          </a:p>
          <a:p>
            <a:pPr marL="514350" indent="-514350">
              <a:spcBef>
                <a:spcPts val="600"/>
              </a:spcBef>
              <a:buFont typeface="+mj-lt"/>
              <a:buAutoNum type="arabicPeriod"/>
            </a:pPr>
            <a:endParaRPr lang="en-US" altLang="zh-TW" sz="2800" dirty="0">
              <a:solidFill>
                <a:srgbClr val="FF0000"/>
              </a:solidFill>
            </a:endParaRPr>
          </a:p>
          <a:p>
            <a:pPr marL="514350" indent="-514350">
              <a:spcBef>
                <a:spcPts val="6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2. Find the gcd and lcm of 200 and 700 using prime </a:t>
            </a:r>
          </a:p>
          <a:p>
            <a:pPr marL="514350" indent="-514350">
              <a:spcBef>
                <a:spcPts val="6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     factorization.  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Example 15(p. 230)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157" y="2142745"/>
            <a:ext cx="8515739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What is the least common multiple(lcm) of 2</a:t>
            </a:r>
            <a:r>
              <a:rPr lang="en-US" sz="2800" baseline="30000" dirty="0">
                <a:solidFill>
                  <a:srgbClr val="FF0000"/>
                </a:solidFill>
              </a:rPr>
              <a:t>3</a:t>
            </a:r>
            <a:r>
              <a:rPr lang="en-US" sz="2800" dirty="0">
                <a:solidFill>
                  <a:srgbClr val="FF0000"/>
                </a:solidFill>
              </a:rPr>
              <a:t>3</a:t>
            </a:r>
            <a:r>
              <a:rPr lang="en-US" sz="2800" baseline="30000" dirty="0">
                <a:solidFill>
                  <a:srgbClr val="FF0000"/>
                </a:solidFill>
              </a:rPr>
              <a:t>5</a:t>
            </a:r>
            <a:r>
              <a:rPr lang="en-US" sz="2800" dirty="0">
                <a:solidFill>
                  <a:srgbClr val="FF0000"/>
                </a:solidFill>
              </a:rPr>
              <a:t>7</a:t>
            </a:r>
            <a:r>
              <a:rPr lang="en-US" sz="2800" baseline="30000" dirty="0">
                <a:solidFill>
                  <a:srgbClr val="FF0000"/>
                </a:solidFill>
              </a:rPr>
              <a:t>2</a:t>
            </a:r>
            <a:r>
              <a:rPr lang="en-US" sz="2800" dirty="0">
                <a:solidFill>
                  <a:srgbClr val="FF0000"/>
                </a:solidFill>
              </a:rPr>
              <a:t> and 2</a:t>
            </a:r>
            <a:r>
              <a:rPr lang="en-US" sz="2800" baseline="30000" dirty="0">
                <a:solidFill>
                  <a:srgbClr val="FF0000"/>
                </a:solidFill>
              </a:rPr>
              <a:t>4</a:t>
            </a:r>
            <a:r>
              <a:rPr lang="en-US" sz="2800" dirty="0">
                <a:solidFill>
                  <a:srgbClr val="FF0000"/>
                </a:solidFill>
              </a:rPr>
              <a:t>3</a:t>
            </a:r>
            <a:r>
              <a:rPr lang="en-US" sz="2800" baseline="30000" dirty="0">
                <a:solidFill>
                  <a:srgbClr val="FF0000"/>
                </a:solidFill>
              </a:rPr>
              <a:t>3</a:t>
            </a:r>
            <a:r>
              <a:rPr lang="en-US" sz="2800" dirty="0">
                <a:solidFill>
                  <a:srgbClr val="FF0000"/>
                </a:solidFill>
              </a:rPr>
              <a:t>?</a:t>
            </a: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endParaRPr lang="en-US" sz="2800" dirty="0">
              <a:solidFill>
                <a:srgbClr val="FF0000"/>
              </a:solidFill>
            </a:endParaRPr>
          </a:p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dirty="0"/>
              <a:t> </a:t>
            </a:r>
            <a:r>
              <a:rPr lang="en-US" sz="2800" b="1" u="sng" dirty="0">
                <a:solidFill>
                  <a:srgbClr val="0000FF"/>
                </a:solidFill>
              </a:rPr>
              <a:t>Solution</a:t>
            </a:r>
            <a:r>
              <a:rPr lang="en-US" sz="2800" dirty="0"/>
              <a:t>: 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/>
              <a:t>	lcm (2</a:t>
            </a:r>
            <a:r>
              <a:rPr lang="en-US" sz="2800" baseline="30000" dirty="0"/>
              <a:t>3</a:t>
            </a:r>
            <a:r>
              <a:rPr lang="en-US" sz="2800" dirty="0"/>
              <a:t>3</a:t>
            </a:r>
            <a:r>
              <a:rPr lang="en-US" sz="2800" baseline="30000" dirty="0"/>
              <a:t>5</a:t>
            </a:r>
            <a:r>
              <a:rPr lang="en-US" sz="2800" dirty="0"/>
              <a:t>7</a:t>
            </a:r>
            <a:r>
              <a:rPr lang="en-US" sz="2800" baseline="30000" dirty="0"/>
              <a:t>2</a:t>
            </a:r>
            <a:r>
              <a:rPr lang="en-US" sz="2800" dirty="0"/>
              <a:t> , 2</a:t>
            </a:r>
            <a:r>
              <a:rPr lang="en-US" sz="2800" baseline="30000" dirty="0"/>
              <a:t>4</a:t>
            </a:r>
            <a:r>
              <a:rPr lang="en-US" sz="2800" dirty="0"/>
              <a:t>3</a:t>
            </a:r>
            <a:r>
              <a:rPr lang="en-US" sz="2800" baseline="30000" dirty="0"/>
              <a:t>3)</a:t>
            </a:r>
            <a:r>
              <a:rPr lang="en-US" sz="2800" dirty="0"/>
              <a:t> = 2</a:t>
            </a:r>
            <a:r>
              <a:rPr lang="en-US" sz="2800" baseline="30000" dirty="0"/>
              <a:t>max(3,4)</a:t>
            </a:r>
            <a:r>
              <a:rPr lang="en-US" sz="2800" dirty="0"/>
              <a:t>3</a:t>
            </a:r>
            <a:r>
              <a:rPr lang="en-US" sz="2800" baseline="30000" dirty="0"/>
              <a:t>max(5,3)</a:t>
            </a:r>
            <a:r>
              <a:rPr lang="en-US" sz="2800" dirty="0"/>
              <a:t>7</a:t>
            </a:r>
            <a:r>
              <a:rPr lang="en-US" sz="2800" baseline="30000" dirty="0"/>
              <a:t>max(2,0)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/>
              <a:t>				  = 2</a:t>
            </a:r>
            <a:r>
              <a:rPr lang="en-US" sz="2800" baseline="30000" dirty="0"/>
              <a:t>4</a:t>
            </a:r>
            <a:r>
              <a:rPr lang="en-US" sz="2800" dirty="0"/>
              <a:t>3</a:t>
            </a:r>
            <a:r>
              <a:rPr lang="en-US" sz="2800" baseline="30000" dirty="0"/>
              <a:t>5</a:t>
            </a:r>
            <a:r>
              <a:rPr lang="en-US" sz="2800" dirty="0"/>
              <a:t>7</a:t>
            </a:r>
            <a:r>
              <a:rPr lang="en-US" sz="2800" baseline="30000" dirty="0"/>
              <a:t>2 </a:t>
            </a:r>
          </a:p>
          <a:p>
            <a:pPr marL="274320" indent="-274320">
              <a:spcBef>
                <a:spcPts val="600"/>
              </a:spcBef>
            </a:pPr>
            <a:r>
              <a:rPr lang="en-US" sz="2800" dirty="0">
                <a:solidFill>
                  <a:srgbClr val="0000FF"/>
                </a:solidFill>
              </a:rPr>
              <a:t>				</a:t>
            </a:r>
            <a:r>
              <a:rPr lang="en-US" sz="2800" b="1" dirty="0">
                <a:solidFill>
                  <a:srgbClr val="FF0000"/>
                </a:solidFill>
              </a:rPr>
              <a:t>[Note: 7</a:t>
            </a:r>
            <a:r>
              <a:rPr lang="en-US" sz="2800" b="1" baseline="30000" dirty="0">
                <a:solidFill>
                  <a:srgbClr val="FF0000"/>
                </a:solidFill>
              </a:rPr>
              <a:t>0 </a:t>
            </a:r>
            <a:r>
              <a:rPr lang="en-US" sz="2800" b="1" dirty="0">
                <a:solidFill>
                  <a:srgbClr val="FF0000"/>
                </a:solidFill>
              </a:rPr>
              <a:t>= 1]</a:t>
            </a:r>
            <a:endParaRPr lang="en-US" sz="2800" baseline="30000" dirty="0"/>
          </a:p>
          <a:p>
            <a:pPr marL="274320" indent="-274320">
              <a:spcBef>
                <a:spcPts val="600"/>
              </a:spcBef>
            </a:pPr>
            <a:r>
              <a:rPr lang="en-US" sz="2800" dirty="0"/>
              <a:t>			 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+mn-lt"/>
              </a:rPr>
              <a:t>Practice @ Home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93789" y="2828836"/>
            <a:ext cx="88864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Relevant odd-numbered Exercises </a:t>
            </a:r>
            <a:r>
              <a:rPr lang="en-US" sz="2800" dirty="0">
                <a:solidFill>
                  <a:srgbClr val="FF0000"/>
                </a:solidFill>
              </a:rPr>
              <a:t>from your text book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61732" y="1802837"/>
            <a:ext cx="8064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400" i="1" dirty="0"/>
              <a:t>Discrete Mathematics and its applications with </a:t>
            </a:r>
            <a:r>
              <a:rPr lang="en-US" sz="2400" i="1" dirty="0" err="1"/>
              <a:t>combinatorics</a:t>
            </a:r>
            <a:r>
              <a:rPr lang="en-US" sz="2400" i="1" dirty="0"/>
              <a:t> and graph theory (7</a:t>
            </a:r>
            <a:r>
              <a:rPr lang="en-US" sz="2400" i="1" baseline="30000" dirty="0"/>
              <a:t>th</a:t>
            </a:r>
            <a:r>
              <a:rPr lang="en-US" sz="2400" i="1" dirty="0"/>
              <a:t> edition) </a:t>
            </a:r>
            <a:r>
              <a:rPr lang="en-US" sz="2400" dirty="0"/>
              <a:t>by Kenneth H. Rosen [Indian Adaptation by KAMALA KRITHIVASAN], published by McGraw-Hill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432072" y="1800664"/>
            <a:ext cx="81773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Mathematics, </a:t>
            </a:r>
            <a:r>
              <a:rPr lang="en-US" sz="2000" i="1" dirty="0"/>
              <a:t>Richard</a:t>
            </a:r>
            <a:r>
              <a:rPr lang="en-US" sz="2000" dirty="0"/>
              <a:t> </a:t>
            </a:r>
            <a:r>
              <a:rPr lang="en-US" sz="2000" i="1" dirty="0" err="1"/>
              <a:t>Johnsonbaugh</a:t>
            </a:r>
            <a:r>
              <a:rPr lang="en-US" sz="2000" dirty="0"/>
              <a:t>, Pearson education,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Discrete Mathematical Structures, </a:t>
            </a:r>
            <a:r>
              <a:rPr lang="en-US" sz="2000" i="1" dirty="0"/>
              <a:t>Bernard</a:t>
            </a:r>
            <a:r>
              <a:rPr lang="en-US" sz="2000" dirty="0"/>
              <a:t> </a:t>
            </a:r>
            <a:r>
              <a:rPr lang="en-US" sz="2000" i="1" dirty="0" err="1"/>
              <a:t>Kolman</a:t>
            </a:r>
            <a:r>
              <a:rPr lang="en-US" sz="2000" dirty="0"/>
              <a:t>, </a:t>
            </a:r>
            <a:r>
              <a:rPr lang="en-US" sz="2000" i="1" dirty="0"/>
              <a:t>Robert C. Busby</a:t>
            </a:r>
            <a:r>
              <a:rPr lang="en-US" sz="2000" dirty="0"/>
              <a:t>, </a:t>
            </a:r>
            <a:r>
              <a:rPr lang="en-US" sz="2000" i="1" dirty="0"/>
              <a:t>Sharon</a:t>
            </a:r>
            <a:r>
              <a:rPr lang="en-US" sz="2000" dirty="0"/>
              <a:t> </a:t>
            </a:r>
            <a:r>
              <a:rPr lang="en-US" sz="2000" i="1" dirty="0"/>
              <a:t>Ross, </a:t>
            </a:r>
            <a:r>
              <a:rPr lang="en-US" sz="2000" dirty="0"/>
              <a:t>Prentice-Hall, Inc.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i="1" dirty="0"/>
              <a:t>SCHAUM’S  outlines Discrete Mathematics(2</a:t>
            </a:r>
            <a:r>
              <a:rPr lang="en-US" sz="2000" i="1" baseline="30000" dirty="0"/>
              <a:t>nd</a:t>
            </a:r>
            <a:r>
              <a:rPr lang="en-US" sz="2000" i="1" dirty="0"/>
              <a:t> edition)</a:t>
            </a:r>
            <a:r>
              <a:rPr lang="en-US" sz="2000" dirty="0"/>
              <a:t>, by </a:t>
            </a:r>
            <a:r>
              <a:rPr lang="en-US" sz="2000" i="1" dirty="0"/>
              <a:t>Seymour</a:t>
            </a:r>
            <a:r>
              <a:rPr lang="en-US" sz="2000" dirty="0"/>
              <a:t> </a:t>
            </a:r>
            <a:r>
              <a:rPr lang="en-US" sz="2000" i="1" dirty="0" err="1"/>
              <a:t>Lipschutz</a:t>
            </a:r>
            <a:r>
              <a:rPr lang="en-US" sz="2000" dirty="0"/>
              <a:t>, </a:t>
            </a:r>
            <a:r>
              <a:rPr lang="en-US" sz="2000" i="1" dirty="0"/>
              <a:t>Marc</a:t>
            </a:r>
            <a:r>
              <a:rPr lang="en-US" sz="2000" dirty="0"/>
              <a:t> </a:t>
            </a:r>
            <a:r>
              <a:rPr lang="en-US" sz="2000" i="1" dirty="0"/>
              <a:t>Lipson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2550</TotalTime>
  <Words>1338</Words>
  <Application>Microsoft Office PowerPoint</Application>
  <PresentationFormat>On-screen Show (4:3)</PresentationFormat>
  <Paragraphs>129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Corbel</vt:lpstr>
      <vt:lpstr>Wingdings</vt:lpstr>
      <vt:lpstr>Spectrum</vt:lpstr>
      <vt:lpstr>Primes and Greatest Common Divisors </vt:lpstr>
      <vt:lpstr>Lecture Outline</vt:lpstr>
      <vt:lpstr>Objectives and Outcomes</vt:lpstr>
      <vt:lpstr>Primes and Composite Numbers</vt:lpstr>
      <vt:lpstr>Example 1 (p. 223)</vt:lpstr>
      <vt:lpstr>Fundamental Theorem of Arithmetic</vt:lpstr>
      <vt:lpstr>Determining whether a given  integer is Prime or Composite</vt:lpstr>
      <vt:lpstr>Determining whether a given  integer is Prime or Composite</vt:lpstr>
      <vt:lpstr>Greatest Common Divisor(gcd)</vt:lpstr>
      <vt:lpstr>Relatively Prime</vt:lpstr>
      <vt:lpstr>Least Common Multiple(lcm)</vt:lpstr>
      <vt:lpstr>Finding gcd &amp; lcm of two integers using Prime Factorization</vt:lpstr>
      <vt:lpstr>Example 14(p. 229)</vt:lpstr>
      <vt:lpstr>Class Work</vt:lpstr>
      <vt:lpstr>Example 15(p. 230)</vt:lpstr>
      <vt:lpstr>Practice @ Home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shohagkoly@yahoo.com</cp:lastModifiedBy>
  <cp:revision>71</cp:revision>
  <dcterms:created xsi:type="dcterms:W3CDTF">2018-12-10T17:20:29Z</dcterms:created>
  <dcterms:modified xsi:type="dcterms:W3CDTF">2020-08-03T02:30:50Z</dcterms:modified>
</cp:coreProperties>
</file>