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65" r:id="rId28"/>
    <p:sldId id="264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43" autoAdjust="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C7C9EFF5-F64D-4C36-9137-54F27D8F7F17}"/>
    <pc:docChg chg="undo custSel modSld">
      <pc:chgData name="Dr. Md Mehedi Hasan" userId="5eb39d97-deb0-466a-af4c-298e34812974" providerId="ADAL" clId="{C7C9EFF5-F64D-4C36-9137-54F27D8F7F17}" dt="2022-07-04T04:12:53.478" v="109" actId="14100"/>
      <pc:docMkLst>
        <pc:docMk/>
      </pc:docMkLst>
      <pc:sldChg chg="modSp mod">
        <pc:chgData name="Dr. Md Mehedi Hasan" userId="5eb39d97-deb0-466a-af4c-298e34812974" providerId="ADAL" clId="{C7C9EFF5-F64D-4C36-9137-54F27D8F7F17}" dt="2022-07-04T04:08:28.026" v="82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C7C9EFF5-F64D-4C36-9137-54F27D8F7F17}" dt="2022-07-04T04:08:28.026" v="82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addSp delSp modSp mod modClrScheme chgLayout">
        <pc:chgData name="Dr. Md Mehedi Hasan" userId="5eb39d97-deb0-466a-af4c-298e34812974" providerId="ADAL" clId="{C7C9EFF5-F64D-4C36-9137-54F27D8F7F17}" dt="2022-07-04T04:10:20.031" v="94" actId="403"/>
        <pc:sldMkLst>
          <pc:docMk/>
          <pc:sldMk cId="3478489774" sldId="275"/>
        </pc:sldMkLst>
        <pc:spChg chg="del mod ord">
          <ac:chgData name="Dr. Md Mehedi Hasan" userId="5eb39d97-deb0-466a-af4c-298e34812974" providerId="ADAL" clId="{C7C9EFF5-F64D-4C36-9137-54F27D8F7F17}" dt="2022-07-04T04:09:58.282" v="85" actId="478"/>
          <ac:spMkLst>
            <pc:docMk/>
            <pc:sldMk cId="3478489774" sldId="275"/>
            <ac:spMk id="2" creationId="{00000000-0000-0000-0000-000000000000}"/>
          </ac:spMkLst>
        </pc:spChg>
        <pc:spChg chg="add mod">
          <ac:chgData name="Dr. Md Mehedi Hasan" userId="5eb39d97-deb0-466a-af4c-298e34812974" providerId="ADAL" clId="{C7C9EFF5-F64D-4C36-9137-54F27D8F7F17}" dt="2022-07-04T04:10:20.031" v="94" actId="403"/>
          <ac:spMkLst>
            <pc:docMk/>
            <pc:sldMk cId="3478489774" sldId="275"/>
            <ac:spMk id="5" creationId="{8754E002-EF18-F941-EAE1-AB4A2D26CDFC}"/>
          </ac:spMkLst>
        </pc:spChg>
      </pc:sldChg>
      <pc:sldChg chg="addSp delSp modSp mod">
        <pc:chgData name="Dr. Md Mehedi Hasan" userId="5eb39d97-deb0-466a-af4c-298e34812974" providerId="ADAL" clId="{C7C9EFF5-F64D-4C36-9137-54F27D8F7F17}" dt="2022-07-04T04:12:53.478" v="109" actId="14100"/>
        <pc:sldMkLst>
          <pc:docMk/>
          <pc:sldMk cId="4147253847" sldId="286"/>
        </pc:sldMkLst>
        <pc:spChg chg="add mod">
          <ac:chgData name="Dr. Md Mehedi Hasan" userId="5eb39d97-deb0-466a-af4c-298e34812974" providerId="ADAL" clId="{C7C9EFF5-F64D-4C36-9137-54F27D8F7F17}" dt="2022-07-04T04:12:53.478" v="109" actId="14100"/>
          <ac:spMkLst>
            <pc:docMk/>
            <pc:sldMk cId="4147253847" sldId="286"/>
            <ac:spMk id="8" creationId="{47183BC8-5CC4-58C4-91E3-24A363FC4DB6}"/>
          </ac:spMkLst>
        </pc:spChg>
        <pc:spChg chg="del mod">
          <ac:chgData name="Dr. Md Mehedi Hasan" userId="5eb39d97-deb0-466a-af4c-298e34812974" providerId="ADAL" clId="{C7C9EFF5-F64D-4C36-9137-54F27D8F7F17}" dt="2022-07-04T04:12:34.929" v="104" actId="478"/>
          <ac:spMkLst>
            <pc:docMk/>
            <pc:sldMk cId="4147253847" sldId="286"/>
            <ac:spMk id="13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1508066A-66FF-4978-AF9C-08EF6C0E60CA}"/>
    <pc:docChg chg="modSld">
      <pc:chgData name="Dr. Md Mehedi Hasan" userId="5eb39d97-deb0-466a-af4c-298e34812974" providerId="ADAL" clId="{1508066A-66FF-4978-AF9C-08EF6C0E60CA}" dt="2022-07-05T08:37:05.792" v="1" actId="20577"/>
      <pc:docMkLst>
        <pc:docMk/>
      </pc:docMkLst>
      <pc:sldChg chg="modSp mod">
        <pc:chgData name="Dr. Md Mehedi Hasan" userId="5eb39d97-deb0-466a-af4c-298e34812974" providerId="ADAL" clId="{1508066A-66FF-4978-AF9C-08EF6C0E60CA}" dt="2022-07-05T08:37:05.792" v="1" actId="20577"/>
        <pc:sldMkLst>
          <pc:docMk/>
          <pc:sldMk cId="3478489774" sldId="275"/>
        </pc:sldMkLst>
        <pc:graphicFrameChg chg="modGraphic">
          <ac:chgData name="Dr. Md Mehedi Hasan" userId="5eb39d97-deb0-466a-af4c-298e34812974" providerId="ADAL" clId="{1508066A-66FF-4978-AF9C-08EF6C0E60CA}" dt="2022-07-05T08:37:05.792" v="1" actId="20577"/>
          <ac:graphicFrameMkLst>
            <pc:docMk/>
            <pc:sldMk cId="3478489774" sldId="275"/>
            <ac:graphicFrameMk id="4" creationId="{00000000-0000-0000-0000-000000000000}"/>
          </ac:graphicFrameMkLst>
        </pc:graphicFrameChg>
      </pc:sldChg>
    </pc:docChg>
  </pc:docChgLst>
  <pc:docChgLst>
    <pc:chgData name="Faruk Abdullah" userId="e52374dd587ef96a" providerId="LiveId" clId="{51DFB333-B90C-4936-BDF0-FE61D14B1F27}"/>
    <pc:docChg chg="modSld">
      <pc:chgData name="Faruk Abdullah" userId="e52374dd587ef96a" providerId="LiveId" clId="{51DFB333-B90C-4936-BDF0-FE61D14B1F27}" dt="2023-07-14T14:52:02.573" v="9" actId="20577"/>
      <pc:docMkLst>
        <pc:docMk/>
      </pc:docMkLst>
      <pc:sldChg chg="modSp mod">
        <pc:chgData name="Faruk Abdullah" userId="e52374dd587ef96a" providerId="LiveId" clId="{51DFB333-B90C-4936-BDF0-FE61D14B1F27}" dt="2023-07-14T14:52:02.573" v="9" actId="20577"/>
        <pc:sldMkLst>
          <pc:docMk/>
          <pc:sldMk cId="700707328" sldId="256"/>
        </pc:sldMkLst>
        <pc:graphicFrameChg chg="modGraphic">
          <ac:chgData name="Faruk Abdullah" userId="e52374dd587ef96a" providerId="LiveId" clId="{51DFB333-B90C-4936-BDF0-FE61D14B1F27}" dt="2023-07-14T14:52:02.573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14-Jul-23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4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4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4207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404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3643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50021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8254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551963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Jump and Loop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341" y="2159745"/>
            <a:ext cx="7545023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§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Jump and Loop instructions transfers control to another program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The transfers can be unconditional  or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Depends on a particular combination of status flags settings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Conversion of algorithm is easier in assembly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of Jump</a:t>
            </a:r>
            <a:endParaRPr lang="en-US" sz="4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8543" y="2770910"/>
            <a:ext cx="2986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.MODEL SMALL                                                       </a:t>
            </a:r>
          </a:p>
          <a:p>
            <a:r>
              <a:rPr lang="en-US" sz="2000" dirty="0"/>
              <a:t>.STACK 100</a:t>
            </a:r>
          </a:p>
          <a:p>
            <a:r>
              <a:rPr lang="en-US" sz="2000" dirty="0"/>
              <a:t>.DATA</a:t>
            </a:r>
          </a:p>
          <a:p>
            <a:r>
              <a:rPr lang="en-US" sz="2000" dirty="0"/>
              <a:t>.CODE</a:t>
            </a:r>
          </a:p>
          <a:p>
            <a:r>
              <a:rPr lang="en-US" sz="2000" dirty="0"/>
              <a:t>MAIN PROC</a:t>
            </a:r>
          </a:p>
          <a:p>
            <a:r>
              <a:rPr lang="en-US" sz="2000" dirty="0"/>
              <a:t>MOV AH,2</a:t>
            </a:r>
          </a:p>
          <a:p>
            <a:r>
              <a:rPr lang="en-US" sz="2000" dirty="0"/>
              <a:t>MOV CX,256</a:t>
            </a:r>
          </a:p>
          <a:p>
            <a:r>
              <a:rPr lang="en-US" sz="2000" dirty="0"/>
              <a:t>MOV DL,0 ;ASCII of null</a:t>
            </a:r>
          </a:p>
          <a:p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0546" y="2646218"/>
            <a:ext cx="3200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PRINT_LOOP: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INC DL</a:t>
            </a:r>
          </a:p>
          <a:p>
            <a:r>
              <a:rPr lang="en-US" sz="2000" dirty="0"/>
              <a:t>DEC CX</a:t>
            </a:r>
          </a:p>
          <a:p>
            <a:r>
              <a:rPr lang="en-US" sz="2000" dirty="0"/>
              <a:t>JNZ PRINT_LOOP</a:t>
            </a:r>
          </a:p>
          <a:p>
            <a:r>
              <a:rPr lang="en-US" sz="2000" dirty="0"/>
              <a:t>MOV AH,4CH</a:t>
            </a:r>
          </a:p>
          <a:p>
            <a:r>
              <a:rPr lang="en-US" sz="2000" dirty="0"/>
              <a:t>INT 21H</a:t>
            </a:r>
          </a:p>
          <a:p>
            <a:r>
              <a:rPr lang="en-US" sz="2000" dirty="0"/>
              <a:t>MAIN ENDP</a:t>
            </a:r>
          </a:p>
          <a:p>
            <a:r>
              <a:rPr lang="en-US" sz="2000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JNZ (Jump if Not Zero)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0789" y="2242170"/>
            <a:ext cx="824163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JNZ is the instruction that controls 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result of preceding instruction is not Zero Then the JNZ transfers the control to the instruction at label PRINT_LOOP.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the preceding instruction contains zero (i.e. CX=0) then the program goes to execute DOS return instructions.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PRINT_LOOP is the first statement label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needed to refer another instruction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end with colon (:)</a:t>
            </a:r>
          </a:p>
          <a:p>
            <a:pPr marL="635386" lvl="0" indent="-635386" algn="just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lvl="0" algn="just">
              <a:lnSpc>
                <a:spcPct val="90000"/>
              </a:lnSpc>
              <a:buClr>
                <a:srgbClr val="FFFFFF"/>
              </a:buClr>
              <a:buSzPct val="75000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Labels are placed on a line by themselves to make it stand out.</a:t>
            </a:r>
          </a:p>
        </p:txBody>
      </p:sp>
    </p:spTree>
    <p:extLst>
      <p:ext uri="{BB962C8B-B14F-4D97-AF65-F5344CB8AC3E}">
        <p14:creationId xmlns:p14="http://schemas.microsoft.com/office/powerpoint/2010/main" val="1691010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712242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2662" y="2088241"/>
            <a:ext cx="8710863" cy="394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400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JNZ is an example of Conditional Jump Instruction:</a:t>
            </a: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JXXX  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 for the jump is true, the next instruction to be executed is at </a:t>
            </a:r>
            <a:r>
              <a:rPr lang="en-US" sz="2000" b="1" dirty="0" err="1">
                <a:ea typeface="Helvetica Neue"/>
                <a:cs typeface="Helvetica Neue"/>
                <a:sym typeface="Helvetica Neue"/>
              </a:rPr>
              <a:t>destination_label</a:t>
            </a: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condition is false, the instruction following the jump is done next. </a:t>
            </a:r>
          </a:p>
          <a:p>
            <a:pPr marL="904557" lvl="0" indent="-904557">
              <a:lnSpc>
                <a:spcPct val="90000"/>
              </a:lnSpc>
              <a:spcBef>
                <a:spcPts val="41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i.e. for JNZ if the preceding instruction is non-zero</a:t>
            </a:r>
          </a:p>
        </p:txBody>
      </p:sp>
    </p:spTree>
    <p:extLst>
      <p:ext uri="{BB962C8B-B14F-4D97-AF65-F5344CB8AC3E}">
        <p14:creationId xmlns:p14="http://schemas.microsoft.com/office/powerpoint/2010/main" val="170601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1256310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Implementation of Conditional JUMP by </a:t>
            </a:r>
            <a:b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32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CPU</a:t>
            </a:r>
            <a:br>
              <a:rPr lang="en-US" sz="32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1340" y="2153301"/>
            <a:ext cx="8145143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CPU looks at the FLAGS register (it reflects the result of last thing that processor did)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conditions for the jump (combination of status flag settings) are true, the CPU adjusts the IP to point to the destination label.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instruction at this label will be done next.</a:t>
            </a:r>
          </a:p>
          <a:p>
            <a:pPr marL="938388" lvl="0" indent="-938388">
              <a:lnSpc>
                <a:spcPct val="90000"/>
              </a:lnSpc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jump condition is false, then IP is not altered and naturally the next instruction is performed.</a:t>
            </a:r>
          </a:p>
        </p:txBody>
      </p:sp>
    </p:spTree>
    <p:extLst>
      <p:ext uri="{BB962C8B-B14F-4D97-AF65-F5344CB8AC3E}">
        <p14:creationId xmlns:p14="http://schemas.microsoft.com/office/powerpoint/2010/main" val="394032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  <a:t>Example(cont’d…)</a:t>
            </a:r>
            <a:endParaRPr lang="en-US" sz="3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6114" y="2375172"/>
            <a:ext cx="729113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In the previous example: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JNZ PRINT_LOOP is executed by inspecting ZF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ZF=0 then control is transferred to PRINT_LOOP and continues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If the ZF=1 then the program goes on to execute next (i.e. MOV AH,4CH)</a:t>
            </a:r>
          </a:p>
        </p:txBody>
      </p:sp>
    </p:spTree>
    <p:extLst>
      <p:ext uri="{BB962C8B-B14F-4D97-AF65-F5344CB8AC3E}">
        <p14:creationId xmlns:p14="http://schemas.microsoft.com/office/powerpoint/2010/main" val="1232732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0" y="411453"/>
            <a:ext cx="7808976" cy="108813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CMP Instruction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898" y="2038287"/>
            <a:ext cx="849406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destination , source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Compares the destination with source by computing contents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It computes by…  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destination contents - source contents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result is not stored but the FLAGS are affected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OPERANDS of CMP may not both be Memory Locations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may not be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CONSTANT</a:t>
            </a: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2000" b="1" dirty="0">
              <a:ea typeface="Helvetica Neue"/>
              <a:cs typeface="Helvetica Neue"/>
              <a:sym typeface="Helvetica Neue"/>
            </a:endParaRPr>
          </a:p>
          <a:p>
            <a:pPr marL="627731" lvl="0" indent="-627731">
              <a:lnSpc>
                <a:spcPct val="90000"/>
              </a:lnSpc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CMP is just like SUB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. However result is not stored in destination.</a:t>
            </a:r>
          </a:p>
        </p:txBody>
      </p:sp>
    </p:spTree>
    <p:extLst>
      <p:ext uri="{BB962C8B-B14F-4D97-AF65-F5344CB8AC3E}">
        <p14:creationId xmlns:p14="http://schemas.microsoft.com/office/powerpoint/2010/main" val="372195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9342" y="411453"/>
            <a:ext cx="6210749" cy="1088136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Signed Conditional Jumps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Shape 91"/>
          <p:cNvGraphicFramePr/>
          <p:nvPr>
            <p:extLst>
              <p:ext uri="{D42A27DB-BD31-4B8C-83A1-F6EECF244321}">
                <p14:modId xmlns:p14="http://schemas.microsoft.com/office/powerpoint/2010/main" val="3990164781"/>
              </p:ext>
            </p:extLst>
          </p:nvPr>
        </p:nvGraphicFramePr>
        <p:xfrm>
          <a:off x="336885" y="2189748"/>
          <a:ext cx="8422103" cy="37658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543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628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6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JGE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JNL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Greater than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less than or Equal to 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 = 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7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JNGE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 or equal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SF&lt;&gt;OF</a:t>
                      </a:r>
                      <a:endParaRPr lang="en-US" sz="180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514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JLE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JNG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less than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greater than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18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1 or SF&lt;&gt; OF</a:t>
                      </a:r>
                      <a:endParaRPr lang="en-US" sz="180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055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899" y="866274"/>
            <a:ext cx="6210749" cy="1138642"/>
          </a:xfrm>
        </p:spPr>
        <p:txBody>
          <a:bodyPr>
            <a:noAutofit/>
          </a:bodyPr>
          <a:lstStyle/>
          <a:p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b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</a:br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Unsigned Conditional Jumps</a:t>
            </a:r>
            <a:br>
              <a:rPr lang="en-US" sz="1800" b="1" dirty="0">
                <a:solidFill>
                  <a:srgbClr val="FFFFFF"/>
                </a:solidFill>
                <a:latin typeface="Century Gothic" panose="020B0502020202020204" pitchFamily="34" charset="0"/>
                <a:ea typeface="Helvetica Neue"/>
                <a:cs typeface="Helvetica Neue"/>
                <a:sym typeface="Helvetica Neue"/>
              </a:rPr>
            </a:b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5" name="Shape 97"/>
          <p:cNvGraphicFramePr/>
          <p:nvPr>
            <p:extLst>
              <p:ext uri="{D42A27DB-BD31-4B8C-83A1-F6EECF244321}">
                <p14:modId xmlns:p14="http://schemas.microsoft.com/office/powerpoint/2010/main" val="3898482543"/>
              </p:ext>
            </p:extLst>
          </p:nvPr>
        </p:nvGraphicFramePr>
        <p:xfrm>
          <a:off x="300789" y="2237874"/>
          <a:ext cx="8205538" cy="37149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4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8750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or Equal to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ZF = 0 and 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41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JAE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JNB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Above or Equal to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Below 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0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0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 or Equal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 = 1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997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JBE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JNA</a:t>
                      </a:r>
                      <a:endParaRPr lang="en-US" sz="200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Below or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Jump if Not Above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CF=1 or ZF = 1</a:t>
                      </a:r>
                      <a:endParaRPr lang="en-US" sz="200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013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Shape 103"/>
          <p:cNvGraphicFramePr/>
          <p:nvPr>
            <p:extLst>
              <p:ext uri="{D42A27DB-BD31-4B8C-83A1-F6EECF244321}">
                <p14:modId xmlns:p14="http://schemas.microsoft.com/office/powerpoint/2010/main" val="3036816085"/>
              </p:ext>
            </p:extLst>
          </p:nvPr>
        </p:nvGraphicFramePr>
        <p:xfrm>
          <a:off x="240633" y="1515977"/>
          <a:ext cx="8903367" cy="50392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32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9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495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JE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equal to Zero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5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JNE   or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JNZ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Equal</a:t>
                      </a:r>
                    </a:p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Not Zero 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ZF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6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JC 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1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 = 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3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JNC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Carry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Overflow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CF=1 or ZF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509484" marR="0" lvl="0" indent="-509484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75000"/>
                        <a:buFont typeface="Helvetica Neue"/>
                        <a:buChar char="•"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 Overflow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Sign Negative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 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JNS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Non-Negative Sign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SF =0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JP/JPE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Even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PF=1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425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JNP/JPO</a:t>
                      </a:r>
                      <a:endParaRPr lang="en-US" sz="2000" b="0" i="0" u="none" strike="noStrike" cap="none" baseline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Jump if parity Odd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buSzPct val="25000"/>
                        <a:buNone/>
                      </a:pPr>
                      <a:r>
                        <a:rPr lang="en-US" sz="2000" u="none" strike="noStrike" cap="non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PF=0</a:t>
                      </a:r>
                      <a:endParaRPr lang="en-US" sz="2000" b="0" i="0" u="none" strike="noStrike" cap="none" baseline="0" dirty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entury Gothic" panose="020B0502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54E002-EF18-F941-EAE1-AB4A2D26CDFC}"/>
              </a:ext>
            </a:extLst>
          </p:cNvPr>
          <p:cNvSpPr txBox="1"/>
          <p:nvPr/>
        </p:nvSpPr>
        <p:spPr>
          <a:xfrm>
            <a:off x="240633" y="694565"/>
            <a:ext cx="45790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+mn-lt"/>
                <a:ea typeface="Helvetica Neue"/>
                <a:cs typeface="Helvetica Neue"/>
                <a:sym typeface="Helvetica Neue"/>
              </a:rPr>
              <a:t>Single-Flag Jumps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78489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Conditional Jumps Interpretation</a:t>
            </a:r>
            <a:r>
              <a:rPr lang="en-US" sz="40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0316" y="2021304"/>
            <a:ext cx="879508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JUMPs correspond to an analogous unsigned JUMPs (i.e. JG is equivalent to JA)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Signed jump’s operates on ZF, SF and OF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Unsigned JUMP’s operates on ZF and CF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Using wrong kind of JUMP can lead to wrong results. For example: for AX= 7FFFh and BX= 8000h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  CMP AX,BX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b="1" dirty="0">
                <a:ea typeface="Helvetica Neue"/>
                <a:cs typeface="Helvetica Neue"/>
                <a:sym typeface="Helvetica Neue"/>
              </a:rPr>
              <a:t>                        JA BELOW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b="1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Even though 7FFFh&gt;8000h in a signed sense, the program does not jump to label BELOW. Because</a:t>
            </a: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endParaRPr lang="en-US" sz="1600" dirty="0">
              <a:ea typeface="Helvetica Neue"/>
              <a:cs typeface="Helvetica Neue"/>
              <a:sym typeface="Helvetica Neue"/>
            </a:endParaRPr>
          </a:p>
          <a:p>
            <a:pPr marL="486726" lvl="0" indent="-486726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1600" dirty="0">
                <a:ea typeface="Helvetica Neue"/>
                <a:cs typeface="Helvetica Neue"/>
                <a:sym typeface="Helvetica Neue"/>
              </a:rPr>
              <a:t>In unsigned sense (JA)  7FFFh &lt; 8000h</a:t>
            </a:r>
          </a:p>
        </p:txBody>
      </p:sp>
    </p:spTree>
    <p:extLst>
      <p:ext uri="{BB962C8B-B14F-4D97-AF65-F5344CB8AC3E}">
        <p14:creationId xmlns:p14="http://schemas.microsoft.com/office/powerpoint/2010/main" val="2303272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Working with Characters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5326" y="2562456"/>
            <a:ext cx="7411453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deal with ASCII character set, either Signed or Unsigned jumps may be used.</a:t>
            </a:r>
          </a:p>
          <a:p>
            <a:pPr marL="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000" b="1" dirty="0">
                <a:ea typeface="Helvetica Neue"/>
                <a:cs typeface="Helvetica Neue"/>
                <a:sym typeface="Helvetica Neue"/>
              </a:rPr>
              <a:t>	i.e. sign bit of a byte in a character is always    zero. 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However, while comparing extended ASCII characters (80h to </a:t>
            </a:r>
            <a:r>
              <a:rPr lang="en-US" sz="2000" dirty="0" err="1">
                <a:ea typeface="Helvetica Neue"/>
                <a:cs typeface="Helvetica Neue"/>
                <a:sym typeface="Helvetica Neue"/>
              </a:rPr>
              <a:t>FFh</a:t>
            </a:r>
            <a:r>
              <a:rPr lang="en-US" sz="2000" dirty="0">
                <a:ea typeface="Helvetica Neue"/>
                <a:cs typeface="Helvetica Neue"/>
                <a:sym typeface="Helvetica Neue"/>
              </a:rPr>
              <a:t> ), UNSIGNED jumps should be used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6549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JMP Instruction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9389" y="2272768"/>
            <a:ext cx="7603957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JMP instruction causes an unconditional transfer of control.</a:t>
            </a:r>
          </a:p>
          <a:p>
            <a:pPr lvl="0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JMP destination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Destination is usually a label in the same segment as the JMP itself. [ref: appendix - F]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To get around the range of restriction of a conditional jump, JMP can be used. </a:t>
            </a:r>
          </a:p>
        </p:txBody>
      </p:sp>
    </p:spTree>
    <p:extLst>
      <p:ext uri="{BB962C8B-B14F-4D97-AF65-F5344CB8AC3E}">
        <p14:creationId xmlns:p14="http://schemas.microsoft.com/office/powerpoint/2010/main" val="2390420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878305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JMP Vs JNZ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127"/>
          <p:cNvSpPr txBox="1">
            <a:spLocks/>
          </p:cNvSpPr>
          <p:nvPr/>
        </p:nvSpPr>
        <p:spPr>
          <a:xfrm>
            <a:off x="421984" y="2021305"/>
            <a:ext cx="3863699" cy="412527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DEC CX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JNZ</a:t>
            </a: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TOP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AX,BX</a:t>
            </a:r>
          </a:p>
        </p:txBody>
      </p:sp>
      <p:sp>
        <p:nvSpPr>
          <p:cNvPr id="6" name="Shape 128"/>
          <p:cNvSpPr/>
          <p:nvPr/>
        </p:nvSpPr>
        <p:spPr>
          <a:xfrm>
            <a:off x="4285683" y="1256519"/>
            <a:ext cx="4397102" cy="5654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DEC CX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JNZ</a:t>
            </a:r>
            <a:r>
              <a:rPr lang="en-US" sz="200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BOTTOM  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; keep looping till CX&gt;0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0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JMP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EXIT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0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BOTTOM: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000" b="1" i="0" u="none" strike="noStrike" cap="none" baseline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JMP </a:t>
            </a: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TOP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EXIT: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AX,BX</a:t>
            </a:r>
          </a:p>
        </p:txBody>
      </p:sp>
    </p:spTree>
    <p:extLst>
      <p:ext uri="{BB962C8B-B14F-4D97-AF65-F5344CB8AC3E}">
        <p14:creationId xmlns:p14="http://schemas.microsoft.com/office/powerpoint/2010/main" val="2951141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High-Level Language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857" y="2632173"/>
            <a:ext cx="7903869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8388" lvl="0" indent="-938388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Jump can be used to implement branches and loops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As the Jump is so primitive, it is difficult to code an algorithm with jumps without some guidelines.</a:t>
            </a:r>
          </a:p>
          <a:p>
            <a:pPr marL="938388" lvl="0" indent="-938388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The High-level languages (conditional IF-ELSE and While loops) can be simulated in assembly.</a:t>
            </a:r>
          </a:p>
        </p:txBody>
      </p:sp>
    </p:spTree>
    <p:extLst>
      <p:ext uri="{BB962C8B-B14F-4D97-AF65-F5344CB8AC3E}">
        <p14:creationId xmlns:p14="http://schemas.microsoft.com/office/powerpoint/2010/main" val="2028164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Branching Structures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0584" y="2081463"/>
            <a:ext cx="719488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Branching structures enable a program to take different paths, depending on conditions. </a:t>
            </a:r>
          </a:p>
          <a:p>
            <a:pPr marL="571500" lvl="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Here, We will look at three structures.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1. IF-THEN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2. IF-THEN-ELSE </a:t>
            </a:r>
          </a:p>
          <a:p>
            <a:pPr marL="1631950" lvl="2" indent="-74295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AutoNum type="arabicPeriod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3. CASE</a:t>
            </a:r>
          </a:p>
        </p:txBody>
      </p:sp>
    </p:spTree>
    <p:extLst>
      <p:ext uri="{BB962C8B-B14F-4D97-AF65-F5344CB8AC3E}">
        <p14:creationId xmlns:p14="http://schemas.microsoft.com/office/powerpoint/2010/main" val="2137130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0584" y="1010652"/>
            <a:ext cx="6460079" cy="92643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148"/>
          <p:cNvSpPr txBox="1">
            <a:spLocks/>
          </p:cNvSpPr>
          <p:nvPr/>
        </p:nvSpPr>
        <p:spPr>
          <a:xfrm>
            <a:off x="650584" y="2041357"/>
            <a:ext cx="4003502" cy="46241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</a:t>
            </a:r>
          </a:p>
        </p:txBody>
      </p:sp>
      <p:pic>
        <p:nvPicPr>
          <p:cNvPr id="6" name="Shape 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41232" y="2418346"/>
            <a:ext cx="3429000" cy="3537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6245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7972" y="2060512"/>
            <a:ext cx="7255041" cy="186512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true, the true-branch statements are executed.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lf It is false, nothing is done, and the program goes on to whatever follows.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to Replace a number in AX by its absolute value…</a:t>
            </a:r>
          </a:p>
        </p:txBody>
      </p:sp>
      <p:sp>
        <p:nvSpPr>
          <p:cNvPr id="5" name="Shape 156"/>
          <p:cNvSpPr/>
          <p:nvPr/>
        </p:nvSpPr>
        <p:spPr>
          <a:xfrm>
            <a:off x="577972" y="3925638"/>
            <a:ext cx="3644233" cy="2056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AX &lt;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replace AX by -AX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cxnSp>
        <p:nvCxnSpPr>
          <p:cNvPr id="7" name="Shape 158"/>
          <p:cNvCxnSpPr/>
          <p:nvPr/>
        </p:nvCxnSpPr>
        <p:spPr>
          <a:xfrm>
            <a:off x="4730206" y="3925638"/>
            <a:ext cx="9357" cy="20806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Shape 157"/>
          <p:cNvSpPr/>
          <p:nvPr/>
        </p:nvSpPr>
        <p:spPr>
          <a:xfrm>
            <a:off x="4978400" y="3822941"/>
            <a:ext cx="3684337" cy="2286000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AX, 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JNL END_IF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NEG AX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0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0019" y="530764"/>
            <a:ext cx="5702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15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8" y="853929"/>
            <a:ext cx="57029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IF-THEN-ELSE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8" name="Shape 164"/>
          <p:cNvSpPr txBox="1">
            <a:spLocks/>
          </p:cNvSpPr>
          <p:nvPr/>
        </p:nvSpPr>
        <p:spPr>
          <a:xfrm>
            <a:off x="384676" y="1600200"/>
            <a:ext cx="3296987" cy="4547937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condition is true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true-branch statements 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ELSE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	</a:t>
            </a:r>
          </a:p>
          <a:p>
            <a:pPr marL="444500" indent="-444500"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execute false-branch statements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END_IF </a:t>
            </a:r>
          </a:p>
        </p:txBody>
      </p:sp>
      <p:pic>
        <p:nvPicPr>
          <p:cNvPr id="9" name="Shape 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63715" y="2029650"/>
            <a:ext cx="3621505" cy="41184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382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A Pseudo Code and algorithm and Code for </a:t>
            </a:r>
            <a:b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</a:br>
            <a:r>
              <a:rPr lang="en-US" sz="2800" b="1" dirty="0">
                <a:solidFill>
                  <a:schemeClr val="bg1"/>
                </a:solidFill>
                <a:ea typeface="Helvetica Neue"/>
                <a:cs typeface="Helvetica Neue"/>
                <a:sym typeface="Helvetica Neue"/>
              </a:rPr>
              <a:t>IF-THEN-ELSE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88758" y="2090051"/>
            <a:ext cx="8422105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The condition is an expression that is either true or false.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true, the true-branch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If It is false then False-branch statements are executed. </a:t>
            </a: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endParaRPr lang="en-US" dirty="0">
              <a:ea typeface="Helvetica Neue"/>
              <a:cs typeface="Helvetica Neue"/>
              <a:sym typeface="Helvetica Neue"/>
            </a:endParaRPr>
          </a:p>
          <a:p>
            <a:pPr marL="444500" lvl="0" indent="-444500">
              <a:lnSpc>
                <a:spcPct val="8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Suppose AL and BL contain extended ASCII characters. Display the one that comes first in the character sequence…</a:t>
            </a:r>
          </a:p>
        </p:txBody>
      </p:sp>
      <p:sp>
        <p:nvSpPr>
          <p:cNvPr id="7" name="Shape 172"/>
          <p:cNvSpPr/>
          <p:nvPr/>
        </p:nvSpPr>
        <p:spPr>
          <a:xfrm>
            <a:off x="433136" y="4104845"/>
            <a:ext cx="4066674" cy="2079387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IF AL &lt;=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THEN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AL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ELSE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Display the character in BL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 IF</a:t>
            </a:r>
          </a:p>
        </p:txBody>
      </p:sp>
      <p:cxnSp>
        <p:nvCxnSpPr>
          <p:cNvPr id="10" name="Shape 174"/>
          <p:cNvCxnSpPr/>
          <p:nvPr/>
        </p:nvCxnSpPr>
        <p:spPr>
          <a:xfrm>
            <a:off x="4462695" y="4237192"/>
            <a:ext cx="45294" cy="1564106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73"/>
          <p:cNvSpPr/>
          <p:nvPr/>
        </p:nvSpPr>
        <p:spPr>
          <a:xfrm>
            <a:off x="4675394" y="3549316"/>
            <a:ext cx="4288131" cy="2953111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AH,2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CMP AL,BL     ;AL&lt;=BL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JNBE ELSE_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DL,AL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DISPLAY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ELSE_: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DL,BL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DISPLAY: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INT 2lh </a:t>
            </a:r>
          </a:p>
        </p:txBody>
      </p:sp>
    </p:spTree>
    <p:extLst>
      <p:ext uri="{BB962C8B-B14F-4D97-AF65-F5344CB8AC3E}">
        <p14:creationId xmlns:p14="http://schemas.microsoft.com/office/powerpoint/2010/main" val="2242437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3951" y="2064583"/>
            <a:ext cx="84948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A CASE 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multi-way branch structure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that tests a register, variable, or expression for particular values or a range of values.</a:t>
            </a:r>
          </a:p>
        </p:txBody>
      </p:sp>
      <p:pic>
        <p:nvPicPr>
          <p:cNvPr id="14" name="Shape 1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69042" y="2595273"/>
            <a:ext cx="3729790" cy="338572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183BC8-5CC4-58C4-91E3-24A363FC4DB6}"/>
              </a:ext>
            </a:extLst>
          </p:cNvPr>
          <p:cNvSpPr txBox="1"/>
          <p:nvPr/>
        </p:nvSpPr>
        <p:spPr>
          <a:xfrm>
            <a:off x="583809" y="3106448"/>
            <a:ext cx="3988191" cy="247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CASE Expression		Values_1: Statement_1	Values_2: Statement_2</a:t>
            </a: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…		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Values_n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8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Statement_n</a:t>
            </a: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40055" lvl="3" indent="868045" algn="l">
              <a:lnSpc>
                <a:spcPct val="80000"/>
              </a:lnSpc>
              <a:spcBef>
                <a:spcPts val="41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END_CASE</a:t>
            </a:r>
          </a:p>
        </p:txBody>
      </p:sp>
    </p:spTree>
    <p:extLst>
      <p:ext uri="{BB962C8B-B14F-4D97-AF65-F5344CB8AC3E}">
        <p14:creationId xmlns:p14="http://schemas.microsoft.com/office/powerpoint/2010/main" val="4147253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CASE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2135673"/>
            <a:ext cx="7435516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lnSpc>
                <a:spcPct val="90000"/>
              </a:lnSpc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dirty="0">
                <a:ea typeface="Helvetica Neue"/>
                <a:cs typeface="Helvetica Neue"/>
                <a:sym typeface="Helvetica Neue"/>
              </a:rPr>
              <a:t>Example: If AX contains a negative number, put -1 in BX; if AX contains 0, put 0 in BX; and if AX contains a positive number, put 1 in BX.</a:t>
            </a:r>
          </a:p>
        </p:txBody>
      </p:sp>
      <p:sp>
        <p:nvSpPr>
          <p:cNvPr id="8" name="Shape 189"/>
          <p:cNvSpPr/>
          <p:nvPr/>
        </p:nvSpPr>
        <p:spPr>
          <a:xfrm>
            <a:off x="854242" y="2872943"/>
            <a:ext cx="3043990" cy="2769868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CASE AX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&lt;0 : put -1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=0 : put  0 in BX </a:t>
            </a:r>
          </a:p>
          <a:p>
            <a:pPr marL="0" marR="0" lvl="2" indent="45720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&gt;0</a:t>
            </a:r>
            <a:r>
              <a:rPr lang="en-US" sz="2000" b="1" i="0" u="none" strike="noStrike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: put +l in BX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000" b="1" i="0" u="none" strike="noStrike" cap="non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  <p:cxnSp>
        <p:nvCxnSpPr>
          <p:cNvPr id="9" name="Shape 191"/>
          <p:cNvCxnSpPr/>
          <p:nvPr/>
        </p:nvCxnSpPr>
        <p:spPr>
          <a:xfrm>
            <a:off x="4084281" y="2872943"/>
            <a:ext cx="0" cy="3216441"/>
          </a:xfrm>
          <a:prstGeom prst="straightConnector1">
            <a:avLst/>
          </a:prstGeom>
          <a:noFill/>
          <a:ln w="25400" cap="flat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2" name="Shape 190"/>
          <p:cNvSpPr/>
          <p:nvPr/>
        </p:nvSpPr>
        <p:spPr>
          <a:xfrm>
            <a:off x="4713706" y="2415465"/>
            <a:ext cx="3973094" cy="4131396"/>
          </a:xfrm>
          <a:prstGeom prst="rect">
            <a:avLst/>
          </a:prstGeom>
          <a:noFill/>
          <a:ln>
            <a:noFill/>
          </a:ln>
        </p:spPr>
        <p:txBody>
          <a:bodyPr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CMP AX,O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JL NEGATIVE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JE ZERO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JG POSITIVE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NEGATIVE: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BX,-1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ZERO: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BX,0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JMP END_CASE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POSITIVE: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	MOV BX, l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Helvetica Neue"/>
                <a:cs typeface="Helvetica Neue"/>
                <a:sym typeface="Helvetica Neue"/>
              </a:rPr>
              <a:t>END_CASE:</a:t>
            </a:r>
          </a:p>
        </p:txBody>
      </p:sp>
    </p:spTree>
    <p:extLst>
      <p:ext uri="{BB962C8B-B14F-4D97-AF65-F5344CB8AC3E}">
        <p14:creationId xmlns:p14="http://schemas.microsoft.com/office/powerpoint/2010/main" val="833418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4242" y="-1383631"/>
            <a:ext cx="6460079" cy="926432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US" sz="4000" b="1" dirty="0">
                <a:latin typeface="+mn-lt"/>
                <a:ea typeface="Helvetica Neue"/>
                <a:cs typeface="Helvetica Neue"/>
                <a:sym typeface="Helvetica Neue"/>
              </a:rPr>
              <a:t>A Pseudo Code , Algorithm and Code for IF-THEN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85797" y="853929"/>
            <a:ext cx="662852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Solve the Following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3473" y="2121548"/>
            <a:ext cx="5781616" cy="3924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0" lvl="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400" b="1" dirty="0">
                <a:ea typeface="Helvetica Neue"/>
                <a:cs typeface="Helvetica Neue"/>
                <a:sym typeface="Helvetica Neue"/>
              </a:rPr>
              <a:t>If AL contains 1 or 3, display "o"; if AL contains 2 or 4, display "e". </a:t>
            </a:r>
          </a:p>
          <a:p>
            <a:pPr marL="1016000" lvl="1" indent="-571500"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CASE AL 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1,3: display ‘o’</a:t>
            </a:r>
          </a:p>
          <a:p>
            <a:pPr marL="444500" lvl="3" indent="889000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2,4: display ‘e’</a:t>
            </a:r>
          </a:p>
          <a:p>
            <a:pPr marL="444500" lvl="1">
              <a:spcBef>
                <a:spcPts val="4200"/>
              </a:spcBef>
              <a:buClr>
                <a:srgbClr val="FFFFFF"/>
              </a:buClr>
              <a:buSzPct val="25000"/>
            </a:pPr>
            <a:r>
              <a:rPr lang="en-US" sz="2400" dirty="0">
                <a:ea typeface="Helvetica Neue"/>
                <a:cs typeface="Helvetica Neue"/>
                <a:sym typeface="Helvetica Neue"/>
              </a:rPr>
              <a:t>END_CASE </a:t>
            </a:r>
          </a:p>
        </p:txBody>
      </p:sp>
    </p:spTree>
    <p:extLst>
      <p:ext uri="{BB962C8B-B14F-4D97-AF65-F5344CB8AC3E}">
        <p14:creationId xmlns:p14="http://schemas.microsoft.com/office/powerpoint/2010/main" val="2517326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04AD-E9AE-041A-86B7-1054C6471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8E29B-5905-8136-1420-0D7E2E30B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check whether a given input character is a vowel or not.</a:t>
            </a:r>
          </a:p>
          <a:p>
            <a:endParaRPr lang="en-US" dirty="0"/>
          </a:p>
          <a:p>
            <a:r>
              <a:rPr lang="en-US" dirty="0"/>
              <a:t>Write a program to print all the capital letters.</a:t>
            </a:r>
          </a:p>
        </p:txBody>
      </p:sp>
    </p:spTree>
    <p:extLst>
      <p:ext uri="{BB962C8B-B14F-4D97-AF65-F5344CB8AC3E}">
        <p14:creationId xmlns:p14="http://schemas.microsoft.com/office/powerpoint/2010/main" val="2807924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543</TotalTime>
  <Words>1802</Words>
  <Application>Microsoft Office PowerPoint</Application>
  <PresentationFormat>On-screen Show (4:3)</PresentationFormat>
  <Paragraphs>328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Century Gothic</vt:lpstr>
      <vt:lpstr>Corbel</vt:lpstr>
      <vt:lpstr>Helvetica Neue</vt:lpstr>
      <vt:lpstr>Wingdings</vt:lpstr>
      <vt:lpstr>Spectrum</vt:lpstr>
      <vt:lpstr> Flow Control Instructions </vt:lpstr>
      <vt:lpstr>Lecture Outline</vt:lpstr>
      <vt:lpstr>Jump and Loop</vt:lpstr>
      <vt:lpstr>Example of Jump</vt:lpstr>
      <vt:lpstr>JNZ (Jump if Not Zero)</vt:lpstr>
      <vt:lpstr>Conditional Jumps</vt:lpstr>
      <vt:lpstr>Implementation of Conditional JUMP by  CPU </vt:lpstr>
      <vt:lpstr>Example(cont’d…)</vt:lpstr>
      <vt:lpstr>CMP Instruction</vt:lpstr>
      <vt:lpstr>Signed Conditional Jumps</vt:lpstr>
      <vt:lpstr>    Unsigned Conditional Jumps </vt:lpstr>
      <vt:lpstr>PowerPoint Presentation</vt:lpstr>
      <vt:lpstr>Conditional Jumps Interpretation </vt:lpstr>
      <vt:lpstr>Working with Characters</vt:lpstr>
      <vt:lpstr>JMP Instruction</vt:lpstr>
      <vt:lpstr>JMP Vs JNZ</vt:lpstr>
      <vt:lpstr>High-Level Language Structures</vt:lpstr>
      <vt:lpstr>Branching Structures</vt:lpstr>
      <vt:lpstr>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A Pseudo Code , Algorithm and Code for IF-THEN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137</cp:revision>
  <dcterms:created xsi:type="dcterms:W3CDTF">2018-12-10T17:20:29Z</dcterms:created>
  <dcterms:modified xsi:type="dcterms:W3CDTF">2023-07-14T14:52:07Z</dcterms:modified>
</cp:coreProperties>
</file>