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57" r:id="rId3"/>
    <p:sldId id="266" r:id="rId4"/>
    <p:sldId id="307" r:id="rId5"/>
    <p:sldId id="309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6" r:id="rId43"/>
    <p:sldId id="305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S::mmhasan@aiub.edu::5eb39d97-deb0-466a-af4c-298e34812974" providerId="AD" clId="Web-{AAB93F43-CFF9-DB06-33A2-663D8ABE5782}"/>
    <pc:docChg chg="modSld">
      <pc:chgData name="Dr. Md Mehedi Hasan" userId="S::mmhasan@aiub.edu::5eb39d97-deb0-466a-af4c-298e34812974" providerId="AD" clId="Web-{AAB93F43-CFF9-DB06-33A2-663D8ABE5782}" dt="2022-02-07T17:44:51.733" v="4" actId="20577"/>
      <pc:docMkLst>
        <pc:docMk/>
      </pc:docMkLst>
      <pc:sldChg chg="delSp">
        <pc:chgData name="Dr. Md Mehedi Hasan" userId="S::mmhasan@aiub.edu::5eb39d97-deb0-466a-af4c-298e34812974" providerId="AD" clId="Web-{AAB93F43-CFF9-DB06-33A2-663D8ABE5782}" dt="2022-02-07T17:35:20.373" v="0"/>
        <pc:sldMkLst>
          <pc:docMk/>
          <pc:sldMk cId="3249445261" sldId="290"/>
        </pc:sldMkLst>
        <pc:spChg chg="del">
          <ac:chgData name="Dr. Md Mehedi Hasan" userId="S::mmhasan@aiub.edu::5eb39d97-deb0-466a-af4c-298e34812974" providerId="AD" clId="Web-{AAB93F43-CFF9-DB06-33A2-663D8ABE5782}" dt="2022-02-07T17:35:20.373" v="0"/>
          <ac:spMkLst>
            <pc:docMk/>
            <pc:sldMk cId="3249445261" sldId="290"/>
            <ac:spMk id="124" creationId="{00000000-0000-0000-0000-000000000000}"/>
          </ac:spMkLst>
        </pc:spChg>
      </pc:sldChg>
      <pc:sldChg chg="modSp">
        <pc:chgData name="Dr. Md Mehedi Hasan" userId="S::mmhasan@aiub.edu::5eb39d97-deb0-466a-af4c-298e34812974" providerId="AD" clId="Web-{AAB93F43-CFF9-DB06-33A2-663D8ABE5782}" dt="2022-02-07T17:44:51.733" v="4" actId="20577"/>
        <pc:sldMkLst>
          <pc:docMk/>
          <pc:sldMk cId="1031935112" sldId="294"/>
        </pc:sldMkLst>
        <pc:spChg chg="mod">
          <ac:chgData name="Dr. Md Mehedi Hasan" userId="S::mmhasan@aiub.edu::5eb39d97-deb0-466a-af4c-298e34812974" providerId="AD" clId="Web-{AAB93F43-CFF9-DB06-33A2-663D8ABE5782}" dt="2022-02-07T17:44:51.733" v="4" actId="20577"/>
          <ac:spMkLst>
            <pc:docMk/>
            <pc:sldMk cId="1031935112" sldId="294"/>
            <ac:spMk id="139" creationId="{00000000-0000-0000-0000-000000000000}"/>
          </ac:spMkLst>
        </pc:spChg>
      </pc:sldChg>
    </pc:docChg>
  </pc:docChgLst>
  <pc:docChgLst>
    <pc:chgData name="Dr. Md Mehedi Hasan" userId="S::mmhasan@aiub.edu::5eb39d97-deb0-466a-af4c-298e34812974" providerId="AD" clId="Web-{8B0CDC06-60D3-16D9-0F46-7FAAB1F01105}"/>
    <pc:docChg chg="modSld">
      <pc:chgData name="Dr. Md Mehedi Hasan" userId="S::mmhasan@aiub.edu::5eb39d97-deb0-466a-af4c-298e34812974" providerId="AD" clId="Web-{8B0CDC06-60D3-16D9-0F46-7FAAB1F01105}" dt="2022-02-08T02:07:44.966" v="70" actId="20577"/>
      <pc:docMkLst>
        <pc:docMk/>
      </pc:docMkLst>
      <pc:sldChg chg="modSp">
        <pc:chgData name="Dr. Md Mehedi Hasan" userId="S::mmhasan@aiub.edu::5eb39d97-deb0-466a-af4c-298e34812974" providerId="AD" clId="Web-{8B0CDC06-60D3-16D9-0F46-7FAAB1F01105}" dt="2022-02-08T02:07:44.966" v="70" actId="20577"/>
        <pc:sldMkLst>
          <pc:docMk/>
          <pc:sldMk cId="700707328" sldId="256"/>
        </pc:sldMkLst>
        <pc:spChg chg="mod">
          <ac:chgData name="Dr. Md Mehedi Hasan" userId="S::mmhasan@aiub.edu::5eb39d97-deb0-466a-af4c-298e34812974" providerId="AD" clId="Web-{8B0CDC06-60D3-16D9-0F46-7FAAB1F01105}" dt="2022-02-08T02:07:44.966" v="70" actId="20577"/>
          <ac:spMkLst>
            <pc:docMk/>
            <pc:sldMk cId="700707328" sldId="256"/>
            <ac:spMk id="2" creationId="{00000000-0000-0000-0000-000000000000}"/>
          </ac:spMkLst>
        </pc:spChg>
        <pc:graphicFrameChg chg="mod modGraphic">
          <ac:chgData name="Dr. Md Mehedi Hasan" userId="S::mmhasan@aiub.edu::5eb39d97-deb0-466a-af4c-298e34812974" providerId="AD" clId="Web-{8B0CDC06-60D3-16D9-0F46-7FAAB1F01105}" dt="2022-02-08T02:06:54.918" v="59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6DF8C430-B455-5CB4-F95A-5739B498AD49}"/>
    <pc:docChg chg="modSld">
      <pc:chgData name="Dr. Md Mehedi Hasan" userId="S::mmhasan@aiub.edu::5eb39d97-deb0-466a-af4c-298e34812974" providerId="AD" clId="Web-{6DF8C430-B455-5CB4-F95A-5739B498AD49}" dt="2022-02-07T15:48:33.230" v="1" actId="20577"/>
      <pc:docMkLst>
        <pc:docMk/>
      </pc:docMkLst>
      <pc:sldChg chg="modSp">
        <pc:chgData name="Dr. Md Mehedi Hasan" userId="S::mmhasan@aiub.edu::5eb39d97-deb0-466a-af4c-298e34812974" providerId="AD" clId="Web-{6DF8C430-B455-5CB4-F95A-5739B498AD49}" dt="2022-02-07T15:48:33.230" v="1" actId="20577"/>
        <pc:sldMkLst>
          <pc:docMk/>
          <pc:sldMk cId="2103959458" sldId="278"/>
        </pc:sldMkLst>
        <pc:spChg chg="mod">
          <ac:chgData name="Dr. Md Mehedi Hasan" userId="S::mmhasan@aiub.edu::5eb39d97-deb0-466a-af4c-298e34812974" providerId="AD" clId="Web-{6DF8C430-B455-5CB4-F95A-5739B498AD49}" dt="2022-02-07T15:48:33.230" v="1" actId="20577"/>
          <ac:spMkLst>
            <pc:docMk/>
            <pc:sldMk cId="2103959458" sldId="278"/>
            <ac:spMk id="84" creationId="{00000000-0000-0000-0000-000000000000}"/>
          </ac:spMkLst>
        </pc:spChg>
      </pc:sldChg>
    </pc:docChg>
  </pc:docChgLst>
  <pc:docChgLst>
    <pc:chgData name="Faruk Abdullah" userId="e52374dd587ef96a" providerId="LiveId" clId="{B4F38F97-410B-4D8D-B06D-B73799A315AA}"/>
    <pc:docChg chg="modSld">
      <pc:chgData name="Faruk Abdullah" userId="e52374dd587ef96a" providerId="LiveId" clId="{B4F38F97-410B-4D8D-B06D-B73799A315AA}" dt="2023-06-13T06:40:52.850" v="11" actId="14734"/>
      <pc:docMkLst>
        <pc:docMk/>
      </pc:docMkLst>
      <pc:sldChg chg="modSp mod">
        <pc:chgData name="Faruk Abdullah" userId="e52374dd587ef96a" providerId="LiveId" clId="{B4F38F97-410B-4D8D-B06D-B73799A315AA}" dt="2023-06-13T06:40:52.850" v="11" actId="14734"/>
        <pc:sldMkLst>
          <pc:docMk/>
          <pc:sldMk cId="700707328" sldId="256"/>
        </pc:sldMkLst>
        <pc:graphicFrameChg chg="modGraphic">
          <ac:chgData name="Faruk Abdullah" userId="e52374dd587ef96a" providerId="LiveId" clId="{B4F38F97-410B-4D8D-B06D-B73799A315AA}" dt="2023-06-13T06:40:52.850" v="11" actId="14734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76B3EAD0-9CCB-E1F0-9982-94A3D326C890}"/>
    <pc:docChg chg="modSld">
      <pc:chgData name="Dr. Md Mehedi Hasan" userId="S::mmhasan@aiub.edu::5eb39d97-deb0-466a-af4c-298e34812974" providerId="AD" clId="Web-{76B3EAD0-9CCB-E1F0-9982-94A3D326C890}" dt="2022-02-07T17:25:50.946" v="3"/>
      <pc:docMkLst>
        <pc:docMk/>
      </pc:docMkLst>
      <pc:sldChg chg="addAnim modAnim">
        <pc:chgData name="Dr. Md Mehedi Hasan" userId="S::mmhasan@aiub.edu::5eb39d97-deb0-466a-af4c-298e34812974" providerId="AD" clId="Web-{76B3EAD0-9CCB-E1F0-9982-94A3D326C890}" dt="2022-02-07T17:25:34.227" v="1"/>
        <pc:sldMkLst>
          <pc:docMk/>
          <pc:sldMk cId="1764108910" sldId="286"/>
        </pc:sldMkLst>
      </pc:sldChg>
      <pc:sldChg chg="addAnim modAnim">
        <pc:chgData name="Dr. Md Mehedi Hasan" userId="S::mmhasan@aiub.edu::5eb39d97-deb0-466a-af4c-298e34812974" providerId="AD" clId="Web-{76B3EAD0-9CCB-E1F0-9982-94A3D326C890}" dt="2022-02-07T17:25:50.946" v="3"/>
        <pc:sldMkLst>
          <pc:docMk/>
          <pc:sldMk cId="1378164847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83149-C61D-4ED7-B50C-58C1A579B08B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B007B-5F31-4D36-BB58-3C1CD9CB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975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422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0"/>
            <a:ext cx="7358063" cy="3473648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25092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0" algn="ctr">
              <a:spcBef>
                <a:spcPts val="0"/>
              </a:spcBef>
              <a:buSzTx/>
              <a:buNone/>
              <a:defRPr sz="2250"/>
            </a:lvl2pPr>
            <a:lvl3pPr marL="0" indent="0" algn="ctr">
              <a:spcBef>
                <a:spcPts val="0"/>
              </a:spcBef>
              <a:buSzTx/>
              <a:buNone/>
              <a:defRPr sz="2250"/>
            </a:lvl3pPr>
            <a:lvl4pPr marL="0" indent="0" algn="ctr">
              <a:spcBef>
                <a:spcPts val="0"/>
              </a:spcBef>
              <a:buSzTx/>
              <a:buNone/>
              <a:defRPr sz="2250"/>
            </a:lvl4pPr>
            <a:lvl5pPr marL="0" indent="0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9617249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cludehelp.com/embedded-system/memory-organization-in-the-8086-microprocessor.aspx" TargetMode="External"/><Relationship Id="rId2" Type="http://schemas.openxmlformats.org/officeDocument/2006/relationships/hyperlink" Target="https://www.britannica.com/technology/DNA-computing" TargetMode="Externa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Understanding 8086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54797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53029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64566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09345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 fontScale="85000" lnSpcReduction="20000"/>
          </a:bodyPr>
          <a:lstStyle/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1. A brief survey of 8086 family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2. The architecture of the 8086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3. The registers and their special functions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4. Overall structure of the IBM PC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5. The memory organization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6. I/O ports, DOS and BIOS routines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361727"/>
            <a:ext cx="8574087" cy="96784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Intel 8086 Family of Microprocessors</a:t>
            </a: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84163" y="1834533"/>
            <a:ext cx="8017590" cy="4596429"/>
          </a:xfrm>
        </p:spPr>
        <p:txBody>
          <a:bodyPr>
            <a:normAutofit lnSpcReduction="10000"/>
          </a:bodyPr>
          <a:lstStyle/>
          <a:p>
            <a:pPr marL="0" indent="0" defTabSz="496569">
              <a:spcBef>
                <a:spcPts val="3500"/>
              </a:spcBef>
              <a:buClr>
                <a:schemeClr val="tx1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Based on Intel 8086 family of microprocessor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IBM PC (8088)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PC XT (8088)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PC AT (80286)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PS/1 (80286)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PS/2 (8086/ 80286/ 80386/ 80486)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Some PC compatible Laptop models (80186)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361727"/>
            <a:ext cx="8574087" cy="96784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The 8086 and 8088 Microprocessors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433D76-1FAF-F51A-B2EB-8AFE28194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46" y="2313653"/>
            <a:ext cx="7891707" cy="403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29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361727"/>
            <a:ext cx="8574087" cy="96784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80186 and 80188 Microprocessors</a:t>
            </a:r>
            <a:endParaRPr lang="en-US" sz="3600" dirty="0"/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CAEECBA5-503D-5C5D-99C6-203296CDF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128" y="2198976"/>
            <a:ext cx="7077075" cy="386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94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2" y="379828"/>
            <a:ext cx="8574087" cy="942534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The 80286 Microprocessor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1" y="1765109"/>
            <a:ext cx="8574087" cy="5236191"/>
          </a:xfrm>
        </p:spPr>
        <p:txBody>
          <a:bodyPr>
            <a:normAutofit fontScale="55000" lnSpcReduction="20000"/>
          </a:bodyPr>
          <a:lstStyle/>
          <a:p>
            <a:pPr marL="342900" lvl="0" indent="-342900" defTabSz="332992">
              <a:spcBef>
                <a:spcPts val="23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80286</a:t>
            </a:r>
            <a:r>
              <a:rPr lang="en-US" sz="3800" dirty="0">
                <a:solidFill>
                  <a:schemeClr val="tx1"/>
                </a:solidFill>
              </a:rPr>
              <a:t> is 16-bit microprocessor and was introduced in 1982.</a:t>
            </a:r>
          </a:p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dirty="0">
                <a:solidFill>
                  <a:schemeClr val="tx1"/>
                </a:solidFill>
              </a:rPr>
              <a:t>It operates</a:t>
            </a:r>
            <a:r>
              <a:rPr lang="en-US" sz="3800" b="1" dirty="0">
                <a:solidFill>
                  <a:schemeClr val="tx1"/>
                </a:solidFill>
              </a:rPr>
              <a:t> faster </a:t>
            </a:r>
            <a:r>
              <a:rPr lang="en-US" sz="3800" dirty="0">
                <a:solidFill>
                  <a:schemeClr val="tx1"/>
                </a:solidFill>
              </a:rPr>
              <a:t>than the 8086 [12.5 MHz vs 10MHz]</a:t>
            </a:r>
          </a:p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Two modes of operation</a:t>
            </a:r>
          </a:p>
          <a:p>
            <a:pPr marL="596265" lvl="1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Real address:</a:t>
            </a:r>
          </a:p>
          <a:p>
            <a:pPr marL="596265" lvl="4" indent="-342900" defTabSz="332992">
              <a:spcBef>
                <a:spcPts val="23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800" dirty="0">
                <a:solidFill>
                  <a:schemeClr val="tx1"/>
                </a:solidFill>
              </a:rPr>
              <a:t>In this mode, microprocessor behaves like 8086 and programs for 8086 can be executed without modification.</a:t>
            </a:r>
          </a:p>
          <a:p>
            <a:pPr marL="596265" lvl="1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Protected Virtual address:</a:t>
            </a:r>
          </a:p>
          <a:p>
            <a:pPr marL="849630" lvl="2" indent="-342900" defTabSz="332992">
              <a:spcBef>
                <a:spcPts val="23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Multitasking: </a:t>
            </a:r>
            <a:r>
              <a:rPr lang="en-US" sz="3800" dirty="0">
                <a:solidFill>
                  <a:schemeClr val="tx1"/>
                </a:solidFill>
              </a:rPr>
              <a:t>80286 supports multi-tasking. So, it can operate several tasks at the same time.</a:t>
            </a:r>
          </a:p>
          <a:p>
            <a:pPr marL="849630" lvl="2" indent="-342900" defTabSz="332992">
              <a:spcBef>
                <a:spcPts val="23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Memory protection: </a:t>
            </a:r>
            <a:r>
              <a:rPr lang="en-US" sz="3800" dirty="0">
                <a:solidFill>
                  <a:schemeClr val="tx1"/>
                </a:solidFill>
              </a:rPr>
              <a:t>Protects the memory used by one program from the actions of another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49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80286 Microprocessor(Cont.)</a:t>
            </a: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2133600"/>
            <a:ext cx="8574087" cy="4567451"/>
          </a:xfrm>
        </p:spPr>
        <p:txBody>
          <a:bodyPr/>
          <a:lstStyle/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More addressable Memory: </a:t>
            </a:r>
            <a:r>
              <a:rPr lang="en-US" dirty="0">
                <a:solidFill>
                  <a:schemeClr val="tx1"/>
                </a:solidFill>
              </a:rPr>
              <a:t>The protected mode can address 16 megabytes of memory as opposed to 1MB in 8086 and 8088</a:t>
            </a:r>
          </a:p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Virtual Memory in protected mode: </a:t>
            </a:r>
            <a:r>
              <a:rPr lang="en-US" dirty="0">
                <a:solidFill>
                  <a:schemeClr val="tx1"/>
                </a:solidFill>
              </a:rPr>
              <a:t>80286 can consider external storage or disk as a physical memory and execute large programs [up to 1GB or 2^30 bytes]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603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80386 and 80386SX Microprocessor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708" y="1915236"/>
            <a:ext cx="8117058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9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4000" b="1" dirty="0"/>
              <a:t>The 80486 and 80486SX Microprocessor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42448"/>
            <a:ext cx="8574087" cy="488589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 80486 or 486 is another 32-bit microprocessor introduced in 1989.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486 is the fastest and most powerful microprocessor in the family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486 incorporates all the functions of the 386 with some other supportive chips including 80387 numeric processor like 80387.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80387 numeric processor performs floating-point number operations.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An 8-KB  cache memory serves as a fast memory area to buffer the data coming from a slower memory unit.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With numeric processor, cache memory and faster design, 486 is three times faster than 386 running at the same clock speed.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                                          80486SX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The 486SX has essentially the same internal structure as the 486, however, it does not have any floating-point processor.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117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b="1" dirty="0"/>
              <a:t>Organization of the 8086/8088 Microprocessor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2" y="2133600"/>
            <a:ext cx="8574087" cy="4594746"/>
          </a:xfrm>
        </p:spPr>
        <p:txBody>
          <a:bodyPr>
            <a:normAutofit/>
          </a:bodyPr>
          <a:lstStyle/>
          <a:p>
            <a:pPr marL="938388" lvl="0" indent="-938388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8086 and 8088 has the simplest structure and they provide the insights to the most advanced processors.</a:t>
            </a:r>
          </a:p>
          <a:p>
            <a:pPr marL="938388" lvl="0" indent="-938388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As both 8086 and 8088 essentially has the same structure, we will use the term “8086” for both.</a:t>
            </a:r>
          </a:p>
        </p:txBody>
      </p:sp>
    </p:spTree>
    <p:extLst>
      <p:ext uri="{BB962C8B-B14F-4D97-AF65-F5344CB8AC3E}">
        <p14:creationId xmlns:p14="http://schemas.microsoft.com/office/powerpoint/2010/main" val="174583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xfrm>
            <a:off x="314204" y="133945"/>
            <a:ext cx="8267226" cy="8272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Registers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xfrm>
            <a:off x="589360" y="1125000"/>
            <a:ext cx="8554640" cy="5733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Information inside the microprocessor is stored in </a:t>
            </a:r>
            <a:r>
              <a:rPr sz="1969" b="1" dirty="0">
                <a:solidFill>
                  <a:schemeClr val="tx1"/>
                </a:solidFill>
              </a:rPr>
              <a:t>register</a:t>
            </a:r>
            <a:r>
              <a:rPr lang="en-US" sz="1969" b="1" dirty="0">
                <a:solidFill>
                  <a:schemeClr val="tx1"/>
                </a:solidFill>
              </a:rPr>
              <a:t>s</a:t>
            </a:r>
            <a:r>
              <a:rPr sz="1969" b="1" dirty="0">
                <a:solidFill>
                  <a:schemeClr val="tx1"/>
                </a:solidFill>
              </a:rPr>
              <a:t>.</a:t>
            </a:r>
          </a:p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Registers are classified according to their functions. </a:t>
            </a:r>
          </a:p>
          <a:p>
            <a:pPr marL="752746" lvl="2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Data register holds the data for an operation</a:t>
            </a:r>
          </a:p>
          <a:p>
            <a:pPr marL="752746" lvl="2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Address register holds the address for an instruction or data.</a:t>
            </a:r>
          </a:p>
          <a:p>
            <a:pPr marL="752746" lvl="2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Status register keeps the current status of the processor.</a:t>
            </a:r>
          </a:p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8086 has </a:t>
            </a:r>
            <a:r>
              <a:rPr sz="1969" b="1" dirty="0">
                <a:solidFill>
                  <a:schemeClr val="tx1"/>
                </a:solidFill>
              </a:rPr>
              <a:t>four </a:t>
            </a:r>
            <a:r>
              <a:rPr sz="1969" dirty="0">
                <a:solidFill>
                  <a:schemeClr val="tx1"/>
                </a:solidFill>
              </a:rPr>
              <a:t>general registers.</a:t>
            </a:r>
          </a:p>
          <a:p>
            <a:pPr marL="537102" lvl="1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Address registers: </a:t>
            </a:r>
            <a:r>
              <a:rPr sz="1969" dirty="0">
                <a:solidFill>
                  <a:schemeClr val="tx1"/>
                </a:solidFill>
              </a:rPr>
              <a:t>1) segment 2) pointer and 3) index register</a:t>
            </a:r>
          </a:p>
          <a:p>
            <a:pPr marL="537102" lvl="1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Status Register: </a:t>
            </a:r>
            <a:r>
              <a:rPr sz="1969" dirty="0">
                <a:solidFill>
                  <a:schemeClr val="tx1"/>
                </a:solidFill>
              </a:rPr>
              <a:t>4) FLAGS Register</a:t>
            </a:r>
          </a:p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There are total fourteen 16-bit registers. </a:t>
            </a:r>
          </a:p>
          <a:p>
            <a:pPr algn="l" defTabSz="283418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 *** The good news is, we DO NOT need to memorize them at all. it will become familiar as we go on. :) </a:t>
            </a:r>
          </a:p>
        </p:txBody>
      </p:sp>
    </p:spTree>
    <p:extLst>
      <p:ext uri="{BB962C8B-B14F-4D97-AF65-F5344CB8AC3E}">
        <p14:creationId xmlns:p14="http://schemas.microsoft.com/office/powerpoint/2010/main" val="309377395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title"/>
          </p:nvPr>
        </p:nvSpPr>
        <p:spPr>
          <a:xfrm>
            <a:off x="562116" y="37156"/>
            <a:ext cx="8180048" cy="77293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73201">
              <a:defRPr sz="640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5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8086 </a:t>
            </a:r>
            <a:r>
              <a:rPr sz="4219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Registers</a:t>
            </a:r>
          </a:p>
        </p:txBody>
      </p:sp>
      <p:pic>
        <p:nvPicPr>
          <p:cNvPr id="64" name="image1.gif"/>
          <p:cNvPicPr/>
          <p:nvPr/>
        </p:nvPicPr>
        <p:blipFill>
          <a:blip r:embed="rId3"/>
          <a:stretch>
            <a:fillRect/>
          </a:stretch>
        </p:blipFill>
        <p:spPr>
          <a:xfrm>
            <a:off x="2493343" y="810088"/>
            <a:ext cx="6650657" cy="5954150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Shape 65"/>
          <p:cNvSpPr/>
          <p:nvPr/>
        </p:nvSpPr>
        <p:spPr>
          <a:xfrm>
            <a:off x="562117" y="1205622"/>
            <a:ext cx="2185787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  <a:latin typeface="+mj-lt"/>
              </a:rPr>
              <a:t>General Register</a:t>
            </a:r>
          </a:p>
        </p:txBody>
      </p:sp>
      <p:sp>
        <p:nvSpPr>
          <p:cNvPr id="66" name="Shape 66"/>
          <p:cNvSpPr/>
          <p:nvPr/>
        </p:nvSpPr>
        <p:spPr>
          <a:xfrm>
            <a:off x="562115" y="2765607"/>
            <a:ext cx="2185787" cy="76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 b="1" dirty="0">
                <a:solidFill>
                  <a:schemeClr val="tx1"/>
                </a:solidFill>
                <a:latin typeface="+mj-lt"/>
              </a:rPr>
              <a:t>Segment Register</a:t>
            </a:r>
          </a:p>
        </p:txBody>
      </p:sp>
      <p:sp>
        <p:nvSpPr>
          <p:cNvPr id="67" name="Shape 67"/>
          <p:cNvSpPr/>
          <p:nvPr/>
        </p:nvSpPr>
        <p:spPr>
          <a:xfrm>
            <a:off x="562114" y="4303171"/>
            <a:ext cx="2185787" cy="76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32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 b="1" dirty="0">
                <a:solidFill>
                  <a:schemeClr val="tx1"/>
                </a:solidFill>
                <a:latin typeface="+mj-lt"/>
              </a:rPr>
              <a:t>Pointer and Index Register</a:t>
            </a:r>
          </a:p>
        </p:txBody>
      </p:sp>
      <p:sp>
        <p:nvSpPr>
          <p:cNvPr id="68" name="Shape 68"/>
          <p:cNvSpPr/>
          <p:nvPr/>
        </p:nvSpPr>
        <p:spPr>
          <a:xfrm>
            <a:off x="408047" y="6139817"/>
            <a:ext cx="2185787" cy="418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30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 b="1" dirty="0">
                <a:solidFill>
                  <a:schemeClr val="tx1"/>
                </a:solidFill>
                <a:latin typeface="+mj-lt"/>
              </a:rPr>
              <a:t>FLAGS Register</a:t>
            </a:r>
          </a:p>
        </p:txBody>
      </p:sp>
      <p:sp>
        <p:nvSpPr>
          <p:cNvPr id="69" name="Shape 69"/>
          <p:cNvSpPr/>
          <p:nvPr/>
        </p:nvSpPr>
        <p:spPr>
          <a:xfrm>
            <a:off x="3199608" y="1290708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000">
                <a:solidFill>
                  <a:srgbClr val="720C04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Accumulator</a:t>
            </a:r>
          </a:p>
        </p:txBody>
      </p:sp>
      <p:sp>
        <p:nvSpPr>
          <p:cNvPr id="70" name="Shape 70"/>
          <p:cNvSpPr/>
          <p:nvPr/>
        </p:nvSpPr>
        <p:spPr>
          <a:xfrm>
            <a:off x="3199608" y="1629793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000">
                <a:solidFill>
                  <a:srgbClr val="720C04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Base</a:t>
            </a:r>
          </a:p>
        </p:txBody>
      </p:sp>
      <p:sp>
        <p:nvSpPr>
          <p:cNvPr id="71" name="Shape 71"/>
          <p:cNvSpPr/>
          <p:nvPr/>
        </p:nvSpPr>
        <p:spPr>
          <a:xfrm>
            <a:off x="3199608" y="2006570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000">
                <a:solidFill>
                  <a:srgbClr val="720C04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Counter</a:t>
            </a:r>
          </a:p>
        </p:txBody>
      </p:sp>
      <p:sp>
        <p:nvSpPr>
          <p:cNvPr id="72" name="Shape 72"/>
          <p:cNvSpPr/>
          <p:nvPr/>
        </p:nvSpPr>
        <p:spPr>
          <a:xfrm>
            <a:off x="3199608" y="2454444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000">
                <a:solidFill>
                  <a:srgbClr val="971817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3161001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title"/>
          </p:nvPr>
        </p:nvSpPr>
        <p:spPr>
          <a:xfrm>
            <a:off x="393895" y="259960"/>
            <a:ext cx="8539165" cy="802738"/>
          </a:xfrm>
          <a:prstGeom prst="rect">
            <a:avLst/>
          </a:prstGeom>
        </p:spPr>
        <p:txBody>
          <a:bodyPr>
            <a:normAutofit/>
          </a:bodyPr>
          <a:lstStyle>
            <a:lvl1pPr defTabSz="508254">
              <a:defRPr sz="690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AX: Accumulator Register</a:t>
            </a:r>
          </a:p>
        </p:txBody>
      </p:sp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585986" y="1272481"/>
            <a:ext cx="8347074" cy="5331023"/>
          </a:xfrm>
          <a:prstGeom prst="rect">
            <a:avLst/>
          </a:prstGeom>
        </p:spPr>
        <p:txBody>
          <a:bodyPr>
            <a:noAutofit/>
          </a:bodyPr>
          <a:lstStyle/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*** Address registers store addresses and instructions and data in memory.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Use of AX register generates shortest machine code.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Thus, AX is preferred register to use in </a:t>
            </a:r>
            <a:r>
              <a:rPr sz="2531" b="1" dirty="0">
                <a:solidFill>
                  <a:schemeClr val="tx1"/>
                </a:solidFill>
              </a:rPr>
              <a:t>arithmetic, logic</a:t>
            </a:r>
            <a:r>
              <a:rPr sz="2531" dirty="0">
                <a:solidFill>
                  <a:schemeClr val="tx1"/>
                </a:solidFill>
              </a:rPr>
              <a:t> and </a:t>
            </a:r>
            <a:r>
              <a:rPr sz="2531" b="1" dirty="0">
                <a:solidFill>
                  <a:schemeClr val="tx1"/>
                </a:solidFill>
              </a:rPr>
              <a:t>data transfer </a:t>
            </a:r>
            <a:r>
              <a:rPr sz="2531" dirty="0">
                <a:solidFill>
                  <a:schemeClr val="tx1"/>
                </a:solidFill>
              </a:rPr>
              <a:t>instructions.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In</a:t>
            </a:r>
            <a:r>
              <a:rPr lang="en-US" sz="2531" dirty="0">
                <a:solidFill>
                  <a:schemeClr val="tx1"/>
                </a:solidFill>
              </a:rPr>
              <a:t> </a:t>
            </a:r>
            <a:r>
              <a:rPr lang="en-US" sz="2531" b="1" dirty="0">
                <a:solidFill>
                  <a:schemeClr val="tx1"/>
                </a:solidFill>
              </a:rPr>
              <a:t>multiplication</a:t>
            </a:r>
            <a:r>
              <a:rPr sz="2531" b="1" dirty="0">
                <a:solidFill>
                  <a:schemeClr val="tx1"/>
                </a:solidFill>
              </a:rPr>
              <a:t> and </a:t>
            </a:r>
            <a:r>
              <a:rPr lang="en-US" sz="2531" b="1" dirty="0">
                <a:solidFill>
                  <a:schemeClr val="tx1"/>
                </a:solidFill>
              </a:rPr>
              <a:t>division</a:t>
            </a:r>
            <a:r>
              <a:rPr sz="2531" dirty="0">
                <a:solidFill>
                  <a:schemeClr val="tx1"/>
                </a:solidFill>
              </a:rPr>
              <a:t>, one of the numbers involved must be in AX or AL.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Input and Output also require the use of AL or AX</a:t>
            </a:r>
          </a:p>
        </p:txBody>
      </p:sp>
    </p:spTree>
    <p:extLst>
      <p:ext uri="{BB962C8B-B14F-4D97-AF65-F5344CB8AC3E}">
        <p14:creationId xmlns:p14="http://schemas.microsoft.com/office/powerpoint/2010/main" val="171543797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/>
          </p:cNvSpPr>
          <p:nvPr>
            <p:ph type="title"/>
          </p:nvPr>
        </p:nvSpPr>
        <p:spPr>
          <a:xfrm>
            <a:off x="260555" y="252409"/>
            <a:ext cx="8321712" cy="688238"/>
          </a:xfrm>
          <a:prstGeom prst="rect">
            <a:avLst/>
          </a:prstGeom>
        </p:spPr>
        <p:txBody>
          <a:bodyPr>
            <a:normAutofit/>
          </a:bodyPr>
          <a:lstStyle>
            <a:lvl1pPr defTabSz="420623">
              <a:defRPr sz="57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BX: Base Register</a:t>
            </a:r>
          </a:p>
        </p:txBody>
      </p:sp>
      <p:sp>
        <p:nvSpPr>
          <p:cNvPr id="78" name="Shape 78"/>
          <p:cNvSpPr>
            <a:spLocks noGrp="1"/>
          </p:cNvSpPr>
          <p:nvPr>
            <p:ph type="body" idx="1"/>
          </p:nvPr>
        </p:nvSpPr>
        <p:spPr>
          <a:xfrm>
            <a:off x="616149" y="1115935"/>
            <a:ext cx="7804549" cy="12015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606304" indent="-606304" algn="l" defTabSz="398428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BX also serves as an address register</a:t>
            </a:r>
          </a:p>
          <a:p>
            <a:pPr marL="606304" indent="-606304" algn="l" defTabSz="398428">
              <a:spcBef>
                <a:spcPts val="2812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    </a:t>
            </a:r>
            <a:r>
              <a:rPr sz="1969" dirty="0">
                <a:solidFill>
                  <a:schemeClr val="tx1"/>
                </a:solidFill>
              </a:rPr>
              <a:t>i.e. Table look-up instruction </a:t>
            </a:r>
            <a:r>
              <a:rPr lang="en-US" sz="1969" dirty="0">
                <a:solidFill>
                  <a:schemeClr val="tx1"/>
                </a:solidFill>
              </a:rPr>
              <a:t>(XLAT)</a:t>
            </a:r>
            <a:endParaRPr sz="1969" dirty="0">
              <a:solidFill>
                <a:schemeClr val="tx1"/>
              </a:solidFill>
            </a:endParaRPr>
          </a:p>
        </p:txBody>
      </p:sp>
      <p:sp>
        <p:nvSpPr>
          <p:cNvPr id="79" name="Shape 79"/>
          <p:cNvSpPr/>
          <p:nvPr/>
        </p:nvSpPr>
        <p:spPr>
          <a:xfrm>
            <a:off x="1974980" y="2426360"/>
            <a:ext cx="4892863" cy="688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20623">
              <a:defRPr sz="57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CX: Count Register</a:t>
            </a:r>
          </a:p>
        </p:txBody>
      </p:sp>
      <p:sp>
        <p:nvSpPr>
          <p:cNvPr id="80" name="Shape 80"/>
          <p:cNvSpPr/>
          <p:nvPr/>
        </p:nvSpPr>
        <p:spPr>
          <a:xfrm>
            <a:off x="616149" y="3188224"/>
            <a:ext cx="8294378" cy="149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marL="342218" indent="-342218" defTabSz="299848">
              <a:spcBef>
                <a:spcPts val="2109"/>
              </a:spcBef>
              <a:buSzPct val="100000"/>
              <a:buFont typeface="Wingdings" panose="05000000000000000000" pitchFamily="2" charset="2"/>
              <a:buChar char="Ø"/>
              <a:defRPr sz="1800"/>
            </a:pPr>
            <a:r>
              <a:rPr sz="1969" dirty="0">
                <a:latin typeface="+mj-lt"/>
              </a:rPr>
              <a:t>CX used as Program </a:t>
            </a:r>
            <a:r>
              <a:rPr sz="1969" b="1" dirty="0">
                <a:latin typeface="+mj-lt"/>
              </a:rPr>
              <a:t>Loop counter.</a:t>
            </a:r>
          </a:p>
          <a:p>
            <a:pPr marL="342218" indent="-342218" defTabSz="299848">
              <a:spcBef>
                <a:spcPts val="2109"/>
              </a:spcBef>
              <a:buSzPct val="100000"/>
              <a:buFont typeface="Wingdings" panose="05000000000000000000" pitchFamily="2" charset="2"/>
              <a:buChar char="Ø"/>
              <a:defRPr sz="1800"/>
            </a:pPr>
            <a:r>
              <a:rPr sz="1969" dirty="0">
                <a:latin typeface="+mj-lt"/>
              </a:rPr>
              <a:t>CX also used as a counter (REP-repeat) to control </a:t>
            </a:r>
            <a:r>
              <a:rPr sz="1969" b="1" dirty="0">
                <a:latin typeface="+mj-lt"/>
              </a:rPr>
              <a:t>string operations.</a:t>
            </a:r>
          </a:p>
          <a:p>
            <a:pPr marL="342218" indent="-342218" defTabSz="299848">
              <a:spcBef>
                <a:spcPts val="2109"/>
              </a:spcBef>
              <a:buSzPct val="100000"/>
              <a:buFont typeface="Wingdings" panose="05000000000000000000" pitchFamily="2" charset="2"/>
              <a:buChar char="Ø"/>
              <a:defRPr sz="1800"/>
            </a:pPr>
            <a:r>
              <a:rPr sz="1969" dirty="0">
                <a:latin typeface="+mj-lt"/>
              </a:rPr>
              <a:t>CL is used as count in </a:t>
            </a:r>
            <a:r>
              <a:rPr sz="1969" b="1" dirty="0">
                <a:latin typeface="+mj-lt"/>
              </a:rPr>
              <a:t>bit rotation and shifting instructions</a:t>
            </a:r>
          </a:p>
        </p:txBody>
      </p:sp>
      <p:sp>
        <p:nvSpPr>
          <p:cNvPr id="81" name="Shape 81"/>
          <p:cNvSpPr/>
          <p:nvPr/>
        </p:nvSpPr>
        <p:spPr>
          <a:xfrm>
            <a:off x="1974980" y="4862678"/>
            <a:ext cx="4892863" cy="688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20623">
              <a:defRPr sz="57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DX: Data Register</a:t>
            </a:r>
          </a:p>
        </p:txBody>
      </p:sp>
      <p:sp>
        <p:nvSpPr>
          <p:cNvPr id="82" name="Shape 82"/>
          <p:cNvSpPr/>
          <p:nvPr/>
        </p:nvSpPr>
        <p:spPr>
          <a:xfrm>
            <a:off x="616149" y="5558168"/>
            <a:ext cx="8294378" cy="95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marL="938388" indent="-938388" algn="l">
              <a:spcBef>
                <a:spcPts val="4200"/>
              </a:spcBef>
              <a:buClr>
                <a:srgbClr val="FFFFFF"/>
              </a:buClr>
              <a:buSzPct val="75000"/>
              <a:buChar char="•"/>
              <a:defRPr sz="3800">
                <a:solidFill>
                  <a:srgbClr val="FFFFFF"/>
                </a:solidFill>
              </a:defRPr>
            </a:lvl1pPr>
          </a:lstStyle>
          <a:p>
            <a:pPr lvl="0">
              <a:buClrTx/>
              <a:buSzPct val="100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  <a:latin typeface="+mj-lt"/>
              </a:rPr>
              <a:t>DX is used in </a:t>
            </a:r>
            <a:r>
              <a:rPr lang="en-US" sz="1969" b="1" dirty="0">
                <a:solidFill>
                  <a:schemeClr val="tx1"/>
                </a:solidFill>
                <a:latin typeface="+mj-lt"/>
              </a:rPr>
              <a:t>m</a:t>
            </a:r>
            <a:r>
              <a:rPr sz="1969" b="1" dirty="0">
                <a:solidFill>
                  <a:schemeClr val="tx1"/>
                </a:solidFill>
                <a:latin typeface="+mj-lt"/>
              </a:rPr>
              <a:t>ultiplication, division and I/O operations</a:t>
            </a:r>
          </a:p>
        </p:txBody>
      </p:sp>
    </p:spTree>
    <p:extLst>
      <p:ext uri="{BB962C8B-B14F-4D97-AF65-F5344CB8AC3E}">
        <p14:creationId xmlns:p14="http://schemas.microsoft.com/office/powerpoint/2010/main" val="42555478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title"/>
          </p:nvPr>
        </p:nvSpPr>
        <p:spPr>
          <a:xfrm>
            <a:off x="87179" y="1061800"/>
            <a:ext cx="9056822" cy="904472"/>
          </a:xfrm>
          <a:prstGeom prst="rect">
            <a:avLst/>
          </a:prstGeom>
        </p:spPr>
        <p:txBody>
          <a:bodyPr>
            <a:normAutofit/>
          </a:bodyPr>
          <a:lstStyle>
            <a:lvl1pPr defTabSz="560831">
              <a:defRPr sz="7679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00" b="1" dirty="0">
                <a:solidFill>
                  <a:schemeClr val="accent3">
                    <a:lumMod val="75000"/>
                  </a:schemeClr>
                </a:solidFill>
              </a:rPr>
              <a:t>Memory Recall</a:t>
            </a:r>
          </a:p>
        </p:txBody>
      </p:sp>
      <p:sp>
        <p:nvSpPr>
          <p:cNvPr id="85" name="Shape 85"/>
          <p:cNvSpPr>
            <a:spLocks noGrp="1"/>
          </p:cNvSpPr>
          <p:nvPr>
            <p:ph type="body" idx="1"/>
          </p:nvPr>
        </p:nvSpPr>
        <p:spPr>
          <a:xfrm>
            <a:off x="408949" y="2836236"/>
            <a:ext cx="8413279" cy="1557171"/>
          </a:xfrm>
          <a:prstGeom prst="rect">
            <a:avLst/>
          </a:prstGeom>
        </p:spPr>
        <p:txBody>
          <a:bodyPr/>
          <a:lstStyle/>
          <a:p>
            <a:pPr marL="401822" indent="-401822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List One special function of AX, BX, CX, and DX</a:t>
            </a:r>
          </a:p>
        </p:txBody>
      </p:sp>
    </p:spTree>
    <p:extLst>
      <p:ext uri="{BB962C8B-B14F-4D97-AF65-F5344CB8AC3E}">
        <p14:creationId xmlns:p14="http://schemas.microsoft.com/office/powerpoint/2010/main" val="210395945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title"/>
          </p:nvPr>
        </p:nvSpPr>
        <p:spPr>
          <a:xfrm>
            <a:off x="334863" y="258962"/>
            <a:ext cx="8474273" cy="735397"/>
          </a:xfrm>
          <a:prstGeom prst="rect">
            <a:avLst/>
          </a:prstGeom>
        </p:spPr>
        <p:txBody>
          <a:bodyPr/>
          <a:lstStyle>
            <a:lvl1pPr defTabSz="391413">
              <a:defRPr sz="5300"/>
            </a:lvl1pPr>
          </a:lstStyle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Segment Registers: CS,DS,SS,ES</a:t>
            </a:r>
          </a:p>
        </p:txBody>
      </p:sp>
      <p:sp>
        <p:nvSpPr>
          <p:cNvPr id="88" name="Shape 88"/>
          <p:cNvSpPr>
            <a:spLocks noGrp="1"/>
          </p:cNvSpPr>
          <p:nvPr>
            <p:ph type="body" idx="1"/>
          </p:nvPr>
        </p:nvSpPr>
        <p:spPr>
          <a:xfrm>
            <a:off x="750093" y="994359"/>
            <a:ext cx="8097786" cy="2414876"/>
          </a:xfrm>
          <a:prstGeom prst="rect">
            <a:avLst/>
          </a:prstGeom>
        </p:spPr>
        <p:txBody>
          <a:bodyPr/>
          <a:lstStyle/>
          <a:p>
            <a:pPr marL="472264" indent="-472264" algn="l" defTabSz="349138">
              <a:spcBef>
                <a:spcPts val="2461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tx1"/>
                </a:solidFill>
              </a:rPr>
              <a:t>Memory is a collection of bytes.</a:t>
            </a:r>
          </a:p>
          <a:p>
            <a:pPr marL="472264" indent="-472264" algn="l" defTabSz="349138">
              <a:spcBef>
                <a:spcPts val="2461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tx1"/>
                </a:solidFill>
              </a:rPr>
              <a:t>Each memory bytes has an address starting with 0.</a:t>
            </a:r>
          </a:p>
          <a:p>
            <a:pPr marL="472264" indent="-472264" algn="l" defTabSz="349138">
              <a:spcBef>
                <a:spcPts val="2461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tx1"/>
                </a:solidFill>
              </a:rPr>
              <a:t>The 8086 assigns 20-bit physical address to its memory location.[i.e. we can address 2^20(1MB) of memory]. Thus the first byte of the memory addresses:</a:t>
            </a:r>
          </a:p>
        </p:txBody>
      </p:sp>
      <p:graphicFrame>
        <p:nvGraphicFramePr>
          <p:cNvPr id="89" name="Table 89"/>
          <p:cNvGraphicFramePr/>
          <p:nvPr>
            <p:extLst>
              <p:ext uri="{D42A27DB-BD31-4B8C-83A1-F6EECF244321}">
                <p14:modId xmlns:p14="http://schemas.microsoft.com/office/powerpoint/2010/main" val="3351614564"/>
              </p:ext>
            </p:extLst>
          </p:nvPr>
        </p:nvGraphicFramePr>
        <p:xfrm>
          <a:off x="1119559" y="3713493"/>
          <a:ext cx="6985946" cy="251226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85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479"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Binary representation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Hex Representation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300" b="1"/>
                        <a:t>	0000 0000 0000 0000 0000 </a:t>
                      </a:r>
                      <a:endParaRPr sz="23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00000h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300" b="1"/>
                        <a:t>	0000 0000 0000 0000 0001</a:t>
                      </a:r>
                      <a:endParaRPr sz="23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00001h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	0000 0000 0000 0000 0010</a:t>
                      </a:r>
                      <a:endParaRPr sz="23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</a:t>
                      </a:r>
                      <a:r>
                        <a:rPr lang="en-US" sz="2000" b="1" dirty="0"/>
                        <a:t>02</a:t>
                      </a:r>
                      <a:r>
                        <a:rPr sz="2000" b="1" dirty="0"/>
                        <a:t>h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300" b="1"/>
                        <a:t>	0000 0000 0000 0000 0011</a:t>
                      </a:r>
                      <a:endParaRPr sz="23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</a:t>
                      </a:r>
                      <a:r>
                        <a:rPr lang="en-US" sz="2000" b="1" dirty="0"/>
                        <a:t>03</a:t>
                      </a:r>
                      <a:r>
                        <a:rPr sz="2000" b="1" dirty="0"/>
                        <a:t>h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	0000 0000 0000 0000 0100</a:t>
                      </a:r>
                      <a:endParaRPr sz="23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</a:t>
                      </a:r>
                      <a:r>
                        <a:rPr lang="en-US" sz="2000" b="1" dirty="0"/>
                        <a:t>004</a:t>
                      </a:r>
                      <a:r>
                        <a:rPr sz="2000" b="1" dirty="0"/>
                        <a:t>h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Shape 90"/>
          <p:cNvSpPr/>
          <p:nvPr/>
        </p:nvSpPr>
        <p:spPr>
          <a:xfrm>
            <a:off x="750094" y="6307276"/>
            <a:ext cx="81435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  <a:latin typeface="+mj-lt"/>
              </a:rPr>
              <a:t>***</a:t>
            </a:r>
            <a:r>
              <a:rPr lang="en-US" sz="1969" dirty="0">
                <a:solidFill>
                  <a:schemeClr val="tx1"/>
                </a:solidFill>
                <a:latin typeface="+mj-lt"/>
              </a:rPr>
              <a:t>S</a:t>
            </a:r>
            <a:r>
              <a:rPr sz="1969" dirty="0">
                <a:solidFill>
                  <a:schemeClr val="tx1"/>
                </a:solidFill>
                <a:latin typeface="+mj-lt"/>
              </a:rPr>
              <a:t>o what will be the highest address of 20-bit memory address? </a:t>
            </a:r>
          </a:p>
        </p:txBody>
      </p:sp>
    </p:spTree>
    <p:extLst>
      <p:ext uri="{BB962C8B-B14F-4D97-AF65-F5344CB8AC3E}">
        <p14:creationId xmlns:p14="http://schemas.microsoft.com/office/powerpoint/2010/main" val="16018911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title"/>
          </p:nvPr>
        </p:nvSpPr>
        <p:spPr>
          <a:xfrm>
            <a:off x="389349" y="257565"/>
            <a:ext cx="8365301" cy="652427"/>
          </a:xfrm>
          <a:prstGeom prst="rect">
            <a:avLst/>
          </a:prstGeom>
        </p:spPr>
        <p:txBody>
          <a:bodyPr/>
          <a:lstStyle>
            <a:lvl1pPr defTabSz="332992">
              <a:defRPr sz="4500"/>
            </a:lvl1pPr>
          </a:lstStyle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lang="en-US" sz="3164" b="1" dirty="0">
                <a:solidFill>
                  <a:srgbClr val="FFFFFF"/>
                </a:solidFill>
              </a:rPr>
              <a:t> </a:t>
            </a:r>
            <a:r>
              <a:rPr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Using 20-bit </a:t>
            </a:r>
            <a:r>
              <a:rPr lang="en-US"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</a:t>
            </a:r>
            <a:r>
              <a:rPr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ddress in 16</a:t>
            </a:r>
            <a:r>
              <a:rPr lang="en-US"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-</a:t>
            </a:r>
            <a:r>
              <a:rPr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bit </a:t>
            </a:r>
            <a:r>
              <a:rPr lang="en-US"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</a:t>
            </a:r>
            <a:r>
              <a:rPr sz="316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rocessor</a:t>
            </a:r>
          </a:p>
        </p:txBody>
      </p:sp>
      <p:sp>
        <p:nvSpPr>
          <p:cNvPr id="93" name="Shape 93"/>
          <p:cNvSpPr>
            <a:spLocks noGrp="1"/>
          </p:cNvSpPr>
          <p:nvPr>
            <p:ph type="body" idx="1"/>
          </p:nvPr>
        </p:nvSpPr>
        <p:spPr>
          <a:xfrm>
            <a:off x="713444" y="1064445"/>
            <a:ext cx="8430556" cy="553599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To explain segment register’s function, lets have a look on the idea of memory segments.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How can we fit 20</a:t>
            </a:r>
            <a:r>
              <a:rPr lang="en-US" sz="1687" dirty="0">
                <a:solidFill>
                  <a:schemeClr val="tx1"/>
                </a:solidFill>
              </a:rPr>
              <a:t>-</a:t>
            </a:r>
            <a:r>
              <a:rPr sz="1687" dirty="0">
                <a:solidFill>
                  <a:schemeClr val="tx1"/>
                </a:solidFill>
              </a:rPr>
              <a:t>bit address into 16</a:t>
            </a:r>
            <a:r>
              <a:rPr lang="en-US" sz="1687" dirty="0">
                <a:solidFill>
                  <a:schemeClr val="tx1"/>
                </a:solidFill>
              </a:rPr>
              <a:t>-</a:t>
            </a:r>
            <a:r>
              <a:rPr sz="1687" dirty="0">
                <a:solidFill>
                  <a:schemeClr val="tx1"/>
                </a:solidFill>
              </a:rPr>
              <a:t>bit register?</a:t>
            </a:r>
          </a:p>
          <a:p>
            <a:pPr algn="l" defTabSz="254666">
              <a:spcBef>
                <a:spcPts val="1828"/>
              </a:spcBef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				Memory Partitioning into segments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A memory segment is a block of 2^16(64KB) consecutive memory bytes.</a:t>
            </a:r>
          </a:p>
          <a:p>
            <a:pPr marL="241093" indent="-241093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Each segment is identified by segment number.[starts with 0]</a:t>
            </a:r>
          </a:p>
          <a:p>
            <a:pPr marL="241093" indent="-241093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A </a:t>
            </a:r>
            <a:r>
              <a:rPr sz="1687" b="1" dirty="0">
                <a:solidFill>
                  <a:schemeClr val="tx1"/>
                </a:solidFill>
              </a:rPr>
              <a:t>segment </a:t>
            </a:r>
            <a:r>
              <a:rPr sz="1687" dirty="0">
                <a:solidFill>
                  <a:schemeClr val="tx1"/>
                </a:solidFill>
              </a:rPr>
              <a:t>number is 16-bit [thus, highest value </a:t>
            </a:r>
            <a:r>
              <a:rPr sz="1687" dirty="0" err="1">
                <a:solidFill>
                  <a:schemeClr val="tx1"/>
                </a:solidFill>
              </a:rPr>
              <a:t>FFFFh</a:t>
            </a:r>
            <a:r>
              <a:rPr sz="1687" dirty="0">
                <a:solidFill>
                  <a:schemeClr val="tx1"/>
                </a:solidFill>
              </a:rPr>
              <a:t>].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Within a segment, a memory location is specified by giving an offset.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Offset: </a:t>
            </a:r>
            <a:r>
              <a:rPr sz="1687" dirty="0">
                <a:solidFill>
                  <a:schemeClr val="tx1"/>
                </a:solidFill>
              </a:rPr>
              <a:t>Number of bytes from the beginning of segment.</a:t>
            </a:r>
          </a:p>
          <a:p>
            <a:pPr marL="441358" lvl="1" indent="-247591" algn="l" defTabSz="254666">
              <a:spcBef>
                <a:spcPts val="1828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687" dirty="0">
                <a:solidFill>
                  <a:schemeClr val="tx1"/>
                </a:solidFill>
              </a:rPr>
              <a:t>                </a:t>
            </a:r>
            <a:r>
              <a:rPr sz="1687" dirty="0">
                <a:solidFill>
                  <a:schemeClr val="tx1"/>
                </a:solidFill>
              </a:rPr>
              <a:t>i.e.</a:t>
            </a:r>
            <a:r>
              <a:rPr lang="en-US" sz="1687" dirty="0">
                <a:solidFill>
                  <a:schemeClr val="tx1"/>
                </a:solidFill>
              </a:rPr>
              <a:t>,</a:t>
            </a:r>
            <a:r>
              <a:rPr sz="1687" dirty="0">
                <a:solidFill>
                  <a:schemeClr val="tx1"/>
                </a:solidFill>
              </a:rPr>
              <a:t> for a 64KB segment, the offset can be given as16-bit number.</a:t>
            </a:r>
          </a:p>
          <a:p>
            <a:pPr marL="515225" lvl="1" indent="-321457" algn="l" defTabSz="254666">
              <a:spcBef>
                <a:spcPts val="1828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The first byte in a segment has offset 0000h.</a:t>
            </a:r>
          </a:p>
          <a:p>
            <a:pPr marL="441358" lvl="1" indent="-247591" algn="l" defTabSz="254666">
              <a:spcBef>
                <a:spcPts val="1828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1687" b="1" dirty="0">
                <a:solidFill>
                  <a:schemeClr val="tx1"/>
                </a:solidFill>
              </a:rPr>
              <a:t>T</a:t>
            </a:r>
            <a:r>
              <a:rPr sz="1687" b="1" dirty="0">
                <a:solidFill>
                  <a:schemeClr val="tx1"/>
                </a:solidFill>
              </a:rPr>
              <a:t>he Last byte in a segment has offset </a:t>
            </a:r>
            <a:r>
              <a:rPr sz="1687" b="1" dirty="0" err="1">
                <a:solidFill>
                  <a:schemeClr val="tx1"/>
                </a:solidFill>
              </a:rPr>
              <a:t>FFFFh</a:t>
            </a:r>
            <a:endParaRPr sz="1687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48042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/>
          </p:cNvSpPr>
          <p:nvPr>
            <p:ph type="title"/>
          </p:nvPr>
        </p:nvSpPr>
        <p:spPr>
          <a:xfrm>
            <a:off x="437555" y="434578"/>
            <a:ext cx="8268891" cy="7261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38150">
              <a:defRPr sz="60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219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Segment</a:t>
            </a:r>
            <a:r>
              <a:rPr lang="en-US" sz="4219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sz="4219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:</a:t>
            </a:r>
            <a:r>
              <a:rPr lang="en-US" sz="4219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O</a:t>
            </a:r>
            <a:r>
              <a:rPr sz="4219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ffset address</a:t>
            </a:r>
          </a:p>
        </p:txBody>
      </p:sp>
      <p:sp>
        <p:nvSpPr>
          <p:cNvPr id="96" name="Shape 96"/>
          <p:cNvSpPr>
            <a:spLocks noGrp="1"/>
          </p:cNvSpPr>
          <p:nvPr>
            <p:ph type="body" idx="1"/>
          </p:nvPr>
        </p:nvSpPr>
        <p:spPr>
          <a:xfrm>
            <a:off x="437555" y="1674216"/>
            <a:ext cx="8733236" cy="388928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659781" indent="-659781" algn="l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A memory segment may be specified by providing a segment number and an offset.</a:t>
            </a:r>
          </a:p>
          <a:p>
            <a:pPr marL="659781" indent="-659781" algn="l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Memory segment is written in the form of segment</a:t>
            </a:r>
            <a:r>
              <a:rPr lang="en-US" sz="2672" dirty="0">
                <a:solidFill>
                  <a:schemeClr val="tx1"/>
                </a:solidFill>
              </a:rPr>
              <a:t> </a:t>
            </a:r>
            <a:r>
              <a:rPr sz="2672" dirty="0">
                <a:solidFill>
                  <a:schemeClr val="tx1"/>
                </a:solidFill>
              </a:rPr>
              <a:t>:</a:t>
            </a:r>
            <a:r>
              <a:rPr lang="en-US" sz="2672" dirty="0">
                <a:solidFill>
                  <a:schemeClr val="tx1"/>
                </a:solidFill>
              </a:rPr>
              <a:t> </a:t>
            </a:r>
            <a:r>
              <a:rPr sz="2672" dirty="0">
                <a:solidFill>
                  <a:schemeClr val="tx1"/>
                </a:solidFill>
              </a:rPr>
              <a:t>offset.</a:t>
            </a:r>
            <a:endParaRPr lang="en-US" sz="2672" dirty="0">
              <a:solidFill>
                <a:schemeClr val="tx1"/>
              </a:solidFill>
            </a:endParaRPr>
          </a:p>
          <a:p>
            <a:pPr marL="659781" indent="-659781" algn="l">
              <a:buClr>
                <a:srgbClr val="FFFFFF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sz="2672" dirty="0">
              <a:solidFill>
                <a:schemeClr val="tx1"/>
              </a:solidFill>
            </a:endParaRPr>
          </a:p>
          <a:p>
            <a:pPr marL="659781" indent="-659781" algn="l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The representation of</a:t>
            </a:r>
            <a:r>
              <a:rPr sz="2672" b="1" dirty="0">
                <a:solidFill>
                  <a:schemeClr val="tx1"/>
                </a:solidFill>
              </a:rPr>
              <a:t> segment</a:t>
            </a:r>
            <a:r>
              <a:rPr lang="en-US" sz="2672" b="1" dirty="0">
                <a:solidFill>
                  <a:schemeClr val="tx1"/>
                </a:solidFill>
              </a:rPr>
              <a:t> </a:t>
            </a:r>
            <a:r>
              <a:rPr sz="2672" b="1" dirty="0">
                <a:solidFill>
                  <a:schemeClr val="tx1"/>
                </a:solidFill>
              </a:rPr>
              <a:t>:</a:t>
            </a:r>
            <a:r>
              <a:rPr lang="en-US" sz="2672" b="1" dirty="0">
                <a:solidFill>
                  <a:schemeClr val="tx1"/>
                </a:solidFill>
              </a:rPr>
              <a:t> </a:t>
            </a:r>
            <a:r>
              <a:rPr sz="2672" b="1" dirty="0">
                <a:solidFill>
                  <a:schemeClr val="tx1"/>
                </a:solidFill>
              </a:rPr>
              <a:t>offset </a:t>
            </a:r>
            <a:r>
              <a:rPr sz="2672" dirty="0">
                <a:solidFill>
                  <a:schemeClr val="tx1"/>
                </a:solidFill>
              </a:rPr>
              <a:t>is known as logical address.</a:t>
            </a:r>
          </a:p>
          <a:p>
            <a:pPr marL="312528" lvl="1" algn="l"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2672" dirty="0">
                <a:solidFill>
                  <a:schemeClr val="tx1"/>
                </a:solidFill>
              </a:rPr>
              <a:t>	</a:t>
            </a:r>
            <a:r>
              <a:rPr sz="2672" dirty="0">
                <a:solidFill>
                  <a:schemeClr val="tx1"/>
                </a:solidFill>
              </a:rPr>
              <a:t>e.g.</a:t>
            </a:r>
            <a:r>
              <a:rPr lang="en-US" sz="2672" dirty="0">
                <a:solidFill>
                  <a:schemeClr val="tx1"/>
                </a:solidFill>
              </a:rPr>
              <a:t>,</a:t>
            </a:r>
            <a:r>
              <a:rPr sz="2672" dirty="0">
                <a:solidFill>
                  <a:schemeClr val="tx1"/>
                </a:solidFill>
              </a:rPr>
              <a:t> </a:t>
            </a:r>
            <a:r>
              <a:rPr sz="2672" b="1" dirty="0">
                <a:solidFill>
                  <a:schemeClr val="tx1"/>
                </a:solidFill>
              </a:rPr>
              <a:t>A4FB:4872h </a:t>
            </a:r>
            <a:r>
              <a:rPr sz="2672" dirty="0">
                <a:solidFill>
                  <a:schemeClr val="tx1"/>
                </a:solidFill>
              </a:rPr>
              <a:t>means </a:t>
            </a:r>
            <a:endParaRPr lang="en-US" sz="2672" dirty="0">
              <a:solidFill>
                <a:schemeClr val="tx1"/>
              </a:solidFill>
            </a:endParaRPr>
          </a:p>
          <a:p>
            <a:pPr marL="312528" lvl="1" algn="l"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2672" dirty="0">
                <a:solidFill>
                  <a:schemeClr val="tx1"/>
                </a:solidFill>
              </a:rPr>
              <a:t>             </a:t>
            </a:r>
            <a:r>
              <a:rPr sz="2672" dirty="0">
                <a:solidFill>
                  <a:schemeClr val="tx1"/>
                </a:solidFill>
              </a:rPr>
              <a:t>offset 4872h within </a:t>
            </a:r>
            <a:endParaRPr lang="en-US" sz="2672" dirty="0">
              <a:solidFill>
                <a:schemeClr val="tx1"/>
              </a:solidFill>
            </a:endParaRPr>
          </a:p>
          <a:p>
            <a:pPr marL="312528" lvl="1" algn="l"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2672" dirty="0">
                <a:solidFill>
                  <a:schemeClr val="tx1"/>
                </a:solidFill>
              </a:rPr>
              <a:t>            </a:t>
            </a:r>
            <a:r>
              <a:rPr sz="2672" dirty="0">
                <a:solidFill>
                  <a:schemeClr val="tx1"/>
                </a:solidFill>
              </a:rPr>
              <a:t>segment A4FBh</a:t>
            </a:r>
          </a:p>
        </p:txBody>
      </p:sp>
    </p:spTree>
    <p:extLst>
      <p:ext uri="{BB962C8B-B14F-4D97-AF65-F5344CB8AC3E}">
        <p14:creationId xmlns:p14="http://schemas.microsoft.com/office/powerpoint/2010/main" val="245382251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/>
          </p:cNvSpPr>
          <p:nvPr>
            <p:ph type="title"/>
          </p:nvPr>
        </p:nvSpPr>
        <p:spPr>
          <a:xfrm>
            <a:off x="75746" y="312539"/>
            <a:ext cx="8860530" cy="102138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315468">
              <a:defRPr sz="43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09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How to obtain 20-bit physical address in</a:t>
            </a:r>
            <a:br>
              <a:rPr lang="en-US" sz="309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sz="3094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a 16-bit microprocessor?</a:t>
            </a:r>
          </a:p>
        </p:txBody>
      </p:sp>
      <p:sp>
        <p:nvSpPr>
          <p:cNvPr id="99" name="Shape 99"/>
          <p:cNvSpPr>
            <a:spLocks noGrp="1"/>
          </p:cNvSpPr>
          <p:nvPr>
            <p:ph type="body" idx="1"/>
          </p:nvPr>
        </p:nvSpPr>
        <p:spPr>
          <a:xfrm>
            <a:off x="308074" y="1493831"/>
            <a:ext cx="9012022" cy="50953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89355" indent="-789355" algn="l" defTabSz="369675">
              <a:spcBef>
                <a:spcPts val="2601"/>
              </a:spcBef>
              <a:buClrTx/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The 8086 shifts the segment address 4-bits to the left [i.e. multiply by 10h].</a:t>
            </a:r>
            <a:endParaRPr lang="en-US" sz="2391" dirty="0">
              <a:solidFill>
                <a:schemeClr val="tx1"/>
              </a:solidFill>
            </a:endParaRPr>
          </a:p>
          <a:p>
            <a:pPr marL="789355" indent="-789355" algn="l" defTabSz="369675">
              <a:spcBef>
                <a:spcPts val="2601"/>
              </a:spcBef>
              <a:buClrTx/>
              <a:buSzPct val="100000"/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Add the offset address to the segment address.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		</a:t>
            </a:r>
            <a:r>
              <a:rPr sz="2391" b="1" dirty="0">
                <a:solidFill>
                  <a:schemeClr val="tx1"/>
                </a:solidFill>
              </a:rPr>
              <a:t>i.e. to get the 20-bit physical address from A4FB:4872h</a:t>
            </a:r>
            <a:r>
              <a:rPr sz="2391" dirty="0">
                <a:solidFill>
                  <a:schemeClr val="tx1"/>
                </a:solidFill>
              </a:rPr>
              <a:t>, 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						</a:t>
            </a:r>
            <a:r>
              <a:rPr sz="2391" b="1" dirty="0">
                <a:solidFill>
                  <a:schemeClr val="tx1"/>
                </a:solidFill>
              </a:rPr>
              <a:t>	A4FB0h [multiplied segment with 10]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b="1" dirty="0">
                <a:solidFill>
                  <a:schemeClr val="tx1"/>
                </a:solidFill>
              </a:rPr>
              <a:t>							</a:t>
            </a:r>
            <a:r>
              <a:rPr lang="en-US" sz="2391" b="1" dirty="0">
                <a:solidFill>
                  <a:schemeClr val="tx1"/>
                </a:solidFill>
              </a:rPr>
              <a:t> </a:t>
            </a:r>
            <a:r>
              <a:rPr sz="2391" b="1" dirty="0">
                <a:solidFill>
                  <a:schemeClr val="tx1"/>
                </a:solidFill>
              </a:rPr>
              <a:t>  4872h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						</a:t>
            </a:r>
            <a:r>
              <a:rPr sz="2391" b="1" dirty="0">
                <a:solidFill>
                  <a:schemeClr val="tx1"/>
                </a:solidFill>
              </a:rPr>
              <a:t>	A9822h [20-bit physical address]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41611E-B772-F086-35E2-FA32AB4590D8}"/>
              </a:ext>
            </a:extLst>
          </p:cNvPr>
          <p:cNvCxnSpPr/>
          <p:nvPr/>
        </p:nvCxnSpPr>
        <p:spPr>
          <a:xfrm>
            <a:off x="2574388" y="5120640"/>
            <a:ext cx="1997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49628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title"/>
          </p:nvPr>
        </p:nvSpPr>
        <p:spPr>
          <a:xfrm>
            <a:off x="566884" y="1007314"/>
            <a:ext cx="7804547" cy="70718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5133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Task</a:t>
            </a:r>
            <a:r>
              <a:rPr sz="4219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idx="1"/>
          </p:nvPr>
        </p:nvSpPr>
        <p:spPr>
          <a:xfrm>
            <a:off x="803218" y="2146303"/>
            <a:ext cx="7804547" cy="4420195"/>
          </a:xfrm>
          <a:prstGeom prst="rect">
            <a:avLst/>
          </a:prstGeom>
        </p:spPr>
        <p:txBody>
          <a:bodyPr/>
          <a:lstStyle>
            <a:lvl1pPr marL="938388" indent="-938388">
              <a:buClr>
                <a:srgbClr val="FFFFFF"/>
              </a:buClr>
            </a:lvl1pPr>
          </a:lstStyle>
          <a:p>
            <a:pPr lvl="0" algn="l"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Find the 20-bit address of ABC4:12BAh?</a:t>
            </a:r>
          </a:p>
        </p:txBody>
      </p:sp>
    </p:spTree>
    <p:extLst>
      <p:ext uri="{BB962C8B-B14F-4D97-AF65-F5344CB8AC3E}">
        <p14:creationId xmlns:p14="http://schemas.microsoft.com/office/powerpoint/2010/main" val="22958980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title"/>
          </p:nvPr>
        </p:nvSpPr>
        <p:spPr>
          <a:xfrm>
            <a:off x="214313" y="131897"/>
            <a:ext cx="8474273" cy="809580"/>
          </a:xfrm>
          <a:prstGeom prst="rect">
            <a:avLst/>
          </a:prstGeom>
        </p:spPr>
        <p:txBody>
          <a:bodyPr>
            <a:normAutofit/>
          </a:bodyPr>
          <a:lstStyle>
            <a:lvl1pPr defTabSz="496569">
              <a:defRPr sz="68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Location of Segments</a:t>
            </a:r>
          </a:p>
        </p:txBody>
      </p:sp>
      <p:sp>
        <p:nvSpPr>
          <p:cNvPr id="105" name="Shape 105"/>
          <p:cNvSpPr>
            <a:spLocks noGrp="1"/>
          </p:cNvSpPr>
          <p:nvPr>
            <p:ph type="body" idx="1"/>
          </p:nvPr>
        </p:nvSpPr>
        <p:spPr>
          <a:xfrm>
            <a:off x="655651" y="1008449"/>
            <a:ext cx="8354404" cy="5689143"/>
          </a:xfrm>
          <a:prstGeom prst="rect">
            <a:avLst/>
          </a:prstGeom>
        </p:spPr>
        <p:txBody>
          <a:bodyPr/>
          <a:lstStyle/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Segment 0 starts at address 0000:0000h=00000h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nds at 0000:FFFFh=0FFFFh.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Segment 1 starts at address 0001:0000h=00010h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nds at 0001:FFFFh=1000Fh.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Segment </a:t>
            </a:r>
            <a:r>
              <a:rPr lang="en-US" sz="1969" dirty="0">
                <a:solidFill>
                  <a:schemeClr val="tx1"/>
                </a:solidFill>
              </a:rPr>
              <a:t>10 (16)</a:t>
            </a:r>
            <a:r>
              <a:rPr sz="1969" dirty="0">
                <a:solidFill>
                  <a:schemeClr val="tx1"/>
                </a:solidFill>
              </a:rPr>
              <a:t> starts at address 0010:0000h=00100h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nds at 0010:FFFFh=100FFh.</a:t>
            </a:r>
          </a:p>
          <a:p>
            <a:pPr marL="401822" indent="-401822" algn="l" defTabSz="308063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Observations:</a:t>
            </a:r>
            <a:endParaRPr lang="en-US" sz="2531" b="1" dirty="0">
              <a:solidFill>
                <a:schemeClr val="tx1"/>
              </a:solidFill>
            </a:endParaRPr>
          </a:p>
          <a:p>
            <a:pPr marL="321457" indent="-321457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segments start at every 10h =16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bytes</a:t>
            </a:r>
            <a:endParaRPr lang="en-US" sz="1969" dirty="0">
              <a:solidFill>
                <a:schemeClr val="tx1"/>
              </a:solidFill>
            </a:endParaRPr>
          </a:p>
          <a:p>
            <a:pPr marL="321457" indent="-321457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starting address of a segment always ends with 0h.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We call 16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bytes a paragraph.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An address divisible by 16 (ends with hex 0 ) is called a </a:t>
            </a:r>
            <a:r>
              <a:rPr sz="1969" b="1" dirty="0">
                <a:solidFill>
                  <a:schemeClr val="tx1"/>
                </a:solidFill>
              </a:rPr>
              <a:t>paragraph boundary.</a:t>
            </a:r>
          </a:p>
        </p:txBody>
      </p:sp>
    </p:spTree>
    <p:extLst>
      <p:ext uri="{BB962C8B-B14F-4D97-AF65-F5344CB8AC3E}">
        <p14:creationId xmlns:p14="http://schemas.microsoft.com/office/powerpoint/2010/main" val="256228931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/>
          </p:cNvSpPr>
          <p:nvPr>
            <p:ph type="title"/>
          </p:nvPr>
        </p:nvSpPr>
        <p:spPr>
          <a:xfrm>
            <a:off x="276820" y="125015"/>
            <a:ext cx="8289020" cy="880180"/>
          </a:xfrm>
          <a:prstGeom prst="rect">
            <a:avLst/>
          </a:prstGeom>
        </p:spPr>
        <p:txBody>
          <a:bodyPr>
            <a:normAutofit/>
          </a:bodyPr>
          <a:lstStyle>
            <a:lvl1pPr defTabSz="554990">
              <a:defRPr sz="76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Example-1</a:t>
            </a:r>
          </a:p>
        </p:txBody>
      </p:sp>
      <p:sp>
        <p:nvSpPr>
          <p:cNvPr id="108" name="Shape 108"/>
          <p:cNvSpPr>
            <a:spLocks noGrp="1"/>
          </p:cNvSpPr>
          <p:nvPr>
            <p:ph type="body" idx="1"/>
          </p:nvPr>
        </p:nvSpPr>
        <p:spPr>
          <a:xfrm>
            <a:off x="404625" y="1005195"/>
            <a:ext cx="8739375" cy="5495712"/>
          </a:xfrm>
          <a:prstGeom prst="rect">
            <a:avLst/>
          </a:prstGeom>
        </p:spPr>
        <p:txBody>
          <a:bodyPr/>
          <a:lstStyle/>
          <a:p>
            <a:pPr marL="369477" indent="-36947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Physical address of a memory location is 1256Ah, find the address in segment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: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offset form for segment 1256h?</a:t>
            </a:r>
          </a:p>
          <a:p>
            <a:pPr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</a:t>
            </a:r>
            <a:r>
              <a:rPr sz="1969" b="1" dirty="0">
                <a:solidFill>
                  <a:schemeClr val="accent2">
                    <a:lumMod val="75000"/>
                  </a:schemeClr>
                </a:solidFill>
              </a:rPr>
              <a:t>	Physical address = Segment X 10h + offset</a:t>
            </a:r>
          </a:p>
          <a:p>
            <a:pPr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Offset = Physical address - Segment </a:t>
            </a:r>
          </a:p>
          <a:p>
            <a:pPr marL="369477" indent="-369477" algn="l" defTabSz="312170">
              <a:spcBef>
                <a:spcPts val="2180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</a:t>
            </a:r>
            <a:r>
              <a:rPr sz="1969" dirty="0">
                <a:solidFill>
                  <a:schemeClr val="tx1"/>
                </a:solidFill>
              </a:rPr>
              <a:t>Let</a:t>
            </a:r>
            <a:r>
              <a:rPr lang="en-US" sz="1969" dirty="0">
                <a:solidFill>
                  <a:schemeClr val="tx1"/>
                </a:solidFill>
              </a:rPr>
              <a:t>'</a:t>
            </a:r>
            <a:r>
              <a:rPr sz="1969" dirty="0">
                <a:solidFill>
                  <a:schemeClr val="tx1"/>
                </a:solidFill>
              </a:rPr>
              <a:t>s consider, X = offset in 1256h. Thus, </a:t>
            </a:r>
          </a:p>
          <a:p>
            <a:pPr marL="321457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1256Ah=12560h [segment 1256 multiplied by 10] + X</a:t>
            </a:r>
          </a:p>
          <a:p>
            <a:pPr marL="321457" lvl="1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X = 1256Ah-12560h </a:t>
            </a:r>
          </a:p>
          <a:p>
            <a:pPr marL="321457" lvl="1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X = Ah </a:t>
            </a:r>
          </a:p>
          <a:p>
            <a:pPr marL="321457" lvl="1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X = 000Ah</a:t>
            </a:r>
          </a:p>
          <a:p>
            <a:pPr marL="369477" indent="-369477" algn="l" defTabSz="312170">
              <a:spcBef>
                <a:spcPts val="2180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              </a:t>
            </a:r>
            <a:r>
              <a:rPr sz="1969" dirty="0">
                <a:solidFill>
                  <a:schemeClr val="tx1"/>
                </a:solidFill>
              </a:rPr>
              <a:t>Segment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: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offset = 1256:000Ah</a:t>
            </a:r>
          </a:p>
        </p:txBody>
      </p:sp>
    </p:spTree>
    <p:extLst>
      <p:ext uri="{BB962C8B-B14F-4D97-AF65-F5344CB8AC3E}">
        <p14:creationId xmlns:p14="http://schemas.microsoft.com/office/powerpoint/2010/main" val="111206927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title"/>
          </p:nvPr>
        </p:nvSpPr>
        <p:spPr>
          <a:xfrm>
            <a:off x="250637" y="205383"/>
            <a:ext cx="8365301" cy="922029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Example-2</a:t>
            </a:r>
          </a:p>
        </p:txBody>
      </p:sp>
      <p:sp>
        <p:nvSpPr>
          <p:cNvPr id="111" name="Shape 111"/>
          <p:cNvSpPr>
            <a:spLocks noGrp="1"/>
          </p:cNvSpPr>
          <p:nvPr>
            <p:ph type="body" idx="1"/>
          </p:nvPr>
        </p:nvSpPr>
        <p:spPr>
          <a:xfrm>
            <a:off x="826602" y="1251643"/>
            <a:ext cx="8137594" cy="528628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09940" indent="-509940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Physical address of a memory location is 1256Ah, find the address in segment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: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offset form for segment 1240h?</a:t>
            </a:r>
          </a:p>
          <a:p>
            <a:pPr marL="509940" indent="-509940" algn="l" defTabSz="365568">
              <a:spcBef>
                <a:spcPts val="2601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</a:t>
            </a:r>
            <a:r>
              <a:rPr sz="1969" dirty="0">
                <a:solidFill>
                  <a:schemeClr val="tx1"/>
                </a:solidFill>
              </a:rPr>
              <a:t>Let</a:t>
            </a:r>
            <a:r>
              <a:rPr lang="en-US" sz="1969" dirty="0">
                <a:solidFill>
                  <a:schemeClr val="tx1"/>
                </a:solidFill>
              </a:rPr>
              <a:t>'</a:t>
            </a:r>
            <a:r>
              <a:rPr sz="1969" dirty="0">
                <a:solidFill>
                  <a:schemeClr val="tx1"/>
                </a:solidFill>
              </a:rPr>
              <a:t>s consider, X = offset in 1240h. Thus, </a:t>
            </a:r>
          </a:p>
          <a:p>
            <a:pPr marL="321457" indent="-321457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1256Ah=12400h [segment 1256 multiplied by 10] + X</a:t>
            </a:r>
          </a:p>
          <a:p>
            <a:pPr marL="321457" lvl="1" indent="-321457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X = 1256Ah-12400h </a:t>
            </a:r>
          </a:p>
          <a:p>
            <a:pPr marL="361639" lvl="1" indent="-361639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X = 16Ah </a:t>
            </a:r>
          </a:p>
          <a:p>
            <a:pPr marL="321457" lvl="1" indent="-321457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X = 016Ah</a:t>
            </a:r>
          </a:p>
          <a:p>
            <a:pPr algn="l" defTabSz="365568">
              <a:spcBef>
                <a:spcPts val="2601"/>
              </a:spcBef>
              <a:buClrTx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</a:t>
            </a: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Segment</a:t>
            </a:r>
            <a:r>
              <a:rPr lang="en-US"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offset = 1240:016Ah</a:t>
            </a:r>
          </a:p>
        </p:txBody>
      </p:sp>
    </p:spTree>
    <p:extLst>
      <p:ext uri="{BB962C8B-B14F-4D97-AF65-F5344CB8AC3E}">
        <p14:creationId xmlns:p14="http://schemas.microsoft.com/office/powerpoint/2010/main" val="17641089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/>
          </p:cNvSpPr>
          <p:nvPr>
            <p:ph type="title"/>
          </p:nvPr>
        </p:nvSpPr>
        <p:spPr>
          <a:xfrm>
            <a:off x="321469" y="187524"/>
            <a:ext cx="8474273" cy="76897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spcBef>
                <a:spcPts val="4200"/>
              </a:spcBef>
              <a:defRPr sz="57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Calculate the </a:t>
            </a:r>
            <a:r>
              <a:rPr lang="en-US"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</a:t>
            </a:r>
            <a:r>
              <a:rPr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egment </a:t>
            </a:r>
            <a:r>
              <a:rPr lang="en-US"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</a:t>
            </a:r>
            <a:r>
              <a:rPr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umber </a:t>
            </a:r>
          </a:p>
        </p:txBody>
      </p:sp>
      <p:sp>
        <p:nvSpPr>
          <p:cNvPr id="114" name="Shape 114"/>
          <p:cNvSpPr>
            <a:spLocks noGrp="1"/>
          </p:cNvSpPr>
          <p:nvPr>
            <p:ph type="body" idx="1"/>
          </p:nvPr>
        </p:nvSpPr>
        <p:spPr>
          <a:xfrm>
            <a:off x="566989" y="1188935"/>
            <a:ext cx="8362699" cy="5280330"/>
          </a:xfrm>
          <a:prstGeom prst="rect">
            <a:avLst/>
          </a:prstGeom>
        </p:spPr>
        <p:txBody>
          <a:bodyPr/>
          <a:lstStyle/>
          <a:p>
            <a:pPr marL="446740" indent="-446740" algn="l" defTabSz="340923">
              <a:spcBef>
                <a:spcPts val="239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 physical address 80FD2h and offset BFD2h is given. Calculate the segment .</a:t>
            </a: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accent2">
                    <a:lumMod val="75000"/>
                  </a:schemeClr>
                </a:solidFill>
              </a:rPr>
              <a:t>           </a:t>
            </a:r>
            <a:r>
              <a:rPr sz="1969" b="1" dirty="0">
                <a:solidFill>
                  <a:schemeClr val="accent2">
                    <a:lumMod val="75000"/>
                  </a:schemeClr>
                </a:solidFill>
              </a:rPr>
              <a:t>Physical address = Segment X 10h + offset</a:t>
            </a: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Thus,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X 10h = Physical address - offset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(Physical address - offset ) / 10h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(80FD2h - BFD2h)/10h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(75000h)/10h</a:t>
            </a: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7500h		</a:t>
            </a:r>
            <a:r>
              <a:rPr sz="2180" dirty="0">
                <a:solidFill>
                  <a:srgbClr val="FFFFFF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3781648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/>
          </p:cNvSpPr>
          <p:nvPr>
            <p:ph type="title"/>
          </p:nvPr>
        </p:nvSpPr>
        <p:spPr>
          <a:xfrm>
            <a:off x="696516" y="683121"/>
            <a:ext cx="7804547" cy="77856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Task</a:t>
            </a:r>
          </a:p>
        </p:txBody>
      </p:sp>
      <p:sp>
        <p:nvSpPr>
          <p:cNvPr id="117" name="Shape 117"/>
          <p:cNvSpPr>
            <a:spLocks noGrp="1"/>
          </p:cNvSpPr>
          <p:nvPr>
            <p:ph type="body" idx="1"/>
          </p:nvPr>
        </p:nvSpPr>
        <p:spPr>
          <a:xfrm>
            <a:off x="126503" y="1788730"/>
            <a:ext cx="8890993" cy="3890552"/>
          </a:xfrm>
          <a:prstGeom prst="rect">
            <a:avLst/>
          </a:prstGeom>
        </p:spPr>
        <p:txBody>
          <a:bodyPr/>
          <a:lstStyle/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Find the physical address of memory location </a:t>
            </a:r>
            <a:r>
              <a:rPr sz="2672" b="1" dirty="0">
                <a:solidFill>
                  <a:schemeClr val="tx1"/>
                </a:solidFill>
              </a:rPr>
              <a:t>0A51:CD90h ?</a:t>
            </a:r>
            <a:endParaRPr sz="2672" dirty="0">
              <a:solidFill>
                <a:schemeClr val="tx1"/>
              </a:solidFill>
            </a:endParaRP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A memory location has physical address</a:t>
            </a:r>
            <a:r>
              <a:rPr sz="2672" b="1" dirty="0">
                <a:solidFill>
                  <a:schemeClr val="tx1"/>
                </a:solidFill>
              </a:rPr>
              <a:t> 4A37Bh</a:t>
            </a:r>
            <a:r>
              <a:rPr sz="2672" dirty="0">
                <a:solidFill>
                  <a:schemeClr val="tx1"/>
                </a:solidFill>
              </a:rPr>
              <a:t>.</a:t>
            </a:r>
            <a:r>
              <a:rPr lang="en-US" sz="2672" dirty="0">
                <a:solidFill>
                  <a:schemeClr val="tx1"/>
                </a:solidFill>
              </a:rPr>
              <a:t> </a:t>
            </a:r>
            <a:r>
              <a:rPr sz="2672" dirty="0">
                <a:solidFill>
                  <a:schemeClr val="tx1"/>
                </a:solidFill>
              </a:rPr>
              <a:t>Compute the offset if segment number is </a:t>
            </a:r>
            <a:r>
              <a:rPr sz="2672" b="1" dirty="0">
                <a:solidFill>
                  <a:schemeClr val="tx1"/>
                </a:solidFill>
              </a:rPr>
              <a:t>40FFh.</a:t>
            </a:r>
            <a:endParaRPr sz="2672" dirty="0">
              <a:solidFill>
                <a:schemeClr val="tx1"/>
              </a:solidFill>
            </a:endParaRPr>
          </a:p>
          <a:p>
            <a:pPr marL="522368" lvl="1" indent="-522368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Compute the Segment if offset number is </a:t>
            </a:r>
            <a:r>
              <a:rPr sz="2672" b="1" dirty="0">
                <a:solidFill>
                  <a:schemeClr val="tx1"/>
                </a:solidFill>
              </a:rPr>
              <a:t>123Bh.</a:t>
            </a:r>
          </a:p>
        </p:txBody>
      </p:sp>
    </p:spTree>
    <p:extLst>
      <p:ext uri="{BB962C8B-B14F-4D97-AF65-F5344CB8AC3E}">
        <p14:creationId xmlns:p14="http://schemas.microsoft.com/office/powerpoint/2010/main" val="43329369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/>
          </p:cNvSpPr>
          <p:nvPr>
            <p:ph type="title"/>
          </p:nvPr>
        </p:nvSpPr>
        <p:spPr>
          <a:xfrm>
            <a:off x="669727" y="122365"/>
            <a:ext cx="7804547" cy="9239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Program Segments</a:t>
            </a:r>
          </a:p>
        </p:txBody>
      </p:sp>
      <p:sp>
        <p:nvSpPr>
          <p:cNvPr id="120" name="Shape 120"/>
          <p:cNvSpPr>
            <a:spLocks noGrp="1"/>
          </p:cNvSpPr>
          <p:nvPr>
            <p:ph type="body" idx="1"/>
          </p:nvPr>
        </p:nvSpPr>
        <p:spPr>
          <a:xfrm>
            <a:off x="380489" y="1424101"/>
            <a:ext cx="8763512" cy="54338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Machine language program consists instruction and data.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P</a:t>
            </a:r>
            <a:r>
              <a:rPr sz="1969" dirty="0">
                <a:solidFill>
                  <a:schemeClr val="tx1"/>
                </a:solidFill>
              </a:rPr>
              <a:t>rocessor uses stack to implement procedure calls.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program code are loaded into </a:t>
            </a:r>
            <a:r>
              <a:rPr sz="1969" b="1" dirty="0">
                <a:solidFill>
                  <a:schemeClr val="tx1"/>
                </a:solidFill>
              </a:rPr>
              <a:t>Code Segment (CS)</a:t>
            </a:r>
            <a:r>
              <a:rPr sz="1969" dirty="0">
                <a:solidFill>
                  <a:schemeClr val="tx1"/>
                </a:solidFill>
              </a:rPr>
              <a:t> of memory.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Data are loaded into </a:t>
            </a:r>
            <a:r>
              <a:rPr sz="1969" b="1" dirty="0">
                <a:solidFill>
                  <a:schemeClr val="tx1"/>
                </a:solidFill>
              </a:rPr>
              <a:t>Data segment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(DS) </a:t>
            </a:r>
            <a:r>
              <a:rPr sz="1969" dirty="0">
                <a:solidFill>
                  <a:schemeClr val="tx1"/>
                </a:solidFill>
              </a:rPr>
              <a:t>of memory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Stack are loaded into </a:t>
            </a:r>
            <a:r>
              <a:rPr sz="1969" b="1" dirty="0">
                <a:solidFill>
                  <a:schemeClr val="tx1"/>
                </a:solidFill>
              </a:rPr>
              <a:t>Stack Segment (SS )</a:t>
            </a:r>
            <a:r>
              <a:rPr sz="1969" dirty="0">
                <a:solidFill>
                  <a:schemeClr val="tx1"/>
                </a:solidFill>
              </a:rPr>
              <a:t> of memory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8086 uses four segment registers (CS,DS,SS, ES) to </a:t>
            </a:r>
            <a:r>
              <a:rPr sz="1969" b="1" dirty="0">
                <a:solidFill>
                  <a:schemeClr val="tx1"/>
                </a:solidFill>
              </a:rPr>
              <a:t>hold segment numbers</a:t>
            </a:r>
            <a:r>
              <a:rPr sz="1969" dirty="0">
                <a:solidFill>
                  <a:schemeClr val="tx1"/>
                </a:solidFill>
              </a:rPr>
              <a:t>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Any program needs access for second data segment may use Extra segment (ES).</a:t>
            </a:r>
          </a:p>
        </p:txBody>
      </p:sp>
    </p:spTree>
    <p:extLst>
      <p:ext uri="{BB962C8B-B14F-4D97-AF65-F5344CB8AC3E}">
        <p14:creationId xmlns:p14="http://schemas.microsoft.com/office/powerpoint/2010/main" val="258478629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/>
          </p:cNvSpPr>
          <p:nvPr>
            <p:ph type="title"/>
          </p:nvPr>
        </p:nvSpPr>
        <p:spPr>
          <a:xfrm>
            <a:off x="375047" y="230866"/>
            <a:ext cx="8474273" cy="817540"/>
          </a:xfrm>
          <a:prstGeom prst="rect">
            <a:avLst/>
          </a:prstGeom>
        </p:spPr>
        <p:txBody>
          <a:bodyPr>
            <a:normAutofit/>
          </a:bodyPr>
          <a:lstStyle>
            <a:lvl1pPr defTabSz="461518">
              <a:defRPr sz="6320" b="1"/>
            </a:lvl1pPr>
          </a:lstStyle>
          <a:p>
            <a:pPr lvl="0" algn="l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Program Segments(Cont</a:t>
            </a:r>
            <a:r>
              <a:rPr lang="en-US"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'</a:t>
            </a: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d…)</a:t>
            </a:r>
          </a:p>
        </p:txBody>
      </p:sp>
      <p:sp>
        <p:nvSpPr>
          <p:cNvPr id="123" name="Shape 123"/>
          <p:cNvSpPr>
            <a:spLocks noGrp="1"/>
          </p:cNvSpPr>
          <p:nvPr>
            <p:ph type="body" idx="1"/>
          </p:nvPr>
        </p:nvSpPr>
        <p:spPr>
          <a:xfrm>
            <a:off x="736699" y="1275739"/>
            <a:ext cx="7804547" cy="465803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A memory segment does not necessarily occupy the entire 64KB in a memory segment.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Programs segment of less than 64KB are placed close together due to its overlapping nature.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At any given time, only four memories are active and thus these four segments are accessible.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However, </a:t>
            </a:r>
            <a:r>
              <a:rPr lang="en-US" sz="2531" b="1" dirty="0">
                <a:solidFill>
                  <a:schemeClr val="tx1"/>
                </a:solidFill>
              </a:rPr>
              <a:t>c</a:t>
            </a:r>
            <a:r>
              <a:rPr sz="2531" b="1" dirty="0">
                <a:solidFill>
                  <a:schemeClr val="tx1"/>
                </a:solidFill>
              </a:rPr>
              <a:t>ontents</a:t>
            </a:r>
            <a:r>
              <a:rPr sz="2531" dirty="0">
                <a:solidFill>
                  <a:schemeClr val="tx1"/>
                </a:solidFill>
              </a:rPr>
              <a:t> of memory segments can be modified by a program to </a:t>
            </a:r>
            <a:r>
              <a:rPr sz="2531" b="1" dirty="0">
                <a:solidFill>
                  <a:schemeClr val="tx1"/>
                </a:solidFill>
              </a:rPr>
              <a:t>address different segments.</a:t>
            </a:r>
          </a:p>
        </p:txBody>
      </p:sp>
    </p:spTree>
    <p:extLst>
      <p:ext uri="{BB962C8B-B14F-4D97-AF65-F5344CB8AC3E}">
        <p14:creationId xmlns:p14="http://schemas.microsoft.com/office/powerpoint/2010/main" val="324944526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/>
          </p:cNvSpPr>
          <p:nvPr>
            <p:ph type="title"/>
          </p:nvPr>
        </p:nvSpPr>
        <p:spPr>
          <a:xfrm>
            <a:off x="433001" y="393896"/>
            <a:ext cx="8176427" cy="676450"/>
          </a:xfrm>
          <a:prstGeom prst="rect">
            <a:avLst/>
          </a:prstGeom>
        </p:spPr>
        <p:txBody>
          <a:bodyPr>
            <a:noAutofit/>
          </a:bodyPr>
          <a:lstStyle>
            <a:lvl1pPr defTabSz="479044">
              <a:defRPr sz="6560" b="1"/>
            </a:lvl1pPr>
          </a:lstStyle>
          <a:p>
            <a:pPr lvl="0" algn="l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Pointer and Index Registers</a:t>
            </a:r>
          </a:p>
        </p:txBody>
      </p:sp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xfrm>
            <a:off x="372070" y="1372033"/>
            <a:ext cx="8399860" cy="37753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registers</a:t>
            </a:r>
            <a:r>
              <a:rPr sz="2531" b="1" dirty="0">
                <a:solidFill>
                  <a:schemeClr val="tx1"/>
                </a:solidFill>
              </a:rPr>
              <a:t> SP,BP,SI and DI </a:t>
            </a:r>
            <a:r>
              <a:rPr sz="2531" dirty="0">
                <a:solidFill>
                  <a:schemeClr val="tx1"/>
                </a:solidFill>
              </a:rPr>
              <a:t>usually </a:t>
            </a:r>
            <a:r>
              <a:rPr sz="2531" b="1" dirty="0">
                <a:solidFill>
                  <a:schemeClr val="tx1"/>
                </a:solidFill>
              </a:rPr>
              <a:t>point</a:t>
            </a:r>
            <a:r>
              <a:rPr sz="2531" dirty="0">
                <a:solidFill>
                  <a:schemeClr val="tx1"/>
                </a:solidFill>
              </a:rPr>
              <a:t> to the memory locations.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Registers </a:t>
            </a:r>
            <a:r>
              <a:rPr sz="2531" b="1" dirty="0">
                <a:solidFill>
                  <a:schemeClr val="tx1"/>
                </a:solidFill>
              </a:rPr>
              <a:t>contain the offset address</a:t>
            </a:r>
            <a:r>
              <a:rPr sz="2531" dirty="0">
                <a:solidFill>
                  <a:schemeClr val="tx1"/>
                </a:solidFill>
              </a:rPr>
              <a:t> of Memory location 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Unlike segment registers </a:t>
            </a:r>
            <a:r>
              <a:rPr sz="2531" b="1" dirty="0">
                <a:solidFill>
                  <a:schemeClr val="tx1"/>
                </a:solidFill>
              </a:rPr>
              <a:t>Index</a:t>
            </a:r>
            <a:r>
              <a:rPr sz="2531" dirty="0">
                <a:solidFill>
                  <a:schemeClr val="tx1"/>
                </a:solidFill>
              </a:rPr>
              <a:t> registers can be used in </a:t>
            </a:r>
            <a:r>
              <a:rPr sz="2531" b="1" dirty="0">
                <a:solidFill>
                  <a:schemeClr val="tx1"/>
                </a:solidFill>
              </a:rPr>
              <a:t>arithmetic</a:t>
            </a:r>
            <a:r>
              <a:rPr sz="2531" dirty="0">
                <a:solidFill>
                  <a:schemeClr val="tx1"/>
                </a:solidFill>
              </a:rPr>
              <a:t> and other operations.</a:t>
            </a:r>
          </a:p>
        </p:txBody>
      </p:sp>
    </p:spTree>
    <p:extLst>
      <p:ext uri="{BB962C8B-B14F-4D97-AF65-F5344CB8AC3E}">
        <p14:creationId xmlns:p14="http://schemas.microsoft.com/office/powerpoint/2010/main" val="173721645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/>
          </p:cNvSpPr>
          <p:nvPr>
            <p:ph type="title"/>
          </p:nvPr>
        </p:nvSpPr>
        <p:spPr>
          <a:xfrm>
            <a:off x="451517" y="414397"/>
            <a:ext cx="7804547" cy="686661"/>
          </a:xfrm>
          <a:prstGeom prst="rect">
            <a:avLst/>
          </a:prstGeom>
        </p:spPr>
        <p:txBody>
          <a:bodyPr>
            <a:noAutofit/>
          </a:bodyPr>
          <a:lstStyle>
            <a:lvl1pPr defTabSz="455675">
              <a:defRPr sz="624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Stack Pointer (SP)</a:t>
            </a:r>
          </a:p>
        </p:txBody>
      </p:sp>
      <p:sp>
        <p:nvSpPr>
          <p:cNvPr id="130" name="Shape 130"/>
          <p:cNvSpPr>
            <a:spLocks noGrp="1"/>
          </p:cNvSpPr>
          <p:nvPr>
            <p:ph type="body" idx="1"/>
          </p:nvPr>
        </p:nvSpPr>
        <p:spPr>
          <a:xfrm>
            <a:off x="766348" y="1541516"/>
            <a:ext cx="7989211" cy="113685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stack pointer (</a:t>
            </a:r>
            <a:r>
              <a:rPr sz="2531" b="1" dirty="0">
                <a:solidFill>
                  <a:schemeClr val="tx1"/>
                </a:solidFill>
              </a:rPr>
              <a:t>SP</a:t>
            </a:r>
            <a:r>
              <a:rPr sz="2531" dirty="0">
                <a:solidFill>
                  <a:schemeClr val="tx1"/>
                </a:solidFill>
              </a:rPr>
              <a:t>) is used </a:t>
            </a:r>
            <a:r>
              <a:rPr sz="2531" b="1" dirty="0">
                <a:solidFill>
                  <a:schemeClr val="tx1"/>
                </a:solidFill>
              </a:rPr>
              <a:t>together with SS </a:t>
            </a:r>
            <a:r>
              <a:rPr sz="2531" dirty="0">
                <a:solidFill>
                  <a:schemeClr val="tx1"/>
                </a:solidFill>
              </a:rPr>
              <a:t>to </a:t>
            </a:r>
            <a:r>
              <a:rPr sz="2531" b="1" dirty="0">
                <a:solidFill>
                  <a:schemeClr val="tx1"/>
                </a:solidFill>
              </a:rPr>
              <a:t>access </a:t>
            </a:r>
            <a:r>
              <a:rPr sz="2531" dirty="0">
                <a:solidFill>
                  <a:schemeClr val="tx1"/>
                </a:solidFill>
              </a:rPr>
              <a:t>the stack segment.</a:t>
            </a:r>
          </a:p>
        </p:txBody>
      </p:sp>
      <p:sp>
        <p:nvSpPr>
          <p:cNvPr id="131" name="Shape 131"/>
          <p:cNvSpPr/>
          <p:nvPr/>
        </p:nvSpPr>
        <p:spPr>
          <a:xfrm>
            <a:off x="1943342" y="2979497"/>
            <a:ext cx="4820896" cy="686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55675">
              <a:defRPr sz="624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Base Pointer (BP)</a:t>
            </a:r>
          </a:p>
        </p:txBody>
      </p:sp>
      <p:sp>
        <p:nvSpPr>
          <p:cNvPr id="132" name="Shape 132"/>
          <p:cNvSpPr/>
          <p:nvPr/>
        </p:nvSpPr>
        <p:spPr>
          <a:xfrm>
            <a:off x="766348" y="4255688"/>
            <a:ext cx="8173874" cy="1293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Autofit/>
          </a:bodyPr>
          <a:lstStyle/>
          <a:p>
            <a:pPr marL="253148" indent="-253148" defTabSz="332708">
              <a:spcBef>
                <a:spcPts val="2391"/>
              </a:spcBef>
              <a:buSzPct val="75000"/>
              <a:buChar char="•"/>
              <a:defRPr sz="1800"/>
            </a:pPr>
            <a:r>
              <a:rPr sz="2250" dirty="0">
                <a:latin typeface="+mj-lt"/>
              </a:rPr>
              <a:t>BP is used to access data on the stack.</a:t>
            </a:r>
          </a:p>
          <a:p>
            <a:pPr marL="253148" indent="-253148" defTabSz="332708">
              <a:spcBef>
                <a:spcPts val="2391"/>
              </a:spcBef>
              <a:buSzPct val="75000"/>
              <a:buChar char="•"/>
              <a:defRPr sz="1800"/>
            </a:pPr>
            <a:r>
              <a:rPr sz="2250" dirty="0">
                <a:latin typeface="+mj-lt"/>
              </a:rPr>
              <a:t>Unlike </a:t>
            </a:r>
            <a:r>
              <a:rPr sz="2250" b="1" dirty="0">
                <a:latin typeface="+mj-lt"/>
              </a:rPr>
              <a:t>SP, BP </a:t>
            </a:r>
            <a:r>
              <a:rPr sz="2250" dirty="0">
                <a:latin typeface="+mj-lt"/>
              </a:rPr>
              <a:t>can be used to access data in the other segments</a:t>
            </a:r>
          </a:p>
        </p:txBody>
      </p:sp>
    </p:spTree>
    <p:extLst>
      <p:ext uri="{BB962C8B-B14F-4D97-AF65-F5344CB8AC3E}">
        <p14:creationId xmlns:p14="http://schemas.microsoft.com/office/powerpoint/2010/main" val="193385926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/>
          </p:cNvSpPr>
          <p:nvPr>
            <p:ph type="title"/>
          </p:nvPr>
        </p:nvSpPr>
        <p:spPr>
          <a:xfrm>
            <a:off x="277426" y="260538"/>
            <a:ext cx="8343506" cy="686661"/>
          </a:xfrm>
          <a:prstGeom prst="rect">
            <a:avLst/>
          </a:prstGeom>
        </p:spPr>
        <p:txBody>
          <a:bodyPr>
            <a:noAutofit/>
          </a:bodyPr>
          <a:lstStyle>
            <a:lvl1pPr defTabSz="455675">
              <a:defRPr sz="624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Source Index (SI)</a:t>
            </a:r>
          </a:p>
        </p:txBody>
      </p:sp>
      <p:sp>
        <p:nvSpPr>
          <p:cNvPr id="135" name="Shape 135"/>
          <p:cNvSpPr>
            <a:spLocks noGrp="1"/>
          </p:cNvSpPr>
          <p:nvPr>
            <p:ph type="body" idx="1"/>
          </p:nvPr>
        </p:nvSpPr>
        <p:spPr>
          <a:xfrm>
            <a:off x="400246" y="1361964"/>
            <a:ext cx="8579027" cy="200154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SI</a:t>
            </a:r>
            <a:r>
              <a:rPr sz="2531" dirty="0">
                <a:solidFill>
                  <a:schemeClr val="tx1"/>
                </a:solidFill>
              </a:rPr>
              <a:t> is used to </a:t>
            </a:r>
            <a:r>
              <a:rPr sz="2531" b="1" dirty="0">
                <a:solidFill>
                  <a:schemeClr val="tx1"/>
                </a:solidFill>
              </a:rPr>
              <a:t>point</a:t>
            </a:r>
            <a:r>
              <a:rPr sz="2531" dirty="0">
                <a:solidFill>
                  <a:schemeClr val="tx1"/>
                </a:solidFill>
              </a:rPr>
              <a:t> </a:t>
            </a:r>
            <a:r>
              <a:rPr sz="2531" b="1" dirty="0">
                <a:solidFill>
                  <a:schemeClr val="tx1"/>
                </a:solidFill>
              </a:rPr>
              <a:t>to memory locations</a:t>
            </a:r>
            <a:r>
              <a:rPr sz="2531" dirty="0">
                <a:solidFill>
                  <a:schemeClr val="tx1"/>
                </a:solidFill>
              </a:rPr>
              <a:t> in the data segment addressed by </a:t>
            </a:r>
            <a:r>
              <a:rPr sz="2531" b="1" dirty="0">
                <a:solidFill>
                  <a:schemeClr val="tx1"/>
                </a:solidFill>
              </a:rPr>
              <a:t>DS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Consecutive memory locations can be accessed by </a:t>
            </a:r>
            <a:r>
              <a:rPr sz="2531" b="1" dirty="0">
                <a:solidFill>
                  <a:schemeClr val="tx1"/>
                </a:solidFill>
              </a:rPr>
              <a:t>incrementing</a:t>
            </a:r>
            <a:r>
              <a:rPr sz="2531" dirty="0">
                <a:solidFill>
                  <a:schemeClr val="tx1"/>
                </a:solidFill>
              </a:rPr>
              <a:t> the content of SI.</a:t>
            </a:r>
          </a:p>
        </p:txBody>
      </p:sp>
      <p:sp>
        <p:nvSpPr>
          <p:cNvPr id="136" name="Shape 136"/>
          <p:cNvSpPr/>
          <p:nvPr/>
        </p:nvSpPr>
        <p:spPr>
          <a:xfrm>
            <a:off x="1641029" y="3778277"/>
            <a:ext cx="6097463" cy="686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55675">
              <a:defRPr sz="624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Destination Index (DI)</a:t>
            </a:r>
          </a:p>
        </p:txBody>
      </p:sp>
      <p:sp>
        <p:nvSpPr>
          <p:cNvPr id="137" name="Shape 137"/>
          <p:cNvSpPr/>
          <p:nvPr/>
        </p:nvSpPr>
        <p:spPr>
          <a:xfrm>
            <a:off x="669727" y="4612652"/>
            <a:ext cx="8040068" cy="1749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marL="312528" indent="-312528">
              <a:spcBef>
                <a:spcPts val="2953"/>
              </a:spcBef>
              <a:buSzPct val="75000"/>
              <a:buChar char="•"/>
              <a:defRPr sz="1800"/>
            </a:pPr>
            <a:r>
              <a:rPr sz="2812" b="1" dirty="0">
                <a:latin typeface="+mj-lt"/>
              </a:rPr>
              <a:t>DI</a:t>
            </a:r>
            <a:r>
              <a:rPr sz="2812" dirty="0">
                <a:latin typeface="+mj-lt"/>
              </a:rPr>
              <a:t> is also used to point memory location.</a:t>
            </a:r>
          </a:p>
          <a:p>
            <a:pPr marL="312528" indent="-312528">
              <a:spcBef>
                <a:spcPts val="2953"/>
              </a:spcBef>
              <a:buSzPct val="75000"/>
              <a:buChar char="•"/>
              <a:defRPr sz="1800"/>
            </a:pPr>
            <a:r>
              <a:rPr sz="2812" b="1" dirty="0">
                <a:latin typeface="+mj-lt"/>
              </a:rPr>
              <a:t>String operations</a:t>
            </a:r>
            <a:r>
              <a:rPr sz="2812" dirty="0">
                <a:latin typeface="+mj-lt"/>
              </a:rPr>
              <a:t> use </a:t>
            </a:r>
            <a:r>
              <a:rPr sz="2812" b="1" dirty="0">
                <a:latin typeface="+mj-lt"/>
              </a:rPr>
              <a:t>DI</a:t>
            </a:r>
            <a:r>
              <a:rPr sz="2812" dirty="0">
                <a:latin typeface="+mj-lt"/>
              </a:rPr>
              <a:t> to access memory locations addressed by ES.</a:t>
            </a:r>
          </a:p>
        </p:txBody>
      </p:sp>
    </p:spTree>
    <p:extLst>
      <p:ext uri="{BB962C8B-B14F-4D97-AF65-F5344CB8AC3E}">
        <p14:creationId xmlns:p14="http://schemas.microsoft.com/office/powerpoint/2010/main" val="408946820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title"/>
          </p:nvPr>
        </p:nvSpPr>
        <p:spPr>
          <a:xfrm>
            <a:off x="696440" y="696743"/>
            <a:ext cx="8174750" cy="82819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31622">
              <a:defRPr sz="728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5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Memory Recall</a:t>
            </a:r>
            <a:endParaRPr sz="5119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1104784" y="2258227"/>
            <a:ext cx="7358063" cy="2509242"/>
          </a:xfrm>
          <a:prstGeom prst="rect">
            <a:avLst/>
          </a:prstGeom>
        </p:spPr>
        <p:txBody>
          <a:bodyPr/>
          <a:lstStyle/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What is the primary difference between Index registers and segment registers?</a:t>
            </a:r>
          </a:p>
        </p:txBody>
      </p:sp>
    </p:spTree>
    <p:extLst>
      <p:ext uri="{BB962C8B-B14F-4D97-AF65-F5344CB8AC3E}">
        <p14:creationId xmlns:p14="http://schemas.microsoft.com/office/powerpoint/2010/main" val="103193511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/>
          </p:cNvSpPr>
          <p:nvPr>
            <p:ph type="title"/>
          </p:nvPr>
        </p:nvSpPr>
        <p:spPr>
          <a:xfrm>
            <a:off x="495263" y="174129"/>
            <a:ext cx="8267226" cy="8390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Instruction Pointer (IP)</a:t>
            </a:r>
          </a:p>
        </p:txBody>
      </p:sp>
      <p:sp>
        <p:nvSpPr>
          <p:cNvPr id="143" name="Shape 143"/>
          <p:cNvSpPr>
            <a:spLocks noGrp="1"/>
          </p:cNvSpPr>
          <p:nvPr>
            <p:ph type="body" idx="1"/>
          </p:nvPr>
        </p:nvSpPr>
        <p:spPr>
          <a:xfrm>
            <a:off x="595824" y="1162164"/>
            <a:ext cx="8380977" cy="52876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memory registers are for </a:t>
            </a:r>
            <a:r>
              <a:rPr sz="2531" b="1" dirty="0">
                <a:solidFill>
                  <a:schemeClr val="tx1"/>
                </a:solidFill>
              </a:rPr>
              <a:t>data access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8086  uses </a:t>
            </a:r>
            <a:r>
              <a:rPr sz="2531" b="1" dirty="0">
                <a:solidFill>
                  <a:schemeClr val="tx1"/>
                </a:solidFill>
              </a:rPr>
              <a:t>CS</a:t>
            </a:r>
            <a:r>
              <a:rPr sz="2531" dirty="0">
                <a:solidFill>
                  <a:schemeClr val="tx1"/>
                </a:solidFill>
              </a:rPr>
              <a:t> and </a:t>
            </a:r>
            <a:r>
              <a:rPr sz="2531" b="1" dirty="0">
                <a:solidFill>
                  <a:schemeClr val="tx1"/>
                </a:solidFill>
              </a:rPr>
              <a:t>IP</a:t>
            </a:r>
            <a:r>
              <a:rPr sz="2531" dirty="0">
                <a:solidFill>
                  <a:schemeClr val="tx1"/>
                </a:solidFill>
              </a:rPr>
              <a:t> registers to </a:t>
            </a:r>
            <a:r>
              <a:rPr sz="2531" b="1" dirty="0">
                <a:solidFill>
                  <a:schemeClr val="tx1"/>
                </a:solidFill>
              </a:rPr>
              <a:t>access instructions.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CS</a:t>
            </a:r>
            <a:r>
              <a:rPr sz="2531" dirty="0">
                <a:solidFill>
                  <a:schemeClr val="tx1"/>
                </a:solidFill>
              </a:rPr>
              <a:t> contains the </a:t>
            </a:r>
            <a:r>
              <a:rPr sz="2531" b="1" dirty="0">
                <a:solidFill>
                  <a:schemeClr val="tx1"/>
                </a:solidFill>
              </a:rPr>
              <a:t>segment number</a:t>
            </a:r>
            <a:r>
              <a:rPr sz="2531" dirty="0">
                <a:solidFill>
                  <a:schemeClr val="tx1"/>
                </a:solidFill>
              </a:rPr>
              <a:t> and IP contains the </a:t>
            </a:r>
            <a:r>
              <a:rPr sz="2531" b="1" dirty="0">
                <a:solidFill>
                  <a:schemeClr val="tx1"/>
                </a:solidFill>
              </a:rPr>
              <a:t>offset</a:t>
            </a:r>
            <a:r>
              <a:rPr sz="2531" dirty="0">
                <a:solidFill>
                  <a:schemeClr val="tx1"/>
                </a:solidFill>
              </a:rPr>
              <a:t> of next register.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IP is updated each time after an instruction execution to </a:t>
            </a:r>
            <a:r>
              <a:rPr sz="2531" b="1" dirty="0">
                <a:solidFill>
                  <a:schemeClr val="tx1"/>
                </a:solidFill>
              </a:rPr>
              <a:t>point to the next pointer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Unlike other registers, IP can </a:t>
            </a:r>
            <a:r>
              <a:rPr sz="2531" b="1" dirty="0">
                <a:solidFill>
                  <a:schemeClr val="tx1"/>
                </a:solidFill>
              </a:rPr>
              <a:t>not be directly </a:t>
            </a:r>
            <a:r>
              <a:rPr sz="2531" dirty="0">
                <a:solidFill>
                  <a:schemeClr val="tx1"/>
                </a:solidFill>
              </a:rPr>
              <a:t>manipulated by an instruction. (i.e. an instruction may </a:t>
            </a:r>
            <a:r>
              <a:rPr sz="2531" b="1" dirty="0">
                <a:solidFill>
                  <a:schemeClr val="tx1"/>
                </a:solidFill>
              </a:rPr>
              <a:t>not</a:t>
            </a:r>
            <a:r>
              <a:rPr sz="2531" dirty="0">
                <a:solidFill>
                  <a:schemeClr val="tx1"/>
                </a:solidFill>
              </a:rPr>
              <a:t> contain IP as its </a:t>
            </a:r>
            <a:r>
              <a:rPr sz="2531" b="1" dirty="0">
                <a:solidFill>
                  <a:schemeClr val="tx1"/>
                </a:solidFill>
              </a:rPr>
              <a:t>operand</a:t>
            </a:r>
            <a:r>
              <a:rPr sz="2531" dirty="0">
                <a:solidFill>
                  <a:schemeClr val="tx1"/>
                </a:solidFill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19028772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xfrm>
            <a:off x="417207" y="214313"/>
            <a:ext cx="8180048" cy="80897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FLAGS</a:t>
            </a: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Register</a:t>
            </a:r>
          </a:p>
        </p:txBody>
      </p:sp>
      <p:sp>
        <p:nvSpPr>
          <p:cNvPr id="146" name="Shape 146"/>
          <p:cNvSpPr>
            <a:spLocks noGrp="1"/>
          </p:cNvSpPr>
          <p:nvPr>
            <p:ph type="body" idx="1"/>
          </p:nvPr>
        </p:nvSpPr>
        <p:spPr>
          <a:xfrm>
            <a:off x="631520" y="1227369"/>
            <a:ext cx="8309586" cy="523223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12170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FLAGS</a:t>
            </a:r>
            <a:r>
              <a:rPr sz="1969" dirty="0">
                <a:solidFill>
                  <a:schemeClr val="tx1"/>
                </a:solidFill>
              </a:rPr>
              <a:t> register is used to </a:t>
            </a:r>
            <a:r>
              <a:rPr sz="1969" b="1" dirty="0">
                <a:solidFill>
                  <a:schemeClr val="tx1"/>
                </a:solidFill>
              </a:rPr>
              <a:t>indicate the status</a:t>
            </a:r>
            <a:r>
              <a:rPr sz="1969" dirty="0">
                <a:solidFill>
                  <a:schemeClr val="tx1"/>
                </a:solidFill>
              </a:rPr>
              <a:t> of the microprocessor.</a:t>
            </a:r>
          </a:p>
          <a:p>
            <a:pPr marL="321457" indent="-321457" algn="l" defTabSz="312170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Indication is done by setting of </a:t>
            </a:r>
            <a:r>
              <a:rPr sz="1969" b="1" dirty="0">
                <a:solidFill>
                  <a:schemeClr val="tx1"/>
                </a:solidFill>
              </a:rPr>
              <a:t>individual bits</a:t>
            </a:r>
            <a:r>
              <a:rPr sz="1969" dirty="0">
                <a:solidFill>
                  <a:schemeClr val="tx1"/>
                </a:solidFill>
              </a:rPr>
              <a:t> [flags].</a:t>
            </a:r>
          </a:p>
          <a:p>
            <a:pPr marL="321457" indent="-321457" algn="l" defTabSz="312170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There are two kinds of FLAGS</a:t>
            </a:r>
          </a:p>
          <a:p>
            <a:pPr marL="558979" lvl="1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Status flags: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Reflect the result </a:t>
            </a:r>
            <a:r>
              <a:rPr sz="1969" dirty="0">
                <a:solidFill>
                  <a:schemeClr val="tx1"/>
                </a:solidFill>
              </a:rPr>
              <a:t>of an instruction executed by the processor. [More: chapter-5]</a:t>
            </a:r>
          </a:p>
          <a:p>
            <a:pPr marL="712564" lvl="3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e.g. If AX-BX results to </a:t>
            </a:r>
            <a:r>
              <a:rPr sz="1969" b="1" dirty="0">
                <a:solidFill>
                  <a:schemeClr val="tx1"/>
                </a:solidFill>
              </a:rPr>
              <a:t>0</a:t>
            </a:r>
            <a:r>
              <a:rPr sz="1969" dirty="0">
                <a:solidFill>
                  <a:schemeClr val="tx1"/>
                </a:solidFill>
              </a:rPr>
              <a:t>, the</a:t>
            </a:r>
            <a:r>
              <a:rPr sz="1969" b="1" dirty="0">
                <a:solidFill>
                  <a:schemeClr val="tx1"/>
                </a:solidFill>
              </a:rPr>
              <a:t> ZF</a:t>
            </a:r>
            <a:r>
              <a:rPr sz="1969" dirty="0">
                <a:solidFill>
                  <a:schemeClr val="tx1"/>
                </a:solidFill>
              </a:rPr>
              <a:t> (Zero Flag) is set to </a:t>
            </a:r>
            <a:r>
              <a:rPr sz="1969" b="1" dirty="0">
                <a:solidFill>
                  <a:schemeClr val="tx1"/>
                </a:solidFill>
              </a:rPr>
              <a:t>1 </a:t>
            </a:r>
            <a:r>
              <a:rPr sz="1969" dirty="0">
                <a:solidFill>
                  <a:schemeClr val="tx1"/>
                </a:solidFill>
              </a:rPr>
              <a:t>(True)</a:t>
            </a:r>
            <a:r>
              <a:rPr sz="1969" b="1" dirty="0">
                <a:solidFill>
                  <a:schemeClr val="tx1"/>
                </a:solidFill>
              </a:rPr>
              <a:t>.</a:t>
            </a:r>
            <a:endParaRPr sz="1969" dirty="0">
              <a:solidFill>
                <a:schemeClr val="tx1"/>
              </a:solidFill>
            </a:endParaRPr>
          </a:p>
          <a:p>
            <a:pPr marL="558979" lvl="1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Control flags: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Enable</a:t>
            </a:r>
            <a:r>
              <a:rPr sz="1969" dirty="0">
                <a:solidFill>
                  <a:schemeClr val="tx1"/>
                </a:solidFill>
              </a:rPr>
              <a:t> or </a:t>
            </a:r>
            <a:r>
              <a:rPr sz="1969" b="1" dirty="0">
                <a:solidFill>
                  <a:schemeClr val="tx1"/>
                </a:solidFill>
              </a:rPr>
              <a:t>Disable</a:t>
            </a:r>
            <a:r>
              <a:rPr sz="1969" dirty="0">
                <a:solidFill>
                  <a:schemeClr val="tx1"/>
                </a:solidFill>
              </a:rPr>
              <a:t> certain operations of the processor </a:t>
            </a:r>
          </a:p>
          <a:p>
            <a:pPr marL="475042" lvl="2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e.g. if </a:t>
            </a:r>
            <a:r>
              <a:rPr sz="1969" b="1" dirty="0" err="1">
                <a:solidFill>
                  <a:schemeClr val="tx1"/>
                </a:solidFill>
              </a:rPr>
              <a:t>IF</a:t>
            </a:r>
            <a:r>
              <a:rPr sz="1969" b="1" dirty="0">
                <a:solidFill>
                  <a:schemeClr val="tx1"/>
                </a:solidFill>
              </a:rPr>
              <a:t> (Interrupt Flag) </a:t>
            </a:r>
            <a:r>
              <a:rPr sz="1969" dirty="0">
                <a:solidFill>
                  <a:schemeClr val="tx1"/>
                </a:solidFill>
              </a:rPr>
              <a:t>is cleared (set to 0), inputs from keyboard are ignored by the processor. [More: chapter-11]</a:t>
            </a:r>
          </a:p>
        </p:txBody>
      </p:sp>
    </p:spTree>
    <p:extLst>
      <p:ext uri="{BB962C8B-B14F-4D97-AF65-F5344CB8AC3E}">
        <p14:creationId xmlns:p14="http://schemas.microsoft.com/office/powerpoint/2010/main" val="4124747547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/>
          </p:cNvSpPr>
          <p:nvPr>
            <p:ph type="title"/>
          </p:nvPr>
        </p:nvSpPr>
        <p:spPr>
          <a:xfrm>
            <a:off x="321469" y="458574"/>
            <a:ext cx="8474273" cy="862944"/>
          </a:xfrm>
          <a:prstGeom prst="rect">
            <a:avLst/>
          </a:prstGeom>
        </p:spPr>
        <p:txBody>
          <a:bodyPr>
            <a:normAutofit/>
          </a:bodyPr>
          <a:lstStyle>
            <a:lvl1pPr defTabSz="496570">
              <a:defRPr sz="6800" b="1"/>
            </a:lvl1pPr>
          </a:lstStyle>
          <a:p>
            <a:pPr lvl="0" algn="l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The Organization of the PC</a:t>
            </a:r>
          </a:p>
        </p:txBody>
      </p:sp>
      <p:sp>
        <p:nvSpPr>
          <p:cNvPr id="149" name="Shape 149"/>
          <p:cNvSpPr>
            <a:spLocks noGrp="1"/>
          </p:cNvSpPr>
          <p:nvPr>
            <p:ph type="body" idx="1"/>
          </p:nvPr>
        </p:nvSpPr>
        <p:spPr>
          <a:xfrm>
            <a:off x="798450" y="1808943"/>
            <a:ext cx="7749758" cy="405120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A computer is made up of both Hardware and Software.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chemeClr val="tx1"/>
                </a:solidFill>
              </a:rPr>
              <a:t>S</a:t>
            </a:r>
            <a:r>
              <a:rPr sz="2531" dirty="0">
                <a:solidFill>
                  <a:schemeClr val="tx1"/>
                </a:solidFill>
              </a:rPr>
              <a:t>oftware controls the hardware operations.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Thus, we need to understand the coordination of hardware and software</a:t>
            </a:r>
            <a:r>
              <a:rPr lang="en-US" sz="2531" dirty="0">
                <a:solidFill>
                  <a:schemeClr val="tx1"/>
                </a:solidFill>
              </a:rPr>
              <a:t> </a:t>
            </a:r>
            <a:r>
              <a:rPr sz="2531" dirty="0">
                <a:solidFill>
                  <a:schemeClr val="tx1"/>
                </a:solidFill>
              </a:rPr>
              <a:t>to completely understand the operation of computer.</a:t>
            </a:r>
          </a:p>
        </p:txBody>
      </p:sp>
    </p:spTree>
    <p:extLst>
      <p:ext uri="{BB962C8B-B14F-4D97-AF65-F5344CB8AC3E}">
        <p14:creationId xmlns:p14="http://schemas.microsoft.com/office/powerpoint/2010/main" val="118210416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title"/>
          </p:nvPr>
        </p:nvSpPr>
        <p:spPr>
          <a:xfrm>
            <a:off x="669727" y="150500"/>
            <a:ext cx="7804547" cy="77874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25779">
              <a:defRPr sz="7200" b="1"/>
            </a:lvl1pPr>
          </a:lstStyle>
          <a:p>
            <a:pPr lvl="0" algn="l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The Operating System</a:t>
            </a:r>
          </a:p>
        </p:txBody>
      </p:sp>
      <p:sp>
        <p:nvSpPr>
          <p:cNvPr id="152" name="Shape 152"/>
          <p:cNvSpPr>
            <a:spLocks noGrp="1"/>
          </p:cNvSpPr>
          <p:nvPr>
            <p:ph type="body" idx="1"/>
          </p:nvPr>
        </p:nvSpPr>
        <p:spPr>
          <a:xfrm>
            <a:off x="431601" y="1098352"/>
            <a:ext cx="8468554" cy="55486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purpose of </a:t>
            </a:r>
            <a:r>
              <a:rPr sz="1969" b="1" dirty="0">
                <a:solidFill>
                  <a:schemeClr val="tx1"/>
                </a:solidFill>
              </a:rPr>
              <a:t>OS</a:t>
            </a:r>
            <a:r>
              <a:rPr sz="1969" dirty="0">
                <a:solidFill>
                  <a:schemeClr val="tx1"/>
                </a:solidFill>
              </a:rPr>
              <a:t> is to </a:t>
            </a:r>
            <a:r>
              <a:rPr sz="1969" b="1" dirty="0">
                <a:solidFill>
                  <a:schemeClr val="tx1"/>
                </a:solidFill>
              </a:rPr>
              <a:t>coordinate</a:t>
            </a:r>
            <a:r>
              <a:rPr sz="1969" dirty="0">
                <a:solidFill>
                  <a:schemeClr val="tx1"/>
                </a:solidFill>
              </a:rPr>
              <a:t> the operations between all the devices of the computer system.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The OS functions: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Reading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xecuting the command typed by users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Performing I/O operations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Generating error messages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Managing memory and other resources</a:t>
            </a:r>
          </a:p>
          <a:p>
            <a:pPr marL="580856" lvl="1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DOS was designed for 8086 processors</a:t>
            </a:r>
          </a:p>
          <a:p>
            <a:pPr marL="259397" indent="-259397"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      </a:t>
            </a:r>
            <a:r>
              <a:rPr sz="1969" dirty="0">
                <a:solidFill>
                  <a:schemeClr val="tx1"/>
                </a:solidFill>
              </a:rPr>
              <a:t>DOS could manage only 1 MB memory and doesn’t support </a:t>
            </a:r>
            <a:r>
              <a:rPr lang="en-US" sz="1969" dirty="0">
                <a:solidFill>
                  <a:schemeClr val="tx1"/>
                </a:solidFill>
              </a:rPr>
              <a:t>   </a:t>
            </a:r>
            <a:r>
              <a:rPr sz="1969" dirty="0">
                <a:solidFill>
                  <a:schemeClr val="tx1"/>
                </a:solidFill>
              </a:rPr>
              <a:t>multitasking.</a:t>
            </a:r>
          </a:p>
        </p:txBody>
      </p:sp>
    </p:spTree>
    <p:extLst>
      <p:ext uri="{BB962C8B-B14F-4D97-AF65-F5344CB8AC3E}">
        <p14:creationId xmlns:p14="http://schemas.microsoft.com/office/powerpoint/2010/main" val="292853903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/>
          </p:cNvSpPr>
          <p:nvPr>
            <p:ph type="title"/>
          </p:nvPr>
        </p:nvSpPr>
        <p:spPr>
          <a:xfrm>
            <a:off x="428353" y="490439"/>
            <a:ext cx="8130753" cy="78460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DOS</a:t>
            </a: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OS</a:t>
            </a:r>
          </a:p>
        </p:txBody>
      </p:sp>
      <p:sp>
        <p:nvSpPr>
          <p:cNvPr id="155" name="Shape 155"/>
          <p:cNvSpPr>
            <a:spLocks noGrp="1"/>
          </p:cNvSpPr>
          <p:nvPr>
            <p:ph type="body" idx="1"/>
          </p:nvPr>
        </p:nvSpPr>
        <p:spPr>
          <a:xfrm>
            <a:off x="561089" y="1550032"/>
            <a:ext cx="7865279" cy="339736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DOS performs reading and writing information on disk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Programs and other information stored on a disk are organized into </a:t>
            </a:r>
            <a:r>
              <a:rPr sz="2531" b="1" dirty="0">
                <a:solidFill>
                  <a:schemeClr val="tx1"/>
                </a:solidFill>
              </a:rPr>
              <a:t>files.</a:t>
            </a:r>
            <a:endParaRPr sz="2531" dirty="0">
              <a:solidFill>
                <a:schemeClr val="tx1"/>
              </a:solidFill>
            </a:endParaRP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Each file has a </a:t>
            </a:r>
            <a:r>
              <a:rPr sz="2531" b="1" dirty="0">
                <a:solidFill>
                  <a:schemeClr val="tx1"/>
                </a:solidFill>
              </a:rPr>
              <a:t>file name</a:t>
            </a:r>
            <a:r>
              <a:rPr sz="2531" dirty="0">
                <a:solidFill>
                  <a:schemeClr val="tx1"/>
                </a:solidFill>
              </a:rPr>
              <a:t> [within 1 t</a:t>
            </a:r>
            <a:r>
              <a:rPr lang="en-US" sz="2531" dirty="0">
                <a:solidFill>
                  <a:schemeClr val="tx1"/>
                </a:solidFill>
              </a:rPr>
              <a:t>o</a:t>
            </a:r>
            <a:r>
              <a:rPr sz="2531" dirty="0">
                <a:solidFill>
                  <a:schemeClr val="tx1"/>
                </a:solidFill>
              </a:rPr>
              <a:t> 8 characters.] followed by an </a:t>
            </a:r>
            <a:r>
              <a:rPr sz="2531" b="1" dirty="0">
                <a:solidFill>
                  <a:schemeClr val="tx1"/>
                </a:solidFill>
              </a:rPr>
              <a:t>extension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extension is used for file type.</a:t>
            </a:r>
          </a:p>
        </p:txBody>
      </p:sp>
    </p:spTree>
    <p:extLst>
      <p:ext uri="{BB962C8B-B14F-4D97-AF65-F5344CB8AC3E}">
        <p14:creationId xmlns:p14="http://schemas.microsoft.com/office/powerpoint/2010/main" val="421120268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title"/>
          </p:nvPr>
        </p:nvSpPr>
        <p:spPr>
          <a:xfrm>
            <a:off x="407963" y="365760"/>
            <a:ext cx="8307412" cy="75245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BIOS</a:t>
            </a:r>
          </a:p>
        </p:txBody>
      </p:sp>
      <p:sp>
        <p:nvSpPr>
          <p:cNvPr id="158" name="Shape 158"/>
          <p:cNvSpPr>
            <a:spLocks noGrp="1"/>
          </p:cNvSpPr>
          <p:nvPr>
            <p:ph type="body" idx="1"/>
          </p:nvPr>
        </p:nvSpPr>
        <p:spPr>
          <a:xfrm>
            <a:off x="910828" y="1358617"/>
            <a:ext cx="7804547" cy="50339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BIOS routine perform I/O operation for the PC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However, DOS routine operates over the entire PC family.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BIOS routines are </a:t>
            </a:r>
            <a:r>
              <a:rPr sz="2531" b="1" dirty="0">
                <a:solidFill>
                  <a:schemeClr val="tx1"/>
                </a:solidFill>
              </a:rPr>
              <a:t>machine specific.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BIOS also performs </a:t>
            </a:r>
            <a:r>
              <a:rPr sz="2531" b="1" dirty="0">
                <a:solidFill>
                  <a:schemeClr val="tx1"/>
                </a:solidFill>
              </a:rPr>
              <a:t>circuit checking</a:t>
            </a:r>
            <a:r>
              <a:rPr sz="2531" dirty="0">
                <a:solidFill>
                  <a:schemeClr val="tx1"/>
                </a:solidFill>
              </a:rPr>
              <a:t> and </a:t>
            </a:r>
            <a:r>
              <a:rPr sz="2531" b="1" dirty="0">
                <a:solidFill>
                  <a:schemeClr val="tx1"/>
                </a:solidFill>
              </a:rPr>
              <a:t>loading</a:t>
            </a:r>
            <a:r>
              <a:rPr sz="2531" dirty="0">
                <a:solidFill>
                  <a:schemeClr val="tx1"/>
                </a:solidFill>
              </a:rPr>
              <a:t> of DOS routine.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address of the BIOS routines is called </a:t>
            </a:r>
            <a:r>
              <a:rPr sz="2531" b="1" dirty="0">
                <a:solidFill>
                  <a:schemeClr val="tx1"/>
                </a:solidFill>
              </a:rPr>
              <a:t>interrupt vectors.</a:t>
            </a:r>
          </a:p>
        </p:txBody>
      </p:sp>
    </p:spTree>
    <p:extLst>
      <p:ext uri="{BB962C8B-B14F-4D97-AF65-F5344CB8AC3E}">
        <p14:creationId xmlns:p14="http://schemas.microsoft.com/office/powerpoint/2010/main" val="4127679171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/>
          </p:cNvSpPr>
          <p:nvPr>
            <p:ph type="title"/>
          </p:nvPr>
        </p:nvSpPr>
        <p:spPr>
          <a:xfrm>
            <a:off x="418356" y="257656"/>
            <a:ext cx="8387096" cy="72128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 defTabSz="303956">
              <a:defRPr sz="1800">
                <a:solidFill>
                  <a:srgbClr val="000000"/>
                </a:solidFill>
              </a:defRPr>
            </a:pPr>
            <a:r>
              <a:rPr sz="4162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Memory Organization of the PC</a:t>
            </a:r>
          </a:p>
        </p:txBody>
      </p:sp>
      <p:sp>
        <p:nvSpPr>
          <p:cNvPr id="161" name="Shape 161"/>
          <p:cNvSpPr>
            <a:spLocks noGrp="1"/>
          </p:cNvSpPr>
          <p:nvPr>
            <p:ph type="body" idx="1"/>
          </p:nvPr>
        </p:nvSpPr>
        <p:spPr>
          <a:xfrm>
            <a:off x="418357" y="1279180"/>
            <a:ext cx="8525806" cy="542143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 defTabSz="390213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8086/8088 processor </a:t>
            </a:r>
            <a:r>
              <a:rPr lang="en-US" sz="2531" dirty="0">
                <a:solidFill>
                  <a:schemeClr val="tx1"/>
                </a:solidFill>
              </a:rPr>
              <a:t>can address</a:t>
            </a:r>
            <a:r>
              <a:rPr sz="2531" dirty="0">
                <a:solidFill>
                  <a:schemeClr val="tx1"/>
                </a:solidFill>
              </a:rPr>
              <a:t> 1MB or memory.</a:t>
            </a:r>
          </a:p>
          <a:p>
            <a:pPr marL="401822" indent="-401822" algn="l" defTabSz="390213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chemeClr val="tx1"/>
                </a:solidFill>
              </a:rPr>
              <a:t>But</a:t>
            </a:r>
            <a:r>
              <a:rPr sz="2531" dirty="0">
                <a:solidFill>
                  <a:schemeClr val="tx1"/>
                </a:solidFill>
              </a:rPr>
              <a:t> all the memory </a:t>
            </a:r>
            <a:r>
              <a:rPr sz="2531" b="1" dirty="0">
                <a:solidFill>
                  <a:schemeClr val="tx1"/>
                </a:solidFill>
              </a:rPr>
              <a:t>can not be used</a:t>
            </a:r>
            <a:r>
              <a:rPr sz="2531" dirty="0">
                <a:solidFill>
                  <a:schemeClr val="tx1"/>
                </a:solidFill>
              </a:rPr>
              <a:t> by application program as some memory locations have special meaning to the processor. </a:t>
            </a:r>
          </a:p>
          <a:p>
            <a:pPr marL="593803" lvl="2" algn="l" defTabSz="390213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chemeClr val="tx1"/>
                </a:solidFill>
              </a:rPr>
              <a:t>	e.g.,</a:t>
            </a:r>
            <a:r>
              <a:rPr sz="2531" dirty="0">
                <a:solidFill>
                  <a:schemeClr val="tx1"/>
                </a:solidFill>
              </a:rPr>
              <a:t> First KB (00000h to 003FFh) is used for interrupt vectors.</a:t>
            </a:r>
          </a:p>
          <a:p>
            <a:pPr marL="401822" indent="-401822" algn="l" defTabSz="390213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Other memory locations are reserved by IBM for special purposes (</a:t>
            </a:r>
            <a:r>
              <a:rPr lang="en-US" sz="2531" dirty="0">
                <a:solidFill>
                  <a:schemeClr val="tx1"/>
                </a:solidFill>
              </a:rPr>
              <a:t>i.e.,</a:t>
            </a:r>
            <a:r>
              <a:rPr sz="2531" dirty="0">
                <a:solidFill>
                  <a:schemeClr val="tx1"/>
                </a:solidFill>
              </a:rPr>
              <a:t> BIOS routines and Video display memory).</a:t>
            </a:r>
          </a:p>
        </p:txBody>
      </p:sp>
    </p:spTree>
    <p:extLst>
      <p:ext uri="{BB962C8B-B14F-4D97-AF65-F5344CB8AC3E}">
        <p14:creationId xmlns:p14="http://schemas.microsoft.com/office/powerpoint/2010/main" val="1158585687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/>
          </p:cNvSpPr>
          <p:nvPr>
            <p:ph type="title"/>
          </p:nvPr>
        </p:nvSpPr>
        <p:spPr>
          <a:xfrm>
            <a:off x="267007" y="149155"/>
            <a:ext cx="8609987" cy="78937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 defTabSz="254666">
              <a:defRPr sz="1800">
                <a:solidFill>
                  <a:srgbClr val="000000"/>
                </a:solidFill>
              </a:defRPr>
            </a:pPr>
            <a:r>
              <a:rPr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Memory </a:t>
            </a:r>
            <a:r>
              <a:rPr lang="en-US"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</a:t>
            </a:r>
            <a:r>
              <a:rPr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artition into </a:t>
            </a:r>
            <a:r>
              <a:rPr lang="en-US"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</a:t>
            </a:r>
            <a:r>
              <a:rPr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isjoint </a:t>
            </a:r>
            <a:r>
              <a:rPr lang="en-US"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</a:t>
            </a:r>
            <a:r>
              <a:rPr sz="3375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egments</a:t>
            </a:r>
          </a:p>
        </p:txBody>
      </p:sp>
      <p:sp>
        <p:nvSpPr>
          <p:cNvPr id="164" name="Shape 164"/>
          <p:cNvSpPr>
            <a:spLocks noGrp="1"/>
          </p:cNvSpPr>
          <p:nvPr>
            <p:ph type="body" idx="1"/>
          </p:nvPr>
        </p:nvSpPr>
        <p:spPr>
          <a:xfrm>
            <a:off x="267006" y="1123189"/>
            <a:ext cx="8848112" cy="5415945"/>
          </a:xfrm>
          <a:prstGeom prst="rect">
            <a:avLst/>
          </a:prstGeom>
        </p:spPr>
        <p:txBody>
          <a:bodyPr/>
          <a:lstStyle/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Partitioning the memory into disjoint segments. [Ref: Figure: 3.4]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00000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= 0000:0000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0FFFF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endParaRPr sz="1737" b="1" dirty="0">
              <a:solidFill>
                <a:schemeClr val="tx1"/>
              </a:solidFill>
            </a:endParaRP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10000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=1000:0000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1FFFF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endParaRPr sz="1737" b="1" dirty="0">
              <a:solidFill>
                <a:schemeClr val="tx1"/>
              </a:solidFill>
            </a:endParaRP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20000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=2000:0000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2FFFF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endParaRPr sz="1737" b="1" dirty="0">
              <a:solidFill>
                <a:schemeClr val="tx1"/>
              </a:solidFill>
            </a:endParaRPr>
          </a:p>
          <a:p>
            <a:pPr algn="l" defTabSz="266987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lang="en-US" sz="1737" b="1" dirty="0">
                <a:solidFill>
                  <a:schemeClr val="tx1"/>
                </a:solidFill>
              </a:rPr>
              <a:t>	</a:t>
            </a:r>
            <a:r>
              <a:rPr sz="1737" b="1" dirty="0">
                <a:solidFill>
                  <a:schemeClr val="tx1"/>
                </a:solidFill>
              </a:rPr>
              <a:t>… … …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F0000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</a:t>
            </a:r>
            <a:r>
              <a:rPr sz="1737" b="1" dirty="0" err="1">
                <a:solidFill>
                  <a:schemeClr val="tx1"/>
                </a:solidFill>
              </a:rPr>
              <a:t>FFFFF</a:t>
            </a:r>
            <a:r>
              <a:rPr lang="en-US" sz="1737" b="1" dirty="0" err="1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 </a:t>
            </a:r>
            <a:r>
              <a:rPr sz="1737" dirty="0">
                <a:solidFill>
                  <a:schemeClr val="tx1"/>
                </a:solidFill>
              </a:rPr>
              <a:t>[Total 16 disjoint segments]</a:t>
            </a:r>
            <a:endParaRPr sz="1737" b="1" dirty="0">
              <a:solidFill>
                <a:schemeClr val="tx1"/>
              </a:solidFill>
            </a:endParaRP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The Only first 10 disjoint memory segments are used by DOS for </a:t>
            </a:r>
            <a:r>
              <a:rPr sz="1737" b="1" dirty="0">
                <a:solidFill>
                  <a:schemeClr val="tx1"/>
                </a:solidFill>
              </a:rPr>
              <a:t>loading</a:t>
            </a:r>
            <a:r>
              <a:rPr sz="1737" dirty="0">
                <a:solidFill>
                  <a:schemeClr val="tx1"/>
                </a:solidFill>
              </a:rPr>
              <a:t> and </a:t>
            </a:r>
            <a:r>
              <a:rPr sz="1737" b="1" dirty="0">
                <a:solidFill>
                  <a:schemeClr val="tx1"/>
                </a:solidFill>
              </a:rPr>
              <a:t>running </a:t>
            </a:r>
            <a:r>
              <a:rPr sz="1737" dirty="0">
                <a:solidFill>
                  <a:schemeClr val="tx1"/>
                </a:solidFill>
              </a:rPr>
              <a:t>application programs.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The ten segments </a:t>
            </a:r>
            <a:r>
              <a:rPr sz="1737" b="1" dirty="0">
                <a:solidFill>
                  <a:schemeClr val="tx1"/>
                </a:solidFill>
              </a:rPr>
              <a:t>0000h to 9000h </a:t>
            </a:r>
            <a:r>
              <a:rPr sz="1737" dirty="0">
                <a:solidFill>
                  <a:schemeClr val="tx1"/>
                </a:solidFill>
              </a:rPr>
              <a:t>gives 640KB.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The memory </a:t>
            </a:r>
            <a:r>
              <a:rPr lang="en-US" sz="1737" dirty="0">
                <a:solidFill>
                  <a:schemeClr val="tx1"/>
                </a:solidFill>
              </a:rPr>
              <a:t>sizes of 8086/8088-based</a:t>
            </a:r>
            <a:r>
              <a:rPr sz="1737" dirty="0">
                <a:solidFill>
                  <a:schemeClr val="tx1"/>
                </a:solidFill>
              </a:rPr>
              <a:t> PCs are given in terms of these memory segments.</a:t>
            </a:r>
          </a:p>
          <a:p>
            <a:pPr algn="l" defTabSz="266987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lang="en-US" sz="1737" dirty="0">
                <a:solidFill>
                  <a:schemeClr val="tx1"/>
                </a:solidFill>
              </a:rPr>
              <a:t>	</a:t>
            </a:r>
            <a:r>
              <a:rPr sz="1737" dirty="0">
                <a:solidFill>
                  <a:schemeClr val="tx1"/>
                </a:solidFill>
              </a:rPr>
              <a:t>e.g.</a:t>
            </a:r>
            <a:r>
              <a:rPr lang="en-US" sz="1737" dirty="0">
                <a:solidFill>
                  <a:schemeClr val="tx1"/>
                </a:solidFill>
              </a:rPr>
              <a:t>,</a:t>
            </a:r>
            <a:r>
              <a:rPr sz="1737" dirty="0">
                <a:solidFill>
                  <a:schemeClr val="tx1"/>
                </a:solidFill>
              </a:rPr>
              <a:t> a PC with 512-KB memory has </a:t>
            </a:r>
            <a:r>
              <a:rPr sz="1737" b="1" dirty="0">
                <a:solidFill>
                  <a:schemeClr val="tx1"/>
                </a:solidFill>
              </a:rPr>
              <a:t>eight</a:t>
            </a:r>
            <a:r>
              <a:rPr sz="1737" dirty="0">
                <a:solidFill>
                  <a:schemeClr val="tx1"/>
                </a:solidFill>
              </a:rPr>
              <a:t> of these memory segments.</a:t>
            </a:r>
          </a:p>
        </p:txBody>
      </p:sp>
    </p:spTree>
    <p:extLst>
      <p:ext uri="{BB962C8B-B14F-4D97-AF65-F5344CB8AC3E}">
        <p14:creationId xmlns:p14="http://schemas.microsoft.com/office/powerpoint/2010/main" val="2178232656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/>
          </p:cNvSpPr>
          <p:nvPr>
            <p:ph type="title"/>
          </p:nvPr>
        </p:nvSpPr>
        <p:spPr>
          <a:xfrm>
            <a:off x="360214" y="407962"/>
            <a:ext cx="8423571" cy="74938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Memory Map of the PC</a:t>
            </a:r>
          </a:p>
        </p:txBody>
      </p:sp>
      <p:graphicFrame>
        <p:nvGraphicFramePr>
          <p:cNvPr id="168" name="Table 168"/>
          <p:cNvGraphicFramePr/>
          <p:nvPr>
            <p:extLst>
              <p:ext uri="{D42A27DB-BD31-4B8C-83A1-F6EECF244321}">
                <p14:modId xmlns:p14="http://schemas.microsoft.com/office/powerpoint/2010/main" val="2363114618"/>
              </p:ext>
            </p:extLst>
          </p:nvPr>
        </p:nvGraphicFramePr>
        <p:xfrm>
          <a:off x="1590350" y="1575197"/>
          <a:ext cx="6822130" cy="4874838"/>
        </p:xfrm>
        <a:graphic>
          <a:graphicData uri="http://schemas.openxmlformats.org/drawingml/2006/table">
            <a:tbl>
              <a:tblPr bandRow="1"/>
              <a:tblGrid>
                <a:gridCol w="3573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9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BIOS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F0000h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Reserved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E0000h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Researved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D0000h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Researved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C0000h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Video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B0000h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Video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A0000h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4766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Application Program Area
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i="0"/>
                      </a:pPr>
                      <a:endParaRPr sz="2000" dirty="0"/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182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DOS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i="0"/>
                      </a:pPr>
                      <a:endParaRPr sz="2000"/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BIOS and DOS data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/>
                        <a:t>00400h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569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Interrupt Vectors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2000" b="1" dirty="0"/>
                        <a:t>00000h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850741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/>
          </p:cNvSpPr>
          <p:nvPr>
            <p:ph type="title"/>
          </p:nvPr>
        </p:nvSpPr>
        <p:spPr>
          <a:xfrm>
            <a:off x="237171" y="184799"/>
            <a:ext cx="8354404" cy="57759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 defTabSz="275203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Start-up</a:t>
            </a:r>
            <a:r>
              <a:rPr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O</a:t>
            </a:r>
            <a:r>
              <a:rPr sz="3797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peration</a:t>
            </a:r>
          </a:p>
        </p:txBody>
      </p:sp>
      <p:sp>
        <p:nvSpPr>
          <p:cNvPr id="171" name="Shape 171"/>
          <p:cNvSpPr>
            <a:spLocks noGrp="1"/>
          </p:cNvSpPr>
          <p:nvPr>
            <p:ph type="body" idx="1"/>
          </p:nvPr>
        </p:nvSpPr>
        <p:spPr>
          <a:xfrm>
            <a:off x="474342" y="856159"/>
            <a:ext cx="8669658" cy="5902148"/>
          </a:xfrm>
          <a:prstGeom prst="rect">
            <a:avLst/>
          </a:prstGeom>
        </p:spPr>
        <p:txBody>
          <a:bodyPr/>
          <a:lstStyle/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When PC is powered up, the 8086/8088 processor is put in reset state.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The register CS =</a:t>
            </a:r>
            <a:r>
              <a:rPr lang="en-US" sz="1657" b="1" dirty="0">
                <a:solidFill>
                  <a:schemeClr val="tx1"/>
                </a:solidFill>
              </a:rPr>
              <a:t> </a:t>
            </a:r>
            <a:r>
              <a:rPr sz="1657" b="1" dirty="0" err="1">
                <a:solidFill>
                  <a:schemeClr val="tx1"/>
                </a:solidFill>
              </a:rPr>
              <a:t>FFFF</a:t>
            </a:r>
            <a:r>
              <a:rPr lang="en-US" sz="1657" b="1" dirty="0" err="1">
                <a:solidFill>
                  <a:schemeClr val="tx1"/>
                </a:solidFill>
              </a:rPr>
              <a:t>h</a:t>
            </a:r>
            <a:r>
              <a:rPr sz="1657" b="1" dirty="0">
                <a:solidFill>
                  <a:schemeClr val="tx1"/>
                </a:solidFill>
              </a:rPr>
              <a:t> and IP = 0000h.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First instruction it executes, is located at FFFF0h.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This memory location is ROM.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ROM contains an instruction that transfers control to the starting point of the BIOS routines.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The BIOS routine first check for system and memory errors.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BIOS routines then initialize the interrupt vectors and BIOS data area.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Finally, BIOS loads the operating system from the system disk.</a:t>
            </a:r>
          </a:p>
          <a:p>
            <a:pPr marL="434860" lvl="1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step-1: BIOS loads boot program</a:t>
            </a:r>
          </a:p>
          <a:p>
            <a:pPr marL="434860" lvl="1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step-2: Boot program loads the actual operating systems routines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Boot program is named so because computer pulling itself by bootstraps.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Once OS is loaded into memory, COMMAND.COM is given control</a:t>
            </a:r>
          </a:p>
        </p:txBody>
      </p:sp>
    </p:spTree>
    <p:extLst>
      <p:ext uri="{BB962C8B-B14F-4D97-AF65-F5344CB8AC3E}">
        <p14:creationId xmlns:p14="http://schemas.microsoft.com/office/powerpoint/2010/main" val="7330233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https://www.britannica.com/technology/DNA-computing</a:t>
            </a:r>
            <a:endParaRPr lang="en-US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3"/>
              </a:rPr>
              <a:t>https://www.includehelp.com/embedded-system/memory-organization-in-the-8086-microprocessor.aspx</a:t>
            </a:r>
            <a:endParaRPr lang="en-US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5380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14333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178</TotalTime>
  <Words>2826</Words>
  <Application>Microsoft Office PowerPoint</Application>
  <PresentationFormat>On-screen Show (4:3)</PresentationFormat>
  <Paragraphs>311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Corbel</vt:lpstr>
      <vt:lpstr>Wingdings</vt:lpstr>
      <vt:lpstr>Spectrum</vt:lpstr>
      <vt:lpstr>Understanding 8086</vt:lpstr>
      <vt:lpstr>Lecture Outline</vt:lpstr>
      <vt:lpstr>Intel 8086 Family of Microprocessors</vt:lpstr>
      <vt:lpstr>The 8086 and 8088 Microprocessors</vt:lpstr>
      <vt:lpstr>80186 and 80188 Microprocessors</vt:lpstr>
      <vt:lpstr>The 80286 Microprocessor</vt:lpstr>
      <vt:lpstr>The 80286 Microprocessor(Cont.)</vt:lpstr>
      <vt:lpstr>The 80386 and 80386SX Microprocessor</vt:lpstr>
      <vt:lpstr>The 80486 and 80486SX Microprocessor</vt:lpstr>
      <vt:lpstr>Organization of the 8086/8088 Microprocessor</vt:lpstr>
      <vt:lpstr>Registers</vt:lpstr>
      <vt:lpstr>8086 Registers</vt:lpstr>
      <vt:lpstr>AX: Accumulator Register</vt:lpstr>
      <vt:lpstr>BX: Base Register</vt:lpstr>
      <vt:lpstr>Memory Recall</vt:lpstr>
      <vt:lpstr>Segment Registers: CS,DS,SS,ES</vt:lpstr>
      <vt:lpstr> Using 20-bit Address in 16-bit Processor</vt:lpstr>
      <vt:lpstr>Segment : Offset address</vt:lpstr>
      <vt:lpstr>How to obtain 20-bit physical address in  a 16-bit microprocessor?</vt:lpstr>
      <vt:lpstr>Task </vt:lpstr>
      <vt:lpstr>Location of Segments</vt:lpstr>
      <vt:lpstr>Example-1</vt:lpstr>
      <vt:lpstr>Example-2</vt:lpstr>
      <vt:lpstr>Calculate the Segment Number </vt:lpstr>
      <vt:lpstr>Task</vt:lpstr>
      <vt:lpstr>Program Segments</vt:lpstr>
      <vt:lpstr>Program Segments(Cont'd…)</vt:lpstr>
      <vt:lpstr>Pointer and Index Registers</vt:lpstr>
      <vt:lpstr>Stack Pointer (SP)</vt:lpstr>
      <vt:lpstr>Source Index (SI)</vt:lpstr>
      <vt:lpstr>Memory Recall</vt:lpstr>
      <vt:lpstr>Instruction Pointer (IP)</vt:lpstr>
      <vt:lpstr>FLAGS Register</vt:lpstr>
      <vt:lpstr>The Organization of the PC</vt:lpstr>
      <vt:lpstr>The Operating System</vt:lpstr>
      <vt:lpstr>DOS OS</vt:lpstr>
      <vt:lpstr>BIOS</vt:lpstr>
      <vt:lpstr>Memory Organization of the PC</vt:lpstr>
      <vt:lpstr>Memory Partition into Disjoint Segments</vt:lpstr>
      <vt:lpstr>Memory Map of the PC</vt:lpstr>
      <vt:lpstr>Start-up Operation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36</cp:revision>
  <dcterms:created xsi:type="dcterms:W3CDTF">2018-12-10T17:20:29Z</dcterms:created>
  <dcterms:modified xsi:type="dcterms:W3CDTF">2023-06-13T06:40:56Z</dcterms:modified>
</cp:coreProperties>
</file>