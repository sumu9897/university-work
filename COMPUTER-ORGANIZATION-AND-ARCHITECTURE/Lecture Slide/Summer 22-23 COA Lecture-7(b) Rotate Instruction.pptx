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8"/>
  </p:notesMasterIdLst>
  <p:sldIdLst>
    <p:sldId id="256" r:id="rId2"/>
    <p:sldId id="281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3E99CF1-7666-4E3D-BBBE-7FFA0FC85838}" v="1" dt="2023-07-14T15:07:51.53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724"/>
  </p:normalViewPr>
  <p:slideViewPr>
    <p:cSldViewPr snapToGrid="0" snapToObjects="1"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ruk Abdullah" userId="e52374dd587ef96a" providerId="LiveId" clId="{B3E99CF1-7666-4E3D-BBBE-7FFA0FC85838}"/>
    <pc:docChg chg="modSld">
      <pc:chgData name="Faruk Abdullah" userId="e52374dd587ef96a" providerId="LiveId" clId="{B3E99CF1-7666-4E3D-BBBE-7FFA0FC85838}" dt="2023-07-14T15:07:55.352" v="12" actId="14734"/>
      <pc:docMkLst>
        <pc:docMk/>
      </pc:docMkLst>
      <pc:sldChg chg="modSp mod">
        <pc:chgData name="Faruk Abdullah" userId="e52374dd587ef96a" providerId="LiveId" clId="{B3E99CF1-7666-4E3D-BBBE-7FFA0FC85838}" dt="2023-07-14T15:07:55.352" v="12" actId="14734"/>
        <pc:sldMkLst>
          <pc:docMk/>
          <pc:sldMk cId="700707328" sldId="256"/>
        </pc:sldMkLst>
        <pc:graphicFrameChg chg="mod modGraphic">
          <ac:chgData name="Faruk Abdullah" userId="e52374dd587ef96a" providerId="LiveId" clId="{B3E99CF1-7666-4E3D-BBBE-7FFA0FC85838}" dt="2023-07-14T15:07:55.352" v="12" actId="14734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</pc:docChg>
  </pc:docChgLst>
  <pc:docChgLst>
    <pc:chgData name=" " userId="7df7294e-d88c-40ba-90e5-79451dd84eeb" providerId="ADAL" clId="{865E8905-3A9F-4DF8-BE85-8764B14DC0D4}"/>
    <pc:docChg chg="modSld">
      <pc:chgData name=" " userId="7df7294e-d88c-40ba-90e5-79451dd84eeb" providerId="ADAL" clId="{865E8905-3A9F-4DF8-BE85-8764B14DC0D4}" dt="2019-04-17T04:06:04.677" v="0" actId="1076"/>
      <pc:docMkLst>
        <pc:docMk/>
      </pc:docMkLst>
      <pc:sldChg chg="modSp">
        <pc:chgData name=" " userId="7df7294e-d88c-40ba-90e5-79451dd84eeb" providerId="ADAL" clId="{865E8905-3A9F-4DF8-BE85-8764B14DC0D4}" dt="2019-04-17T04:06:04.677" v="0" actId="1076"/>
        <pc:sldMkLst>
          <pc:docMk/>
          <pc:sldMk cId="3716353229" sldId="259"/>
        </pc:sldMkLst>
        <pc:spChg chg="mod">
          <ac:chgData name=" " userId="7df7294e-d88c-40ba-90e5-79451dd84eeb" providerId="ADAL" clId="{865E8905-3A9F-4DF8-BE85-8764B14DC0D4}" dt="2019-04-17T04:06:04.677" v="0" actId="1076"/>
          <ac:spMkLst>
            <pc:docMk/>
            <pc:sldMk cId="3716353229" sldId="259"/>
            <ac:spMk id="5" creationId="{00000000-0000-0000-0000-000000000000}"/>
          </ac:spMkLst>
        </pc:spChg>
      </pc:sldChg>
    </pc:docChg>
  </pc:docChgLst>
  <pc:docChgLst>
    <pc:chgData name="Dr. Md Mehedi Hasan" userId="S::mmhasan@aiub.edu::5eb39d97-deb0-466a-af4c-298e34812974" providerId="AD" clId="Web-{6997641C-767C-0F26-8CE6-3FA01AE6671C}"/>
    <pc:docChg chg="modSld">
      <pc:chgData name="Dr. Md Mehedi Hasan" userId="S::mmhasan@aiub.edu::5eb39d97-deb0-466a-af4c-298e34812974" providerId="AD" clId="Web-{6997641C-767C-0F26-8CE6-3FA01AE6671C}" dt="2022-04-01T13:31:03.826" v="95"/>
      <pc:docMkLst>
        <pc:docMk/>
      </pc:docMkLst>
      <pc:sldChg chg="modSp">
        <pc:chgData name="Dr. Md Mehedi Hasan" userId="S::mmhasan@aiub.edu::5eb39d97-deb0-466a-af4c-298e34812974" providerId="AD" clId="Web-{6997641C-767C-0F26-8CE6-3FA01AE6671C}" dt="2022-04-01T13:31:03.826" v="95"/>
        <pc:sldMkLst>
          <pc:docMk/>
          <pc:sldMk cId="700707328" sldId="256"/>
        </pc:sldMkLst>
        <pc:graphicFrameChg chg="mod modGraphic">
          <ac:chgData name="Dr. Md Mehedi Hasan" userId="S::mmhasan@aiub.edu::5eb39d97-deb0-466a-af4c-298e34812974" providerId="AD" clId="Web-{6997641C-767C-0F26-8CE6-3FA01AE6671C}" dt="2022-04-01T13:31:03.826" v="95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</pc:docChg>
  </pc:docChgLst>
  <pc:docChgLst>
    <pc:chgData name="Dr. Md Mehedi Hasan" userId="5eb39d97-deb0-466a-af4c-298e34812974" providerId="ADAL" clId="{57F0B2E4-B2DC-4BC9-8C14-EAFB35B0E1C8}"/>
    <pc:docChg chg="modSld">
      <pc:chgData name="Dr. Md Mehedi Hasan" userId="5eb39d97-deb0-466a-af4c-298e34812974" providerId="ADAL" clId="{57F0B2E4-B2DC-4BC9-8C14-EAFB35B0E1C8}" dt="2022-07-27T04:18:16.608" v="31" actId="20577"/>
      <pc:docMkLst>
        <pc:docMk/>
      </pc:docMkLst>
      <pc:sldChg chg="modSp mod">
        <pc:chgData name="Dr. Md Mehedi Hasan" userId="5eb39d97-deb0-466a-af4c-298e34812974" providerId="ADAL" clId="{57F0B2E4-B2DC-4BC9-8C14-EAFB35B0E1C8}" dt="2022-07-27T04:18:16.608" v="31" actId="20577"/>
        <pc:sldMkLst>
          <pc:docMk/>
          <pc:sldMk cId="700707328" sldId="256"/>
        </pc:sldMkLst>
        <pc:spChg chg="mod">
          <ac:chgData name="Dr. Md Mehedi Hasan" userId="5eb39d97-deb0-466a-af4c-298e34812974" providerId="ADAL" clId="{57F0B2E4-B2DC-4BC9-8C14-EAFB35B0E1C8}" dt="2022-07-27T04:18:16.608" v="31" actId="20577"/>
          <ac:spMkLst>
            <pc:docMk/>
            <pc:sldMk cId="700707328" sldId="256"/>
            <ac:spMk id="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7CB9A3-A835-403E-AB43-D9E7A06168D2}" type="datetimeFigureOut">
              <a:rPr lang="en-US" smtClean="0"/>
              <a:t>14-Jul-23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F9A7AA-1F1F-4FE4-ADAB-8BB85BB80A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846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03514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14-Jul-23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14-Jul-23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14-Jul-23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14-Jul-23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14-Jul-23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14-Jul-23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14-Jul-23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14-Jul-23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14-Jul-23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14-Jul-23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14-Jul-23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14-Jul-23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14-Jul-23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14-Jul-23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14-Jul-23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14-Jul-23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5"/>
          <p:cNvSpPr>
            <a:spLocks noGrp="1"/>
          </p:cNvSpPr>
          <p:nvPr>
            <p:ph type="title"/>
          </p:nvPr>
        </p:nvSpPr>
        <p:spPr>
          <a:xfrm>
            <a:off x="892969" y="1151930"/>
            <a:ext cx="7358063" cy="2321719"/>
          </a:xfrm>
          <a:prstGeom prst="rect">
            <a:avLst/>
          </a:prstGeom>
        </p:spPr>
        <p:txBody>
          <a:bodyPr anchor="b"/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5625">
                <a:solidFill>
                  <a:srgbClr val="FFFFFF"/>
                </a:solidFill>
              </a:rPr>
              <a:t>Title Text</a:t>
            </a:r>
          </a:p>
        </p:txBody>
      </p:sp>
      <p:sp>
        <p:nvSpPr>
          <p:cNvPr id="6" name="Shape 6"/>
          <p:cNvSpPr>
            <a:spLocks noGrp="1"/>
          </p:cNvSpPr>
          <p:nvPr>
            <p:ph type="body" idx="1"/>
          </p:nvPr>
        </p:nvSpPr>
        <p:spPr>
          <a:xfrm>
            <a:off x="892969" y="3536156"/>
            <a:ext cx="7358063" cy="794742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2250"/>
            </a:lvl1pPr>
            <a:lvl2pPr marL="0" indent="160729" algn="ctr">
              <a:spcBef>
                <a:spcPts val="0"/>
              </a:spcBef>
              <a:buSzTx/>
              <a:buNone/>
              <a:defRPr sz="2250"/>
            </a:lvl2pPr>
            <a:lvl3pPr marL="0" indent="321457" algn="ctr">
              <a:spcBef>
                <a:spcPts val="0"/>
              </a:spcBef>
              <a:buSzTx/>
              <a:buNone/>
              <a:defRPr sz="2250"/>
            </a:lvl3pPr>
            <a:lvl4pPr marL="0" indent="482186" algn="ctr">
              <a:spcBef>
                <a:spcPts val="0"/>
              </a:spcBef>
              <a:buSzTx/>
              <a:buNone/>
              <a:defRPr sz="2250"/>
            </a:lvl4pPr>
            <a:lvl5pPr marL="0" indent="642915" algn="ctr">
              <a:spcBef>
                <a:spcPts val="0"/>
              </a:spcBef>
              <a:buSzTx/>
              <a:buNone/>
              <a:defRPr sz="2250"/>
            </a:lvl5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250">
                <a:solidFill>
                  <a:srgbClr val="FFFFFF"/>
                </a:solidFill>
              </a:rPr>
              <a:t>Body Level One</a:t>
            </a:r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rPr sz="2250">
                <a:solidFill>
                  <a:srgbClr val="FFFFFF"/>
                </a:solidFill>
              </a:rPr>
              <a:t>Body Level Two</a:t>
            </a:r>
          </a:p>
          <a:p>
            <a:pPr lvl="2">
              <a:defRPr sz="1800">
                <a:solidFill>
                  <a:srgbClr val="000000"/>
                </a:solidFill>
              </a:defRPr>
            </a:pPr>
            <a:r>
              <a:rPr sz="2250">
                <a:solidFill>
                  <a:srgbClr val="FFFFFF"/>
                </a:solidFill>
              </a:rPr>
              <a:t>Body Level Three</a:t>
            </a:r>
          </a:p>
          <a:p>
            <a:pPr lvl="3">
              <a:defRPr sz="1800">
                <a:solidFill>
                  <a:srgbClr val="000000"/>
                </a:solidFill>
              </a:defRPr>
            </a:pPr>
            <a:r>
              <a:rPr sz="2250">
                <a:solidFill>
                  <a:srgbClr val="FFFFFF"/>
                </a:solidFill>
              </a:rPr>
              <a:t>Body Level Four</a:t>
            </a:r>
          </a:p>
          <a:p>
            <a:pPr lvl="4">
              <a:defRPr sz="1800">
                <a:solidFill>
                  <a:srgbClr val="000000"/>
                </a:solidFill>
              </a:defRPr>
            </a:pPr>
            <a:r>
              <a:rPr sz="2250">
                <a:solidFill>
                  <a:srgbClr val="FFFFFF"/>
                </a:solidFill>
              </a:rPr>
              <a:t>Body Level Five</a:t>
            </a:r>
          </a:p>
        </p:txBody>
      </p:sp>
    </p:spTree>
    <p:extLst>
      <p:ext uri="{BB962C8B-B14F-4D97-AF65-F5344CB8AC3E}">
        <p14:creationId xmlns:p14="http://schemas.microsoft.com/office/powerpoint/2010/main" val="2787999005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14-Jul-23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faruk.sohan@aiub.edu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hyperlink" Target="http://faculty.cs.niu.edu/~byrnes/csci360/notes/360shift.htm" TargetMode="External"/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SHIFT AND ROTATE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0052</a:t>
            </a:r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9736225"/>
              </p:ext>
            </p:extLst>
          </p:nvPr>
        </p:nvGraphicFramePr>
        <p:xfrm>
          <a:off x="476205" y="5186042"/>
          <a:ext cx="8335798" cy="75747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271451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812489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Lecturer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7(b)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Summer 22-23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dirty="0"/>
                        <a:t>Md. Faruk Abdullah Al Sohan; </a:t>
                      </a:r>
                      <a:r>
                        <a:rPr lang="en-US" i="1" dirty="0">
                          <a:hlinkClick r:id="rId2"/>
                        </a:rPr>
                        <a:t>faruk.sohan@aiub.edu</a:t>
                      </a:r>
                      <a:r>
                        <a:rPr lang="en-US" i="1" dirty="0"/>
                        <a:t> 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aa-E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aa-E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aa-E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aa-E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164439" cy="484632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</a:t>
            </a:r>
            <a:r>
              <a:rPr lang="en-US"/>
              <a:t>Title: Computer Organization and Architecture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hape 42"/>
          <p:cNvSpPr>
            <a:spLocks noGrp="1"/>
          </p:cNvSpPr>
          <p:nvPr>
            <p:ph type="body" idx="1"/>
          </p:nvPr>
        </p:nvSpPr>
        <p:spPr>
          <a:xfrm>
            <a:off x="339328" y="2196702"/>
            <a:ext cx="8465344" cy="4661298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21457" indent="-321457" algn="l" defTabSz="349138">
              <a:spcBef>
                <a:spcPts val="246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Rotates work like the shifts, except that when a bit Is shifted out one end of an operand it is </a:t>
            </a:r>
            <a:r>
              <a:rPr sz="2257" b="1" dirty="0">
                <a:solidFill>
                  <a:schemeClr val="tx1"/>
                </a:solidFill>
              </a:rPr>
              <a:t>put back in the other end</a:t>
            </a:r>
            <a:r>
              <a:rPr sz="2257" dirty="0">
                <a:solidFill>
                  <a:schemeClr val="tx1"/>
                </a:solidFill>
              </a:rPr>
              <a:t>. </a:t>
            </a:r>
          </a:p>
          <a:p>
            <a:pPr marL="321457" indent="-321457" algn="l" defTabSz="349138">
              <a:spcBef>
                <a:spcPts val="246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These instructions can be used to </a:t>
            </a:r>
            <a:r>
              <a:rPr sz="2257" b="1" dirty="0">
                <a:solidFill>
                  <a:schemeClr val="tx1"/>
                </a:solidFill>
              </a:rPr>
              <a:t>examine</a:t>
            </a:r>
            <a:r>
              <a:rPr sz="2257" dirty="0">
                <a:solidFill>
                  <a:schemeClr val="tx1"/>
                </a:solidFill>
              </a:rPr>
              <a:t> and/or </a:t>
            </a:r>
            <a:r>
              <a:rPr sz="2257" b="1" dirty="0">
                <a:solidFill>
                  <a:schemeClr val="tx1"/>
                </a:solidFill>
              </a:rPr>
              <a:t>change bits or groups of bits</a:t>
            </a:r>
            <a:r>
              <a:rPr sz="2257" dirty="0">
                <a:solidFill>
                  <a:schemeClr val="tx1"/>
                </a:solidFill>
              </a:rPr>
              <a:t>.</a:t>
            </a:r>
            <a:endParaRPr sz="2257" b="1" dirty="0">
              <a:solidFill>
                <a:schemeClr val="tx1"/>
              </a:solidFill>
            </a:endParaRPr>
          </a:p>
          <a:p>
            <a:pPr marL="321457" indent="-321457" algn="l" defTabSz="349138">
              <a:spcBef>
                <a:spcPts val="246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*** Logic, shift, and rotate instructions is used to do binary and hexadecimal I/O. </a:t>
            </a:r>
          </a:p>
          <a:p>
            <a:pPr marL="321457" indent="-321457" algn="l" defTabSz="349138">
              <a:spcBef>
                <a:spcPts val="246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The ability to read and write numbers will let us solve a great variety of problem.</a:t>
            </a:r>
          </a:p>
        </p:txBody>
      </p:sp>
      <p:sp>
        <p:nvSpPr>
          <p:cNvPr id="43" name="Shape 43"/>
          <p:cNvSpPr/>
          <p:nvPr/>
        </p:nvSpPr>
        <p:spPr>
          <a:xfrm>
            <a:off x="1223367" y="375047"/>
            <a:ext cx="7125891" cy="9425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8000" b="1"/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endParaRPr sz="3375" dirty="0">
              <a:solidFill>
                <a:srgbClr val="0070C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7887"/>
            <a:ext cx="9144000" cy="1788416"/>
          </a:xfrm>
          <a:prstGeom prst="rect">
            <a:avLst/>
          </a:prstGeom>
        </p:spPr>
      </p:pic>
      <p:sp>
        <p:nvSpPr>
          <p:cNvPr id="6" name="Shape 38"/>
          <p:cNvSpPr>
            <a:spLocks noGrp="1"/>
          </p:cNvSpPr>
          <p:nvPr>
            <p:ph type="title"/>
          </p:nvPr>
        </p:nvSpPr>
        <p:spPr>
          <a:xfrm>
            <a:off x="203260" y="437491"/>
            <a:ext cx="7358063" cy="880104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4400" b="1" dirty="0">
                <a:solidFill>
                  <a:schemeClr val="accent3">
                    <a:lumMod val="75000"/>
                  </a:schemeClr>
                </a:solidFill>
              </a:rPr>
              <a:t>Overview: ROTATE</a:t>
            </a:r>
            <a:endParaRPr sz="4640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7780699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Shape 145"/>
          <p:cNvSpPr>
            <a:spLocks noGrp="1"/>
          </p:cNvSpPr>
          <p:nvPr>
            <p:ph type="body" idx="1"/>
          </p:nvPr>
        </p:nvSpPr>
        <p:spPr>
          <a:xfrm>
            <a:off x="479227" y="2374710"/>
            <a:ext cx="8185547" cy="4196889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21457" indent="-321457" algn="l">
              <a:lnSpc>
                <a:spcPct val="150000"/>
              </a:lnSpc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b="1" dirty="0">
                <a:solidFill>
                  <a:schemeClr val="tx1"/>
                </a:solidFill>
              </a:rPr>
              <a:t>Problem: </a:t>
            </a:r>
            <a:r>
              <a:rPr sz="2257" dirty="0">
                <a:solidFill>
                  <a:schemeClr val="tx1"/>
                </a:solidFill>
              </a:rPr>
              <a:t>Suppose DH contains 8Ah and CL contains 2. What are the values of DH and CF after the Instruction SHR DH,CL is executed</a:t>
            </a:r>
            <a:r>
              <a:rPr lang="en-US" sz="2257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  <a:endParaRPr sz="2257" dirty="0">
              <a:solidFill>
                <a:schemeClr val="tx1"/>
              </a:solidFill>
            </a:endParaRPr>
          </a:p>
          <a:p>
            <a:pPr marL="321457" indent="-321457" algn="l">
              <a:lnSpc>
                <a:spcPct val="150000"/>
              </a:lnSpc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b="1" dirty="0">
                <a:solidFill>
                  <a:schemeClr val="tx1"/>
                </a:solidFill>
              </a:rPr>
              <a:t>Solution:</a:t>
            </a:r>
            <a:r>
              <a:rPr sz="2257" dirty="0">
                <a:solidFill>
                  <a:schemeClr val="tx1"/>
                </a:solidFill>
              </a:rPr>
              <a:t> The value of DH in binary is 10001010.</a:t>
            </a:r>
          </a:p>
          <a:p>
            <a:pPr marL="321457" indent="-321457" algn="l">
              <a:lnSpc>
                <a:spcPct val="150000"/>
              </a:lnSpc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After two right shifts, CF=1</a:t>
            </a:r>
          </a:p>
          <a:p>
            <a:pPr marL="321457" indent="-321457" algn="l">
              <a:lnSpc>
                <a:spcPct val="150000"/>
              </a:lnSpc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The new value of DH is  obtained by</a:t>
            </a:r>
            <a:r>
              <a:rPr sz="2257" b="1" dirty="0">
                <a:solidFill>
                  <a:schemeClr val="tx1"/>
                </a:solidFill>
              </a:rPr>
              <a:t> erasing the rightmost two bits </a:t>
            </a:r>
            <a:r>
              <a:rPr sz="2257" dirty="0">
                <a:solidFill>
                  <a:schemeClr val="tx1"/>
                </a:solidFill>
              </a:rPr>
              <a:t>and adding two 0 bits to the left end, thus DH </a:t>
            </a:r>
            <a:r>
              <a:rPr sz="2257" dirty="0">
                <a:solidFill>
                  <a:schemeClr val="tx1"/>
                </a:solidFill>
                <a:latin typeface="Helvetica"/>
                <a:ea typeface="Helvetica"/>
                <a:cs typeface="Helvetica"/>
                <a:sym typeface="Helvetica"/>
              </a:rPr>
              <a:t>=00100010b</a:t>
            </a:r>
            <a:r>
              <a:rPr sz="2257" dirty="0">
                <a:solidFill>
                  <a:schemeClr val="tx1"/>
                </a:solidFill>
              </a:rPr>
              <a:t> </a:t>
            </a:r>
            <a:r>
              <a:rPr sz="2257" dirty="0">
                <a:solidFill>
                  <a:schemeClr val="tx1"/>
                </a:solidFill>
                <a:latin typeface="Helvetica"/>
                <a:ea typeface="Helvetica"/>
                <a:cs typeface="Helvetica"/>
                <a:sym typeface="Helvetica"/>
              </a:rPr>
              <a:t>= </a:t>
            </a:r>
            <a:r>
              <a:rPr sz="2257" dirty="0">
                <a:solidFill>
                  <a:schemeClr val="tx1"/>
                </a:solidFill>
              </a:rPr>
              <a:t>22h.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7887"/>
            <a:ext cx="9144000" cy="1788416"/>
          </a:xfrm>
          <a:prstGeom prst="rect">
            <a:avLst/>
          </a:prstGeom>
        </p:spPr>
      </p:pic>
      <p:sp>
        <p:nvSpPr>
          <p:cNvPr id="7" name="Shape 38"/>
          <p:cNvSpPr>
            <a:spLocks noGrp="1"/>
          </p:cNvSpPr>
          <p:nvPr>
            <p:ph type="title"/>
          </p:nvPr>
        </p:nvSpPr>
        <p:spPr>
          <a:xfrm>
            <a:off x="203260" y="437491"/>
            <a:ext cx="7358063" cy="880104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4400" b="1" dirty="0">
                <a:solidFill>
                  <a:schemeClr val="accent3">
                    <a:lumMod val="75000"/>
                  </a:schemeClr>
                </a:solidFill>
              </a:rPr>
              <a:t>Example SHR</a:t>
            </a:r>
            <a:endParaRPr sz="4640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6006076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148"/>
          <p:cNvSpPr>
            <a:spLocks noGrp="1"/>
          </p:cNvSpPr>
          <p:nvPr>
            <p:ph type="body" idx="1"/>
          </p:nvPr>
        </p:nvSpPr>
        <p:spPr>
          <a:xfrm>
            <a:off x="812601" y="1826276"/>
            <a:ext cx="7804548" cy="2466734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21457" indent="-321457" algn="l" defTabSz="349138">
              <a:spcBef>
                <a:spcPts val="246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The SAR Instruction (shift arithmetic right) operates like SHR , with one difference: the </a:t>
            </a:r>
            <a:r>
              <a:rPr sz="2257" b="1" dirty="0" err="1">
                <a:solidFill>
                  <a:schemeClr val="tx1"/>
                </a:solidFill>
              </a:rPr>
              <a:t>msb</a:t>
            </a:r>
            <a:r>
              <a:rPr sz="2257" b="1" dirty="0">
                <a:solidFill>
                  <a:schemeClr val="tx1"/>
                </a:solidFill>
              </a:rPr>
              <a:t> retains Its original value</a:t>
            </a:r>
            <a:r>
              <a:rPr sz="2257" dirty="0">
                <a:solidFill>
                  <a:schemeClr val="tx1"/>
                </a:solidFill>
              </a:rPr>
              <a:t>. The syntax is:</a:t>
            </a:r>
          </a:p>
          <a:p>
            <a:pPr marL="321457" indent="-321457" algn="l" defTabSz="349138">
              <a:spcBef>
                <a:spcPts val="246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SAR destination,1 </a:t>
            </a:r>
          </a:p>
          <a:p>
            <a:pPr marL="321457" indent="-321457" algn="l" defTabSz="349138">
              <a:spcBef>
                <a:spcPts val="246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SAR destination,</a:t>
            </a:r>
            <a:r>
              <a:rPr lang="en-US" sz="2257" dirty="0">
                <a:solidFill>
                  <a:schemeClr val="tx1"/>
                </a:solidFill>
              </a:rPr>
              <a:t> </a:t>
            </a:r>
            <a:r>
              <a:rPr sz="2257" dirty="0">
                <a:solidFill>
                  <a:schemeClr val="tx1"/>
                </a:solidFill>
              </a:rPr>
              <a:t>CL</a:t>
            </a:r>
          </a:p>
        </p:txBody>
      </p:sp>
      <p:pic>
        <p:nvPicPr>
          <p:cNvPr id="149" name="Screen Shot 2015-03-27 at 1.00.47 PM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74960" y="4517408"/>
            <a:ext cx="4482015" cy="2054213"/>
          </a:xfrm>
          <a:prstGeom prst="rect">
            <a:avLst/>
          </a:prstGeom>
          <a:ln w="12700">
            <a:miter lim="400000"/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7887"/>
            <a:ext cx="9144000" cy="1788416"/>
          </a:xfrm>
          <a:prstGeom prst="rect">
            <a:avLst/>
          </a:prstGeom>
        </p:spPr>
      </p:pic>
      <p:sp>
        <p:nvSpPr>
          <p:cNvPr id="7" name="Shape 38"/>
          <p:cNvSpPr>
            <a:spLocks noGrp="1"/>
          </p:cNvSpPr>
          <p:nvPr>
            <p:ph type="title"/>
          </p:nvPr>
        </p:nvSpPr>
        <p:spPr>
          <a:xfrm>
            <a:off x="203260" y="437491"/>
            <a:ext cx="7358063" cy="880104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4400" b="1" dirty="0">
                <a:solidFill>
                  <a:schemeClr val="accent3">
                    <a:lumMod val="75000"/>
                  </a:schemeClr>
                </a:solidFill>
              </a:rPr>
              <a:t>SAR Instruction</a:t>
            </a:r>
            <a:endParaRPr sz="4640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9259890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Shape 152"/>
          <p:cNvSpPr>
            <a:spLocks noGrp="1"/>
          </p:cNvSpPr>
          <p:nvPr>
            <p:ph type="body" idx="1"/>
          </p:nvPr>
        </p:nvSpPr>
        <p:spPr>
          <a:xfrm>
            <a:off x="381754" y="2225907"/>
            <a:ext cx="8518922" cy="3836834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21457" indent="-321457" algn="l">
              <a:lnSpc>
                <a:spcPct val="150000"/>
              </a:lnSpc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  <a:latin typeface="+mj-lt"/>
              </a:rPr>
              <a:t>A Left shift doubles the destination's value, </a:t>
            </a:r>
          </a:p>
          <a:p>
            <a:pPr marL="321457" indent="-321457" algn="l">
              <a:lnSpc>
                <a:spcPct val="150000"/>
              </a:lnSpc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  <a:latin typeface="+mj-lt"/>
              </a:rPr>
              <a:t>Similarly, it’s reasonable to guess that a right shift might divide it </a:t>
            </a:r>
            <a:r>
              <a:rPr sz="2257" dirty="0">
                <a:solidFill>
                  <a:schemeClr val="tx1"/>
                </a:solidFill>
                <a:latin typeface="+mj-lt"/>
                <a:ea typeface="Helvetica"/>
                <a:cs typeface="Helvetica"/>
                <a:sym typeface="Helvetica"/>
              </a:rPr>
              <a:t>by </a:t>
            </a:r>
            <a:r>
              <a:rPr sz="2257" dirty="0">
                <a:solidFill>
                  <a:schemeClr val="tx1"/>
                </a:solidFill>
                <a:latin typeface="+mj-lt"/>
              </a:rPr>
              <a:t>2. This Is correct for </a:t>
            </a:r>
            <a:r>
              <a:rPr sz="2257" b="1" dirty="0">
                <a:solidFill>
                  <a:schemeClr val="tx1"/>
                </a:solidFill>
                <a:latin typeface="+mj-lt"/>
              </a:rPr>
              <a:t>even</a:t>
            </a:r>
            <a:r>
              <a:rPr sz="2257" dirty="0">
                <a:solidFill>
                  <a:schemeClr val="tx1"/>
                </a:solidFill>
                <a:latin typeface="+mj-lt"/>
              </a:rPr>
              <a:t> numbers.</a:t>
            </a:r>
          </a:p>
          <a:p>
            <a:pPr marL="321457" indent="-321457" algn="l">
              <a:lnSpc>
                <a:spcPct val="150000"/>
              </a:lnSpc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  <a:latin typeface="+mj-lt"/>
              </a:rPr>
              <a:t>For odd numbers, a </a:t>
            </a:r>
            <a:r>
              <a:rPr sz="2257" b="1" dirty="0">
                <a:solidFill>
                  <a:schemeClr val="tx1"/>
                </a:solidFill>
                <a:latin typeface="+mj-lt"/>
              </a:rPr>
              <a:t>right shift</a:t>
            </a:r>
            <a:r>
              <a:rPr sz="2257" dirty="0">
                <a:solidFill>
                  <a:schemeClr val="tx1"/>
                </a:solidFill>
                <a:latin typeface="+mj-lt"/>
              </a:rPr>
              <a:t> </a:t>
            </a:r>
            <a:r>
              <a:rPr sz="2257" b="1" dirty="0">
                <a:solidFill>
                  <a:schemeClr val="tx1"/>
                </a:solidFill>
                <a:latin typeface="+mj-lt"/>
              </a:rPr>
              <a:t>halves </a:t>
            </a:r>
            <a:r>
              <a:rPr sz="2257" b="1" dirty="0">
                <a:solidFill>
                  <a:schemeClr val="tx1"/>
                </a:solidFill>
                <a:latin typeface="+mj-lt"/>
                <a:ea typeface="Helvetica"/>
                <a:cs typeface="Helvetica"/>
                <a:sym typeface="Helvetica"/>
              </a:rPr>
              <a:t>it </a:t>
            </a:r>
            <a:r>
              <a:rPr sz="2257" b="1" dirty="0">
                <a:solidFill>
                  <a:schemeClr val="tx1"/>
                </a:solidFill>
                <a:latin typeface="+mj-lt"/>
              </a:rPr>
              <a:t>and rounds down to the nearest integer</a:t>
            </a:r>
            <a:r>
              <a:rPr sz="2257" dirty="0">
                <a:solidFill>
                  <a:schemeClr val="tx1"/>
                </a:solidFill>
                <a:latin typeface="+mj-lt"/>
              </a:rPr>
              <a:t>. </a:t>
            </a:r>
          </a:p>
          <a:p>
            <a:pPr marL="321457" indent="-321457" algn="l">
              <a:lnSpc>
                <a:spcPct val="150000"/>
              </a:lnSpc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  <a:latin typeface="+mj-lt"/>
              </a:rPr>
              <a:t>For example, if BL contains 00000101 </a:t>
            </a:r>
            <a:r>
              <a:rPr sz="2257" dirty="0">
                <a:solidFill>
                  <a:schemeClr val="tx1"/>
                </a:solidFill>
                <a:latin typeface="+mj-lt"/>
                <a:ea typeface="Helvetica"/>
                <a:cs typeface="Helvetica"/>
                <a:sym typeface="Helvetica"/>
              </a:rPr>
              <a:t>= </a:t>
            </a:r>
            <a:r>
              <a:rPr sz="2257" dirty="0">
                <a:solidFill>
                  <a:schemeClr val="tx1"/>
                </a:solidFill>
                <a:latin typeface="+mj-lt"/>
              </a:rPr>
              <a:t>5, then after a right shift. BL  will contain 00000010 </a:t>
            </a:r>
            <a:r>
              <a:rPr sz="2257" dirty="0">
                <a:solidFill>
                  <a:schemeClr val="tx1"/>
                </a:solidFill>
                <a:latin typeface="+mj-lt"/>
                <a:ea typeface="Helvetica"/>
                <a:cs typeface="Helvetica"/>
                <a:sym typeface="Helvetica"/>
              </a:rPr>
              <a:t>= </a:t>
            </a:r>
            <a:r>
              <a:rPr sz="2257" dirty="0">
                <a:solidFill>
                  <a:schemeClr val="tx1"/>
                </a:solidFill>
                <a:latin typeface="+mj-lt"/>
              </a:rPr>
              <a:t>2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7887"/>
            <a:ext cx="9144000" cy="1788416"/>
          </a:xfrm>
          <a:prstGeom prst="rect">
            <a:avLst/>
          </a:prstGeom>
        </p:spPr>
      </p:pic>
      <p:sp>
        <p:nvSpPr>
          <p:cNvPr id="6" name="Shape 38"/>
          <p:cNvSpPr>
            <a:spLocks noGrp="1"/>
          </p:cNvSpPr>
          <p:nvPr>
            <p:ph type="title"/>
          </p:nvPr>
        </p:nvSpPr>
        <p:spPr>
          <a:xfrm>
            <a:off x="203260" y="437491"/>
            <a:ext cx="7358063" cy="880104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4400" b="1" dirty="0">
                <a:solidFill>
                  <a:schemeClr val="accent3">
                    <a:lumMod val="75000"/>
                  </a:schemeClr>
                </a:solidFill>
              </a:rPr>
              <a:t>Division by Right Shift</a:t>
            </a:r>
            <a:endParaRPr sz="4640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3541721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Shape 155"/>
          <p:cNvSpPr>
            <a:spLocks noGrp="1"/>
          </p:cNvSpPr>
          <p:nvPr>
            <p:ph type="body" idx="1"/>
          </p:nvPr>
        </p:nvSpPr>
        <p:spPr>
          <a:xfrm>
            <a:off x="285750" y="1842448"/>
            <a:ext cx="8679656" cy="3588668"/>
          </a:xfrm>
          <a:prstGeom prst="rect">
            <a:avLst/>
          </a:prstGeom>
        </p:spPr>
        <p:txBody>
          <a:bodyPr>
            <a:noAutofit/>
          </a:bodyPr>
          <a:lstStyle/>
          <a:p>
            <a:pPr marL="321457" indent="-321457" algn="l" defTabSz="303956">
              <a:spcBef>
                <a:spcPts val="218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000" dirty="0">
                <a:solidFill>
                  <a:schemeClr val="tx1"/>
                </a:solidFill>
              </a:rPr>
              <a:t>In case of division by right shifts, we need to make a distinction between signed and unsigned numbers. </a:t>
            </a:r>
          </a:p>
          <a:p>
            <a:pPr marL="321457" indent="-321457" algn="l" defTabSz="303956">
              <a:spcBef>
                <a:spcPts val="218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000" dirty="0">
                <a:solidFill>
                  <a:schemeClr val="tx1"/>
                </a:solidFill>
              </a:rPr>
              <a:t>If an </a:t>
            </a:r>
            <a:r>
              <a:rPr sz="2000" b="1" dirty="0">
                <a:solidFill>
                  <a:schemeClr val="tx1"/>
                </a:solidFill>
              </a:rPr>
              <a:t>unsigned</a:t>
            </a:r>
            <a:r>
              <a:rPr sz="2000" dirty="0">
                <a:solidFill>
                  <a:schemeClr val="tx1"/>
                </a:solidFill>
              </a:rPr>
              <a:t> interpretation is being given, </a:t>
            </a:r>
            <a:r>
              <a:rPr sz="2000" b="1" dirty="0">
                <a:solidFill>
                  <a:schemeClr val="tx1"/>
                </a:solidFill>
              </a:rPr>
              <a:t>SHR</a:t>
            </a:r>
            <a:r>
              <a:rPr sz="2000" dirty="0">
                <a:solidFill>
                  <a:schemeClr val="tx1"/>
                </a:solidFill>
              </a:rPr>
              <a:t> should be used. </a:t>
            </a:r>
          </a:p>
          <a:p>
            <a:pPr marL="321457" indent="-321457" algn="l" defTabSz="303956">
              <a:spcBef>
                <a:spcPts val="218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000" dirty="0">
                <a:solidFill>
                  <a:schemeClr val="tx1"/>
                </a:solidFill>
              </a:rPr>
              <a:t>For a </a:t>
            </a:r>
            <a:r>
              <a:rPr sz="2000" b="1" dirty="0">
                <a:solidFill>
                  <a:schemeClr val="tx1"/>
                </a:solidFill>
              </a:rPr>
              <a:t>signed</a:t>
            </a:r>
            <a:r>
              <a:rPr sz="2000" dirty="0">
                <a:solidFill>
                  <a:schemeClr val="tx1"/>
                </a:solidFill>
              </a:rPr>
              <a:t> interpretation, </a:t>
            </a:r>
            <a:r>
              <a:rPr sz="2000" b="1" dirty="0">
                <a:solidFill>
                  <a:schemeClr val="tx1"/>
                </a:solidFill>
              </a:rPr>
              <a:t>SAR  </a:t>
            </a:r>
            <a:r>
              <a:rPr sz="2000" dirty="0">
                <a:solidFill>
                  <a:schemeClr val="tx1"/>
                </a:solidFill>
              </a:rPr>
              <a:t>must be used, because it preserves the sign.</a:t>
            </a:r>
          </a:p>
          <a:p>
            <a:pPr marL="321457" indent="-321457" algn="l" defTabSz="303956">
              <a:spcBef>
                <a:spcPts val="218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000" b="1" dirty="0">
                <a:solidFill>
                  <a:schemeClr val="tx1"/>
                </a:solidFill>
              </a:rPr>
              <a:t>Problem:</a:t>
            </a:r>
            <a:r>
              <a:rPr sz="2000" dirty="0">
                <a:solidFill>
                  <a:schemeClr val="tx1"/>
                </a:solidFill>
              </a:rPr>
              <a:t> Use right shifts to divide the unsigned number 65143 by 4. Put the quotient in AX</a:t>
            </a:r>
          </a:p>
          <a:p>
            <a:pPr marL="321457" indent="-321457" algn="l" defTabSz="303956">
              <a:spcBef>
                <a:spcPts val="218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000" dirty="0">
                <a:solidFill>
                  <a:schemeClr val="tx1"/>
                </a:solidFill>
              </a:rPr>
              <a:t>To divide by 4, two right shifts are needed. Since the dividend is unsigned, we use SHR. The code is</a:t>
            </a:r>
          </a:p>
        </p:txBody>
      </p:sp>
      <p:sp>
        <p:nvSpPr>
          <p:cNvPr id="2" name="Rectangle 1"/>
          <p:cNvSpPr/>
          <p:nvPr/>
        </p:nvSpPr>
        <p:spPr>
          <a:xfrm>
            <a:off x="1946672" y="5616108"/>
            <a:ext cx="2786063" cy="11414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21457" lvl="6" indent="-321457" defTabSz="303956">
              <a:spcBef>
                <a:spcPts val="844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1828" dirty="0"/>
              <a:t>MOV AX, 65143</a:t>
            </a:r>
          </a:p>
          <a:p>
            <a:pPr marL="321457" lvl="6" indent="-321457" defTabSz="303956">
              <a:spcBef>
                <a:spcPts val="844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1828" dirty="0"/>
              <a:t>MOV CL, 2</a:t>
            </a:r>
          </a:p>
          <a:p>
            <a:pPr marL="321457" lvl="6" indent="-321457" defTabSz="303956">
              <a:spcBef>
                <a:spcPts val="844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1828" dirty="0"/>
              <a:t>SHR AX,CL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7887"/>
            <a:ext cx="9144000" cy="1788416"/>
          </a:xfrm>
          <a:prstGeom prst="rect">
            <a:avLst/>
          </a:prstGeom>
        </p:spPr>
      </p:pic>
      <p:sp>
        <p:nvSpPr>
          <p:cNvPr id="7" name="Shape 38"/>
          <p:cNvSpPr>
            <a:spLocks noGrp="1"/>
          </p:cNvSpPr>
          <p:nvPr>
            <p:ph type="title"/>
          </p:nvPr>
        </p:nvSpPr>
        <p:spPr>
          <a:xfrm>
            <a:off x="203260" y="437491"/>
            <a:ext cx="7358063" cy="880104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4400" b="1" dirty="0">
                <a:solidFill>
                  <a:schemeClr val="accent3">
                    <a:lumMod val="75000"/>
                  </a:schemeClr>
                </a:solidFill>
              </a:rPr>
              <a:t>Signed and Unsigned Division</a:t>
            </a:r>
            <a:endParaRPr sz="4640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7023630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Shape 158"/>
          <p:cNvSpPr>
            <a:spLocks noGrp="1"/>
          </p:cNvSpPr>
          <p:nvPr>
            <p:ph type="body" idx="1"/>
          </p:nvPr>
        </p:nvSpPr>
        <p:spPr>
          <a:xfrm>
            <a:off x="399603" y="1978925"/>
            <a:ext cx="8344794" cy="4879075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21457" indent="-321457" algn="l" defTabSz="361460">
              <a:spcBef>
                <a:spcPts val="253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Example: If AL contains -15, give the decimal value of AL after SAR AL,1 is performed.</a:t>
            </a:r>
          </a:p>
          <a:p>
            <a:pPr marL="321457" indent="-321457" algn="l" defTabSz="361460">
              <a:spcBef>
                <a:spcPts val="253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Solution: Execution of SAR AL,1 divides the number by 2 and rounds down. </a:t>
            </a:r>
          </a:p>
          <a:p>
            <a:pPr marL="596482" lvl="1" indent="-321457" algn="l" defTabSz="361460">
              <a:spcBef>
                <a:spcPts val="253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Dividing -15 by 2 yields -7.5, and after rounding down we get -8. </a:t>
            </a:r>
          </a:p>
          <a:p>
            <a:pPr marL="596482" lvl="1" indent="-321457" algn="l" defTabSz="361460">
              <a:spcBef>
                <a:spcPts val="253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In terms of the binary contents, we have -15=11110001b. After shifting, we have 11111000b= -8.</a:t>
            </a:r>
          </a:p>
          <a:p>
            <a:pPr lvl="1" indent="0" algn="l" defTabSz="361460">
              <a:spcBef>
                <a:spcPts val="2531"/>
              </a:spcBef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*** We will see some MUL and DIV for multiplication operations that are not limited to power of 2 only. However, MUL and DIV is much slower than SHIFT operation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7887"/>
            <a:ext cx="9144000" cy="1788416"/>
          </a:xfrm>
          <a:prstGeom prst="rect">
            <a:avLst/>
          </a:prstGeom>
        </p:spPr>
      </p:pic>
      <p:sp>
        <p:nvSpPr>
          <p:cNvPr id="6" name="Shape 38"/>
          <p:cNvSpPr>
            <a:spLocks noGrp="1"/>
          </p:cNvSpPr>
          <p:nvPr>
            <p:ph type="title"/>
          </p:nvPr>
        </p:nvSpPr>
        <p:spPr>
          <a:xfrm>
            <a:off x="203260" y="437491"/>
            <a:ext cx="7358063" cy="880104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4400" b="1" dirty="0">
                <a:solidFill>
                  <a:schemeClr val="accent3">
                    <a:lumMod val="75000"/>
                  </a:schemeClr>
                </a:solidFill>
              </a:rPr>
              <a:t>SAR</a:t>
            </a:r>
            <a:endParaRPr sz="4640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599932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Shape 161"/>
          <p:cNvSpPr>
            <a:spLocks noGrp="1"/>
          </p:cNvSpPr>
          <p:nvPr>
            <p:ph type="body" idx="1"/>
          </p:nvPr>
        </p:nvSpPr>
        <p:spPr>
          <a:xfrm>
            <a:off x="555896" y="2068567"/>
            <a:ext cx="8409511" cy="445834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21457" indent="-321457" algn="l" defTabSz="324493">
              <a:spcBef>
                <a:spcPts val="232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The instruction ROL (rotate left) shifts bits to the left. The </a:t>
            </a:r>
            <a:r>
              <a:rPr sz="2257" dirty="0" err="1">
                <a:solidFill>
                  <a:schemeClr val="tx1"/>
                </a:solidFill>
              </a:rPr>
              <a:t>msb</a:t>
            </a:r>
            <a:r>
              <a:rPr sz="2257" dirty="0">
                <a:solidFill>
                  <a:schemeClr val="tx1"/>
                </a:solidFill>
              </a:rPr>
              <a:t> shifted into the rightmost bit. </a:t>
            </a:r>
          </a:p>
          <a:p>
            <a:pPr marL="321457" indent="-321457" algn="l" defTabSz="324493">
              <a:spcBef>
                <a:spcPts val="232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The CF also gets the bit shifted out of the </a:t>
            </a:r>
            <a:r>
              <a:rPr sz="2257" dirty="0" err="1">
                <a:solidFill>
                  <a:schemeClr val="tx1"/>
                </a:solidFill>
              </a:rPr>
              <a:t>msb</a:t>
            </a:r>
            <a:r>
              <a:rPr sz="2257" dirty="0">
                <a:solidFill>
                  <a:schemeClr val="tx1"/>
                </a:solidFill>
              </a:rPr>
              <a:t>. </a:t>
            </a:r>
          </a:p>
          <a:p>
            <a:pPr marL="321457" indent="-321457" algn="l" defTabSz="324493">
              <a:spcBef>
                <a:spcPts val="232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You can think of the destination bits forming a circle, with the least significant bit following the </a:t>
            </a:r>
            <a:r>
              <a:rPr sz="2257" dirty="0" err="1">
                <a:solidFill>
                  <a:schemeClr val="tx1"/>
                </a:solidFill>
              </a:rPr>
              <a:t>msb</a:t>
            </a:r>
            <a:r>
              <a:rPr sz="2257" dirty="0">
                <a:solidFill>
                  <a:schemeClr val="tx1"/>
                </a:solidFill>
              </a:rPr>
              <a:t> in the circle. </a:t>
            </a:r>
          </a:p>
          <a:p>
            <a:pPr marL="321457" indent="-321457" algn="l" defTabSz="324493">
              <a:spcBef>
                <a:spcPts val="232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ROL destination, 1</a:t>
            </a:r>
            <a:endParaRPr lang="en-US" sz="2257" dirty="0">
              <a:solidFill>
                <a:schemeClr val="tx1"/>
              </a:solidFill>
            </a:endParaRPr>
          </a:p>
          <a:p>
            <a:pPr marL="321457" indent="-321457" algn="l" defTabSz="324493">
              <a:spcBef>
                <a:spcPts val="232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2257" dirty="0">
                <a:solidFill>
                  <a:schemeClr val="tx1"/>
                </a:solidFill>
              </a:rPr>
              <a:t>and</a:t>
            </a:r>
            <a:endParaRPr sz="2257" dirty="0">
              <a:solidFill>
                <a:schemeClr val="tx1"/>
              </a:solidFill>
            </a:endParaRPr>
          </a:p>
          <a:p>
            <a:pPr marL="321457" indent="-321457" algn="l" defTabSz="324493">
              <a:spcBef>
                <a:spcPts val="232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ROL destination, CL</a:t>
            </a:r>
          </a:p>
        </p:txBody>
      </p:sp>
      <p:pic>
        <p:nvPicPr>
          <p:cNvPr id="162" name="Screen Shot 2015-03-27 at 9.50.17 PM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79578" y="4519232"/>
            <a:ext cx="4093689" cy="2007675"/>
          </a:xfrm>
          <a:prstGeom prst="rect">
            <a:avLst/>
          </a:prstGeom>
          <a:ln w="12700">
            <a:miter lim="400000"/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7887"/>
            <a:ext cx="9144000" cy="1788416"/>
          </a:xfrm>
          <a:prstGeom prst="rect">
            <a:avLst/>
          </a:prstGeom>
        </p:spPr>
      </p:pic>
      <p:sp>
        <p:nvSpPr>
          <p:cNvPr id="8" name="Shape 38"/>
          <p:cNvSpPr>
            <a:spLocks noGrp="1"/>
          </p:cNvSpPr>
          <p:nvPr>
            <p:ph type="title"/>
          </p:nvPr>
        </p:nvSpPr>
        <p:spPr>
          <a:xfrm>
            <a:off x="203260" y="437491"/>
            <a:ext cx="7358063" cy="880104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4400" b="1" dirty="0">
                <a:solidFill>
                  <a:schemeClr val="accent3">
                    <a:lumMod val="75000"/>
                  </a:schemeClr>
                </a:solidFill>
              </a:rPr>
              <a:t>Rotate Instructions</a:t>
            </a:r>
            <a:endParaRPr sz="4640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4387740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Shape 165"/>
          <p:cNvSpPr>
            <a:spLocks noGrp="1"/>
          </p:cNvSpPr>
          <p:nvPr>
            <p:ph type="body" idx="1"/>
          </p:nvPr>
        </p:nvSpPr>
        <p:spPr>
          <a:xfrm>
            <a:off x="455414" y="1931691"/>
            <a:ext cx="7804548" cy="4420196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21457" indent="-321457" algn="l" defTabSz="402536">
              <a:spcBef>
                <a:spcPts val="2883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The instruction ROR (rotate right) works just like ROL except that the bits are rotated to the right.</a:t>
            </a:r>
          </a:p>
          <a:p>
            <a:pPr marL="321457" indent="-321457" algn="l" defTabSz="402536">
              <a:spcBef>
                <a:spcPts val="2883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The rightmost bit is shifted into the </a:t>
            </a:r>
            <a:r>
              <a:rPr sz="2257" dirty="0" err="1">
                <a:solidFill>
                  <a:schemeClr val="tx1"/>
                </a:solidFill>
              </a:rPr>
              <a:t>msb</a:t>
            </a:r>
            <a:r>
              <a:rPr sz="2257" dirty="0">
                <a:solidFill>
                  <a:schemeClr val="tx1"/>
                </a:solidFill>
              </a:rPr>
              <a:t>, and also into the CF  </a:t>
            </a:r>
          </a:p>
          <a:p>
            <a:pPr marL="321457" indent="-321457" algn="l" defTabSz="402536">
              <a:spcBef>
                <a:spcPts val="2883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ROR destination, 1 </a:t>
            </a:r>
            <a:endParaRPr lang="en-US" sz="2257" dirty="0">
              <a:solidFill>
                <a:schemeClr val="tx1"/>
              </a:solidFill>
            </a:endParaRPr>
          </a:p>
          <a:p>
            <a:pPr marL="321457" indent="-321457" algn="l" defTabSz="402536">
              <a:spcBef>
                <a:spcPts val="2883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2257" dirty="0">
                <a:solidFill>
                  <a:schemeClr val="tx1"/>
                </a:solidFill>
              </a:rPr>
              <a:t>and</a:t>
            </a:r>
            <a:endParaRPr sz="2257" dirty="0">
              <a:solidFill>
                <a:schemeClr val="tx1"/>
              </a:solidFill>
            </a:endParaRPr>
          </a:p>
          <a:p>
            <a:pPr marL="321457" indent="-321457" algn="l" defTabSz="402536">
              <a:spcBef>
                <a:spcPts val="2883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ROR destination, CL</a:t>
            </a:r>
          </a:p>
        </p:txBody>
      </p:sp>
      <p:pic>
        <p:nvPicPr>
          <p:cNvPr id="166" name="Screen Shot 2015-03-27 at 10.31.28 PM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29063" y="3554935"/>
            <a:ext cx="4804173" cy="2973587"/>
          </a:xfrm>
          <a:prstGeom prst="rect">
            <a:avLst/>
          </a:prstGeom>
          <a:ln w="12700">
            <a:miter lim="400000"/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7887"/>
            <a:ext cx="9144000" cy="1788416"/>
          </a:xfrm>
          <a:prstGeom prst="rect">
            <a:avLst/>
          </a:prstGeom>
        </p:spPr>
      </p:pic>
      <p:sp>
        <p:nvSpPr>
          <p:cNvPr id="7" name="Shape 38"/>
          <p:cNvSpPr>
            <a:spLocks noGrp="1"/>
          </p:cNvSpPr>
          <p:nvPr>
            <p:ph type="title"/>
          </p:nvPr>
        </p:nvSpPr>
        <p:spPr>
          <a:xfrm>
            <a:off x="203260" y="437491"/>
            <a:ext cx="7358063" cy="880104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4800" b="1" dirty="0">
                <a:solidFill>
                  <a:schemeClr val="accent3">
                    <a:lumMod val="75000"/>
                  </a:schemeClr>
                </a:solidFill>
              </a:rPr>
              <a:t>Rotate Right (ROR)</a:t>
            </a:r>
            <a:endParaRPr sz="4640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2874370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Shape 169"/>
          <p:cNvSpPr>
            <a:spLocks noGrp="1"/>
          </p:cNvSpPr>
          <p:nvPr>
            <p:ph type="body" idx="1"/>
          </p:nvPr>
        </p:nvSpPr>
        <p:spPr>
          <a:xfrm>
            <a:off x="344758" y="1883392"/>
            <a:ext cx="8454484" cy="441052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21457" indent="-321457" algn="l">
              <a:buFont typeface="Wingdings" panose="05000000000000000000" pitchFamily="2" charset="2"/>
              <a:buChar char="Ø"/>
            </a:pPr>
            <a:r>
              <a:rPr lang="en-US" sz="2000" dirty="0"/>
              <a:t>In ROL and ROR, CF reflects the bit that is rotated out. </a:t>
            </a:r>
          </a:p>
          <a:p>
            <a:pPr marL="321457" indent="-321457" algn="l">
              <a:buFont typeface="Wingdings" panose="05000000000000000000" pitchFamily="2" charset="2"/>
              <a:buChar char="Ø"/>
            </a:pPr>
            <a:r>
              <a:rPr lang="en-US" sz="2000" dirty="0"/>
              <a:t>ROL and ROR can be used to inspect the bits in a byte or word, without changing the contents.</a:t>
            </a:r>
          </a:p>
          <a:p>
            <a:pPr marL="321457" indent="-321457" algn="l">
              <a:buFont typeface="Wingdings" panose="05000000000000000000" pitchFamily="2" charset="2"/>
              <a:buChar char="Ø"/>
            </a:pPr>
            <a:r>
              <a:rPr lang="en-US" sz="2000" dirty="0"/>
              <a:t>Example: Use ROL to count the number of 1 bits in BX, without changing BX. Put the answer in AX.</a:t>
            </a:r>
          </a:p>
          <a:p>
            <a:pPr marL="321457" indent="-321457" algn="l">
              <a:buFont typeface="Wingdings" panose="05000000000000000000" pitchFamily="2" charset="2"/>
              <a:buChar char="Ø"/>
            </a:pPr>
            <a:r>
              <a:rPr lang="en-US" sz="2000" dirty="0"/>
              <a:t>Solution:</a:t>
            </a:r>
          </a:p>
          <a:p>
            <a:pPr algn="l"/>
            <a:r>
              <a:rPr lang="en-US" sz="2000" b="1" dirty="0"/>
              <a:t>	XOR AX,AX</a:t>
            </a:r>
            <a:endParaRPr lang="en-US" sz="2000" dirty="0"/>
          </a:p>
          <a:p>
            <a:pPr algn="l"/>
            <a:r>
              <a:rPr lang="en-US" sz="2000" b="1" dirty="0"/>
              <a:t>	MOV CX,16</a:t>
            </a:r>
            <a:endParaRPr lang="en-US" sz="2000" dirty="0"/>
          </a:p>
          <a:p>
            <a:pPr marL="321457" indent="-321457" algn="l">
              <a:buFont typeface="Wingdings" panose="05000000000000000000" pitchFamily="2" charset="2"/>
              <a:buChar char="Ø"/>
            </a:pPr>
            <a:r>
              <a:rPr lang="en-US" sz="2000" b="1" dirty="0"/>
              <a:t>TOP:</a:t>
            </a:r>
            <a:endParaRPr lang="en-US" sz="2000" dirty="0"/>
          </a:p>
          <a:p>
            <a:pPr algn="l"/>
            <a:r>
              <a:rPr lang="en-US" sz="2000" b="1" dirty="0"/>
              <a:t>	ROL BX,1</a:t>
            </a:r>
            <a:endParaRPr lang="en-US" sz="2000" dirty="0"/>
          </a:p>
          <a:p>
            <a:pPr algn="l"/>
            <a:r>
              <a:rPr lang="en-US" sz="2000" b="1" dirty="0"/>
              <a:t>	JNC NEXT</a:t>
            </a:r>
            <a:endParaRPr lang="en-US" sz="2000" dirty="0"/>
          </a:p>
          <a:p>
            <a:pPr algn="l"/>
            <a:r>
              <a:rPr lang="en-US" sz="2000" b="1" dirty="0"/>
              <a:t>      INC AX</a:t>
            </a:r>
            <a:endParaRPr lang="en-US" sz="2000" dirty="0"/>
          </a:p>
          <a:p>
            <a:pPr marL="321457" indent="-321457" algn="l">
              <a:buFont typeface="Wingdings" panose="05000000000000000000" pitchFamily="2" charset="2"/>
              <a:buChar char="Ø"/>
            </a:pPr>
            <a:r>
              <a:rPr lang="en-US" sz="2000" b="1" dirty="0"/>
              <a:t>NEXT:</a:t>
            </a:r>
            <a:endParaRPr lang="en-US" sz="2000" dirty="0"/>
          </a:p>
          <a:p>
            <a:pPr algn="l"/>
            <a:r>
              <a:rPr lang="en-US" sz="2000" b="1" dirty="0"/>
              <a:t>	LOOP TOP</a:t>
            </a:r>
            <a:endParaRPr lang="en-US" sz="2000" dirty="0"/>
          </a:p>
          <a:p>
            <a:pPr marL="200911" indent="-200911" algn="l" defTabSz="234127">
              <a:spcBef>
                <a:spcPts val="1617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endParaRPr b="1" dirty="0">
              <a:solidFill>
                <a:schemeClr val="tx1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7887"/>
            <a:ext cx="9144000" cy="1788416"/>
          </a:xfrm>
          <a:prstGeom prst="rect">
            <a:avLst/>
          </a:prstGeom>
        </p:spPr>
      </p:pic>
      <p:sp>
        <p:nvSpPr>
          <p:cNvPr id="6" name="Shape 38"/>
          <p:cNvSpPr>
            <a:spLocks noGrp="1"/>
          </p:cNvSpPr>
          <p:nvPr>
            <p:ph type="title"/>
          </p:nvPr>
        </p:nvSpPr>
        <p:spPr>
          <a:xfrm>
            <a:off x="203260" y="437491"/>
            <a:ext cx="7358063" cy="880104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4400" b="1" dirty="0">
                <a:solidFill>
                  <a:schemeClr val="accent3">
                    <a:lumMod val="75000"/>
                  </a:schemeClr>
                </a:solidFill>
              </a:rPr>
              <a:t>ROL, ROR and CF</a:t>
            </a:r>
            <a:endParaRPr sz="4640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6487822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Shape 172"/>
          <p:cNvSpPr>
            <a:spLocks noGrp="1"/>
          </p:cNvSpPr>
          <p:nvPr>
            <p:ph type="body" idx="1"/>
          </p:nvPr>
        </p:nvSpPr>
        <p:spPr>
          <a:xfrm>
            <a:off x="288727" y="2159953"/>
            <a:ext cx="8566548" cy="4698047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21457" indent="-321457" algn="l" defTabSz="381998">
              <a:spcBef>
                <a:spcPts val="2742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000" dirty="0">
                <a:solidFill>
                  <a:schemeClr val="tx1"/>
                </a:solidFill>
              </a:rPr>
              <a:t>The Instruction RCL (Rotate through Carry LEFT) shifts the bits of the destination to the left. </a:t>
            </a:r>
          </a:p>
          <a:p>
            <a:pPr marL="321457" indent="-321457" algn="l" defTabSz="381998">
              <a:spcBef>
                <a:spcPts val="2742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000" dirty="0">
                <a:solidFill>
                  <a:schemeClr val="tx1"/>
                </a:solidFill>
              </a:rPr>
              <a:t>The </a:t>
            </a:r>
            <a:r>
              <a:rPr sz="2000" dirty="0" err="1">
                <a:solidFill>
                  <a:schemeClr val="tx1"/>
                </a:solidFill>
              </a:rPr>
              <a:t>msb</a:t>
            </a:r>
            <a:r>
              <a:rPr sz="2000" dirty="0">
                <a:solidFill>
                  <a:schemeClr val="tx1"/>
                </a:solidFill>
              </a:rPr>
              <a:t> is shifted Into the CF and the previous value of CF is shifted Into the rightmost bit. </a:t>
            </a:r>
          </a:p>
          <a:p>
            <a:pPr marL="321457" indent="-321457" algn="l" defTabSz="381998">
              <a:spcBef>
                <a:spcPts val="2742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000" dirty="0">
                <a:solidFill>
                  <a:schemeClr val="tx1"/>
                </a:solidFill>
              </a:rPr>
              <a:t>In other words, RCL works like Just like ROL, except that CF is part of the circle of bits being rotated. The syntax is:</a:t>
            </a:r>
          </a:p>
          <a:p>
            <a:pPr marL="321457" indent="-321457" algn="l" defTabSz="381998">
              <a:spcBef>
                <a:spcPts val="2742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000" dirty="0">
                <a:solidFill>
                  <a:schemeClr val="tx1"/>
                </a:solidFill>
              </a:rPr>
              <a:t>RCL destination,1</a:t>
            </a:r>
            <a:endParaRPr lang="en-US" sz="2000" dirty="0">
              <a:solidFill>
                <a:schemeClr val="tx1"/>
              </a:solidFill>
            </a:endParaRPr>
          </a:p>
          <a:p>
            <a:pPr marL="321457" indent="-321457" algn="l" defTabSz="381998">
              <a:spcBef>
                <a:spcPts val="2742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2000" dirty="0">
                <a:solidFill>
                  <a:schemeClr val="tx1"/>
                </a:solidFill>
              </a:rPr>
              <a:t>and</a:t>
            </a:r>
            <a:endParaRPr sz="2000" dirty="0">
              <a:solidFill>
                <a:schemeClr val="tx1"/>
              </a:solidFill>
            </a:endParaRPr>
          </a:p>
          <a:p>
            <a:pPr marL="321457" indent="-321457" algn="l" defTabSz="381998">
              <a:spcBef>
                <a:spcPts val="2742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000" dirty="0">
                <a:solidFill>
                  <a:schemeClr val="tx1"/>
                </a:solidFill>
              </a:rPr>
              <a:t>RCL destination, CL</a:t>
            </a:r>
          </a:p>
        </p:txBody>
      </p:sp>
      <p:pic>
        <p:nvPicPr>
          <p:cNvPr id="173" name="Screen Shot 2015-03-27 at 10.49.39 PM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77290" y="4819526"/>
            <a:ext cx="3643313" cy="1821656"/>
          </a:xfrm>
          <a:prstGeom prst="rect">
            <a:avLst/>
          </a:prstGeom>
          <a:ln w="12700">
            <a:miter lim="400000"/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7887"/>
            <a:ext cx="9144000" cy="1788416"/>
          </a:xfrm>
          <a:prstGeom prst="rect">
            <a:avLst/>
          </a:prstGeom>
        </p:spPr>
      </p:pic>
      <p:sp>
        <p:nvSpPr>
          <p:cNvPr id="7" name="Shape 38"/>
          <p:cNvSpPr>
            <a:spLocks noGrp="1"/>
          </p:cNvSpPr>
          <p:nvPr>
            <p:ph type="title"/>
          </p:nvPr>
        </p:nvSpPr>
        <p:spPr>
          <a:xfrm>
            <a:off x="203260" y="437491"/>
            <a:ext cx="7358063" cy="880104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4400" b="1" dirty="0">
                <a:solidFill>
                  <a:schemeClr val="accent3">
                    <a:lumMod val="75000"/>
                  </a:schemeClr>
                </a:solidFill>
              </a:rPr>
              <a:t>RCL (Rotate Carry Left)</a:t>
            </a:r>
            <a:endParaRPr sz="4640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7273317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Shape 176"/>
          <p:cNvSpPr>
            <a:spLocks noGrp="1"/>
          </p:cNvSpPr>
          <p:nvPr>
            <p:ph type="body" idx="1"/>
          </p:nvPr>
        </p:nvSpPr>
        <p:spPr>
          <a:xfrm>
            <a:off x="178595" y="2244259"/>
            <a:ext cx="9054703" cy="3146608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21457" indent="-321457" algn="l">
              <a:lnSpc>
                <a:spcPct val="200000"/>
              </a:lnSpc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000" dirty="0">
                <a:solidFill>
                  <a:schemeClr val="tx1"/>
                </a:solidFill>
              </a:rPr>
              <a:t>The Instruction RCR (Rotate through Carry RIGHT) works just like RCL except the bits are rotated to the right. The syntax is:</a:t>
            </a:r>
          </a:p>
          <a:p>
            <a:pPr marL="321457" indent="-321457" algn="l">
              <a:lnSpc>
                <a:spcPct val="200000"/>
              </a:lnSpc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000" dirty="0">
                <a:solidFill>
                  <a:schemeClr val="tx1"/>
                </a:solidFill>
              </a:rPr>
              <a:t>RCR destination,1</a:t>
            </a:r>
          </a:p>
          <a:p>
            <a:pPr marL="321457" indent="-321457" algn="l">
              <a:lnSpc>
                <a:spcPct val="200000"/>
              </a:lnSpc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000" dirty="0">
                <a:solidFill>
                  <a:schemeClr val="tx1"/>
                </a:solidFill>
              </a:rPr>
              <a:t>and</a:t>
            </a:r>
          </a:p>
          <a:p>
            <a:pPr marL="321457" indent="-321457" algn="l">
              <a:lnSpc>
                <a:spcPct val="200000"/>
              </a:lnSpc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000" dirty="0">
                <a:solidFill>
                  <a:schemeClr val="tx1"/>
                </a:solidFill>
              </a:rPr>
              <a:t>RCR destination, CL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7887"/>
            <a:ext cx="9144000" cy="1788416"/>
          </a:xfrm>
          <a:prstGeom prst="rect">
            <a:avLst/>
          </a:prstGeom>
        </p:spPr>
      </p:pic>
      <p:sp>
        <p:nvSpPr>
          <p:cNvPr id="7" name="Shape 38"/>
          <p:cNvSpPr>
            <a:spLocks noGrp="1"/>
          </p:cNvSpPr>
          <p:nvPr>
            <p:ph type="title"/>
          </p:nvPr>
        </p:nvSpPr>
        <p:spPr>
          <a:xfrm>
            <a:off x="203260" y="437491"/>
            <a:ext cx="7358063" cy="880104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4400" b="1" dirty="0">
                <a:solidFill>
                  <a:schemeClr val="accent3">
                    <a:lumMod val="75000"/>
                  </a:schemeClr>
                </a:solidFill>
              </a:rPr>
              <a:t>RCR (Rotate Carry Right)</a:t>
            </a:r>
            <a:endParaRPr sz="4640" b="1" dirty="0">
              <a:solidFill>
                <a:schemeClr val="accent5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9A89615-AFC9-B5C5-2452-BA868F8B16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3549354"/>
            <a:ext cx="4393405" cy="3164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828752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Shape 180"/>
          <p:cNvSpPr>
            <a:spLocks noGrp="1"/>
          </p:cNvSpPr>
          <p:nvPr>
            <p:ph type="body" idx="1"/>
          </p:nvPr>
        </p:nvSpPr>
        <p:spPr>
          <a:xfrm>
            <a:off x="669727" y="1702314"/>
            <a:ext cx="7804548" cy="1261505"/>
          </a:xfrm>
          <a:prstGeom prst="rect">
            <a:avLst/>
          </a:prstGeom>
        </p:spPr>
        <p:txBody>
          <a:bodyPr>
            <a:noAutofit/>
          </a:bodyPr>
          <a:lstStyle/>
          <a:p>
            <a:pPr marL="321457" indent="-321457" algn="l" defTabSz="299848">
              <a:spcBef>
                <a:spcPts val="2109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Suppose DH contains 8Ah, CF= 1, and CL contains 3. </a:t>
            </a:r>
            <a:endParaRPr lang="en-US" sz="2257" dirty="0">
              <a:solidFill>
                <a:schemeClr val="tx1"/>
              </a:solidFill>
            </a:endParaRPr>
          </a:p>
          <a:p>
            <a:pPr marL="321457" indent="-321457" algn="l" defTabSz="299848">
              <a:spcBef>
                <a:spcPts val="2109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What are the values of DH and CF after the instruction RCR DH,CL is executed</a:t>
            </a:r>
            <a:r>
              <a:rPr lang="en-US" sz="2257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  <a:endParaRPr sz="2257" dirty="0">
              <a:solidFill>
                <a:schemeClr val="tx1"/>
              </a:solidFill>
            </a:endParaRPr>
          </a:p>
        </p:txBody>
      </p:sp>
      <p:pic>
        <p:nvPicPr>
          <p:cNvPr id="181" name="Screen Shot 2015-03-27 at 10.59.29 PM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84101" y="3275357"/>
            <a:ext cx="6375797" cy="3446023"/>
          </a:xfrm>
          <a:prstGeom prst="rect">
            <a:avLst/>
          </a:prstGeom>
          <a:ln w="12700">
            <a:miter lim="400000"/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7887"/>
            <a:ext cx="9144000" cy="1788416"/>
          </a:xfrm>
          <a:prstGeom prst="rect">
            <a:avLst/>
          </a:prstGeom>
        </p:spPr>
      </p:pic>
      <p:sp>
        <p:nvSpPr>
          <p:cNvPr id="7" name="Shape 38"/>
          <p:cNvSpPr>
            <a:spLocks noGrp="1"/>
          </p:cNvSpPr>
          <p:nvPr>
            <p:ph type="title"/>
          </p:nvPr>
        </p:nvSpPr>
        <p:spPr>
          <a:xfrm>
            <a:off x="203260" y="437491"/>
            <a:ext cx="7358063" cy="880104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4400" b="1" dirty="0">
                <a:solidFill>
                  <a:schemeClr val="accent3">
                    <a:lumMod val="75000"/>
                  </a:schemeClr>
                </a:solidFill>
              </a:rPr>
              <a:t>Example</a:t>
            </a:r>
            <a:endParaRPr sz="4640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2176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Shape 184"/>
          <p:cNvSpPr>
            <a:spLocks noGrp="1"/>
          </p:cNvSpPr>
          <p:nvPr>
            <p:ph type="body" idx="1"/>
          </p:nvPr>
        </p:nvSpPr>
        <p:spPr>
          <a:xfrm>
            <a:off x="500063" y="1802973"/>
            <a:ext cx="8112621" cy="4626655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21457" indent="-321457" algn="l">
              <a:buFont typeface="Wingdings" panose="05000000000000000000" pitchFamily="2" charset="2"/>
              <a:buChar char="Ø"/>
            </a:pPr>
            <a:endParaRPr lang="en-US" sz="2257" b="1" dirty="0">
              <a:solidFill>
                <a:schemeClr val="tx1"/>
              </a:solidFill>
            </a:endParaRPr>
          </a:p>
          <a:p>
            <a:pPr marL="321457" indent="-321457" algn="l">
              <a:buFont typeface="Wingdings" panose="05000000000000000000" pitchFamily="2" charset="2"/>
              <a:buChar char="Ø"/>
            </a:pPr>
            <a:r>
              <a:rPr lang="en-US" sz="2257" b="1" dirty="0">
                <a:solidFill>
                  <a:schemeClr val="tx1"/>
                </a:solidFill>
              </a:rPr>
              <a:t>Expectation: </a:t>
            </a:r>
            <a:r>
              <a:rPr lang="en-US" sz="2257" dirty="0">
                <a:solidFill>
                  <a:schemeClr val="tx1"/>
                </a:solidFill>
              </a:rPr>
              <a:t>If AL contains </a:t>
            </a:r>
            <a:r>
              <a:rPr lang="en-US" sz="2257" b="1" dirty="0">
                <a:solidFill>
                  <a:schemeClr val="tx1"/>
                </a:solidFill>
              </a:rPr>
              <a:t>11011100</a:t>
            </a:r>
            <a:r>
              <a:rPr lang="en-US" sz="2257" dirty="0">
                <a:solidFill>
                  <a:schemeClr val="tx1"/>
                </a:solidFill>
              </a:rPr>
              <a:t>, we want to make it </a:t>
            </a:r>
            <a:r>
              <a:rPr lang="en-US" sz="2257" b="1" dirty="0">
                <a:solidFill>
                  <a:schemeClr val="tx1"/>
                </a:solidFill>
              </a:rPr>
              <a:t>00111011</a:t>
            </a:r>
            <a:endParaRPr lang="en-US" sz="2257" dirty="0">
              <a:solidFill>
                <a:schemeClr val="tx1"/>
              </a:solidFill>
            </a:endParaRPr>
          </a:p>
          <a:p>
            <a:pPr marL="321457" lvl="1" indent="-321457" algn="l">
              <a:buFont typeface="Wingdings" panose="05000000000000000000" pitchFamily="2" charset="2"/>
              <a:buChar char="Ø"/>
            </a:pPr>
            <a:r>
              <a:rPr lang="en-US" sz="2257" dirty="0">
                <a:solidFill>
                  <a:schemeClr val="tx1"/>
                </a:solidFill>
              </a:rPr>
              <a:t>Use </a:t>
            </a:r>
            <a:r>
              <a:rPr lang="en-US" sz="2257" b="1" dirty="0">
                <a:solidFill>
                  <a:schemeClr val="tx1"/>
                </a:solidFill>
              </a:rPr>
              <a:t>SHL</a:t>
            </a:r>
            <a:r>
              <a:rPr lang="en-US" sz="2257" dirty="0">
                <a:solidFill>
                  <a:schemeClr val="tx1"/>
                </a:solidFill>
              </a:rPr>
              <a:t> to shift the bits out the left end of AL Into CF. </a:t>
            </a:r>
          </a:p>
          <a:p>
            <a:pPr marL="321457" lvl="1" indent="-321457" algn="l">
              <a:buFont typeface="Wingdings" panose="05000000000000000000" pitchFamily="2" charset="2"/>
              <a:buChar char="Ø"/>
            </a:pPr>
            <a:r>
              <a:rPr lang="en-US" sz="2257" dirty="0">
                <a:solidFill>
                  <a:schemeClr val="tx1"/>
                </a:solidFill>
              </a:rPr>
              <a:t>Then use </a:t>
            </a:r>
            <a:r>
              <a:rPr lang="en-US" sz="2257" b="1" dirty="0">
                <a:solidFill>
                  <a:schemeClr val="tx1"/>
                </a:solidFill>
              </a:rPr>
              <a:t>RCR </a:t>
            </a:r>
            <a:r>
              <a:rPr lang="en-US" sz="2257" dirty="0">
                <a:solidFill>
                  <a:schemeClr val="tx1"/>
                </a:solidFill>
              </a:rPr>
              <a:t>to move them Into the left end of another</a:t>
            </a:r>
            <a:br>
              <a:rPr lang="en-US" sz="2257" dirty="0">
                <a:solidFill>
                  <a:schemeClr val="tx1"/>
                </a:solidFill>
              </a:rPr>
            </a:br>
            <a:r>
              <a:rPr lang="en-US" sz="2257" dirty="0">
                <a:solidFill>
                  <a:schemeClr val="tx1"/>
                </a:solidFill>
              </a:rPr>
              <a:t>register (i.e. </a:t>
            </a:r>
            <a:r>
              <a:rPr lang="en-US" sz="2257" b="1" dirty="0">
                <a:solidFill>
                  <a:schemeClr val="tx1"/>
                </a:solidFill>
              </a:rPr>
              <a:t>BL</a:t>
            </a:r>
            <a:r>
              <a:rPr lang="en-US" sz="2257" dirty="0">
                <a:solidFill>
                  <a:schemeClr val="tx1"/>
                </a:solidFill>
              </a:rPr>
              <a:t>)</a:t>
            </a:r>
          </a:p>
          <a:p>
            <a:pPr marL="321457" indent="-321457" algn="l">
              <a:buFont typeface="Wingdings" panose="05000000000000000000" pitchFamily="2" charset="2"/>
              <a:buChar char="Ø"/>
            </a:pPr>
            <a:r>
              <a:rPr lang="en-US" sz="2257" dirty="0">
                <a:solidFill>
                  <a:schemeClr val="tx1"/>
                </a:solidFill>
              </a:rPr>
              <a:t>Run the above operation 8 times for 8 bits</a:t>
            </a:r>
            <a:br>
              <a:rPr lang="en-US" sz="2257" dirty="0">
                <a:solidFill>
                  <a:schemeClr val="tx1"/>
                </a:solidFill>
              </a:rPr>
            </a:br>
            <a:br>
              <a:rPr lang="en-US" sz="2257" dirty="0">
                <a:solidFill>
                  <a:schemeClr val="tx1"/>
                </a:solidFill>
              </a:rPr>
            </a:br>
            <a:br>
              <a:rPr lang="en-US" sz="2257" dirty="0">
                <a:solidFill>
                  <a:schemeClr val="tx1"/>
                </a:solidFill>
              </a:rPr>
            </a:br>
            <a:endParaRPr sz="2257" dirty="0">
              <a:solidFill>
                <a:schemeClr val="tx1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250157" y="5033460"/>
            <a:ext cx="6100801" cy="145861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7887"/>
            <a:ext cx="9144000" cy="1788416"/>
          </a:xfrm>
          <a:prstGeom prst="rect">
            <a:avLst/>
          </a:prstGeom>
        </p:spPr>
      </p:pic>
      <p:sp>
        <p:nvSpPr>
          <p:cNvPr id="7" name="Shape 38"/>
          <p:cNvSpPr>
            <a:spLocks noGrp="1"/>
          </p:cNvSpPr>
          <p:nvPr>
            <p:ph type="title"/>
          </p:nvPr>
        </p:nvSpPr>
        <p:spPr>
          <a:xfrm>
            <a:off x="203260" y="437491"/>
            <a:ext cx="7358063" cy="880104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3600" b="1" dirty="0">
                <a:solidFill>
                  <a:schemeClr val="accent3">
                    <a:lumMod val="75000"/>
                  </a:schemeClr>
                </a:solidFill>
              </a:rPr>
              <a:t>Reversing Bit Pattern Application</a:t>
            </a:r>
            <a:endParaRPr sz="3600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0695791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7555" y="1890842"/>
            <a:ext cx="8590359" cy="2678906"/>
          </a:xfrm>
        </p:spPr>
        <p:txBody>
          <a:bodyPr>
            <a:normAutofit/>
          </a:bodyPr>
          <a:lstStyle/>
          <a:p>
            <a:pPr marL="321457" indent="-321457" algn="l">
              <a:buFont typeface="Wingdings" panose="05000000000000000000" pitchFamily="2" charset="2"/>
              <a:buChar char="Ø"/>
            </a:pPr>
            <a:r>
              <a:rPr lang="en-US" sz="2257" b="1" dirty="0">
                <a:solidFill>
                  <a:schemeClr val="tx1"/>
                </a:solidFill>
              </a:rPr>
              <a:t>Binary Input: </a:t>
            </a:r>
            <a:r>
              <a:rPr lang="en-US" sz="2257" dirty="0">
                <a:solidFill>
                  <a:schemeClr val="tx1"/>
                </a:solidFill>
              </a:rPr>
              <a:t>Lets assume a program reads In a binary number from the keyboard, followed by a carriage return.  [i.e. string of 0’s and 1’s]</a:t>
            </a:r>
          </a:p>
          <a:p>
            <a:pPr marL="321457" indent="-321457" algn="l">
              <a:buFont typeface="Wingdings" panose="05000000000000000000" pitchFamily="2" charset="2"/>
              <a:buChar char="Ø"/>
            </a:pPr>
            <a:r>
              <a:rPr lang="en-US" sz="2257" dirty="0">
                <a:solidFill>
                  <a:schemeClr val="tx1"/>
                </a:solidFill>
              </a:rPr>
              <a:t>Conversion in bit value needs to be done  as soon as the input character is entered.</a:t>
            </a:r>
          </a:p>
          <a:p>
            <a:pPr marL="321457" indent="-321457" algn="l">
              <a:buFont typeface="Wingdings" panose="05000000000000000000" pitchFamily="2" charset="2"/>
              <a:buChar char="Ø"/>
            </a:pPr>
            <a:r>
              <a:rPr lang="en-US" sz="2257" dirty="0">
                <a:solidFill>
                  <a:schemeClr val="tx1"/>
                </a:solidFill>
              </a:rPr>
              <a:t>After that collect the bits in register.</a:t>
            </a:r>
          </a:p>
          <a:p>
            <a:pPr marL="321457" indent="-321457" algn="l">
              <a:buFont typeface="Wingdings" panose="05000000000000000000" pitchFamily="2" charset="2"/>
              <a:buChar char="Ø"/>
            </a:pPr>
            <a:r>
              <a:rPr lang="en-US" sz="2257" dirty="0">
                <a:solidFill>
                  <a:schemeClr val="tx1"/>
                </a:solidFill>
              </a:rPr>
              <a:t>To read a binary number from keyboard and store it in BX: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678781" y="4802839"/>
            <a:ext cx="6001906" cy="187523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7887"/>
            <a:ext cx="9144000" cy="1788416"/>
          </a:xfrm>
          <a:prstGeom prst="rect">
            <a:avLst/>
          </a:prstGeom>
        </p:spPr>
      </p:pic>
      <p:sp>
        <p:nvSpPr>
          <p:cNvPr id="7" name="Shape 38"/>
          <p:cNvSpPr>
            <a:spLocks noGrp="1"/>
          </p:cNvSpPr>
          <p:nvPr>
            <p:ph type="title"/>
          </p:nvPr>
        </p:nvSpPr>
        <p:spPr>
          <a:xfrm>
            <a:off x="203260" y="437491"/>
            <a:ext cx="7358063" cy="880104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4400" b="1" dirty="0">
                <a:solidFill>
                  <a:schemeClr val="accent3">
                    <a:lumMod val="75000"/>
                  </a:schemeClr>
                </a:solidFill>
              </a:rPr>
              <a:t>Binary and Hex Input &amp; Output</a:t>
            </a:r>
            <a:endParaRPr sz="4640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661489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732359" y="2088107"/>
            <a:ext cx="5587790" cy="455558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7887"/>
            <a:ext cx="9144000" cy="1788416"/>
          </a:xfrm>
          <a:prstGeom prst="rect">
            <a:avLst/>
          </a:prstGeom>
        </p:spPr>
      </p:pic>
      <p:sp>
        <p:nvSpPr>
          <p:cNvPr id="7" name="Shape 38"/>
          <p:cNvSpPr>
            <a:spLocks noGrp="1"/>
          </p:cNvSpPr>
          <p:nvPr>
            <p:ph type="title"/>
          </p:nvPr>
        </p:nvSpPr>
        <p:spPr>
          <a:xfrm>
            <a:off x="203260" y="437491"/>
            <a:ext cx="7358063" cy="880104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4400" b="1" dirty="0">
                <a:solidFill>
                  <a:schemeClr val="accent3">
                    <a:lumMod val="75000"/>
                  </a:schemeClr>
                </a:solidFill>
              </a:rPr>
              <a:t>Example: Process Input 110</a:t>
            </a:r>
            <a:endParaRPr sz="4640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4922458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12528" lvl="1" indent="0">
              <a:lnSpc>
                <a:spcPct val="20000"/>
              </a:lnSpc>
            </a:pPr>
            <a:br>
              <a:rPr lang="en-US" dirty="0"/>
            </a:b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67844" y="2511454"/>
            <a:ext cx="8102992" cy="404514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7887"/>
            <a:ext cx="9144000" cy="1788416"/>
          </a:xfrm>
          <a:prstGeom prst="rect">
            <a:avLst/>
          </a:prstGeom>
        </p:spPr>
      </p:pic>
      <p:sp>
        <p:nvSpPr>
          <p:cNvPr id="7" name="Shape 38"/>
          <p:cNvSpPr>
            <a:spLocks noGrp="1"/>
          </p:cNvSpPr>
          <p:nvPr>
            <p:ph type="title"/>
          </p:nvPr>
        </p:nvSpPr>
        <p:spPr>
          <a:xfrm>
            <a:off x="203260" y="122830"/>
            <a:ext cx="7358063" cy="1194765"/>
          </a:xfrm>
          <a:prstGeom prst="rect">
            <a:avLst/>
          </a:prstGeom>
        </p:spPr>
        <p:txBody>
          <a:bodyPr>
            <a:noAutofit/>
          </a:bodyPr>
          <a:lstStyle/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3600" b="1" dirty="0">
                <a:solidFill>
                  <a:schemeClr val="accent3">
                    <a:lumMod val="75000"/>
                  </a:schemeClr>
                </a:solidFill>
              </a:rPr>
              <a:t>Assembly Conversion for input processing (110)</a:t>
            </a:r>
            <a:endParaRPr sz="3600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8483931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9727" y="2087116"/>
            <a:ext cx="7804547" cy="1357313"/>
          </a:xfrm>
        </p:spPr>
        <p:txBody>
          <a:bodyPr>
            <a:normAutofit/>
          </a:bodyPr>
          <a:lstStyle/>
          <a:p>
            <a:pPr marL="321457" indent="-321457" algn="l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</a:rPr>
              <a:t>Outputting the contents of BX in binary also involves the shift operation. </a:t>
            </a:r>
          </a:p>
          <a:p>
            <a:pPr marL="321457" indent="-321457" algn="l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tx1"/>
                </a:solidFill>
              </a:rPr>
              <a:t>Algorithm for Binary output: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401728" y="3492242"/>
            <a:ext cx="6340544" cy="266774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46484" y="6169588"/>
            <a:ext cx="8465344" cy="2871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1266" dirty="0"/>
              <a:t>Write an assembly code to process the Binary output for this problem.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7887"/>
            <a:ext cx="9144000" cy="1788416"/>
          </a:xfrm>
          <a:prstGeom prst="rect">
            <a:avLst/>
          </a:prstGeom>
        </p:spPr>
      </p:pic>
      <p:sp>
        <p:nvSpPr>
          <p:cNvPr id="8" name="Shape 38"/>
          <p:cNvSpPr>
            <a:spLocks noGrp="1"/>
          </p:cNvSpPr>
          <p:nvPr>
            <p:ph type="title"/>
          </p:nvPr>
        </p:nvSpPr>
        <p:spPr>
          <a:xfrm>
            <a:off x="203260" y="437491"/>
            <a:ext cx="7358063" cy="880104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4400" b="1" dirty="0">
                <a:solidFill>
                  <a:schemeClr val="accent3">
                    <a:lumMod val="75000"/>
                  </a:schemeClr>
                </a:solidFill>
              </a:rPr>
              <a:t>Binary Output</a:t>
            </a:r>
            <a:endParaRPr sz="4640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3177456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3640" y="2099677"/>
            <a:ext cx="8090297" cy="4137351"/>
          </a:xfrm>
        </p:spPr>
        <p:txBody>
          <a:bodyPr>
            <a:normAutofit lnSpcReduction="10000"/>
          </a:bodyPr>
          <a:lstStyle/>
          <a:p>
            <a:pPr marL="321457" indent="-321457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Hex input consists of digits ("0" to "9") and letters ("A" to "F”) followed by a carriage return. </a:t>
            </a:r>
          </a:p>
          <a:p>
            <a:pPr marL="321457" indent="-321457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For simplicity, we will assume that</a:t>
            </a:r>
          </a:p>
          <a:p>
            <a:pPr marL="321457" lvl="1" indent="-321457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Only uppercase letters are used, and</a:t>
            </a:r>
          </a:p>
          <a:p>
            <a:pPr marL="321457" lvl="1" indent="-321457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The user inputs no more than four hex characters.</a:t>
            </a:r>
          </a:p>
          <a:p>
            <a:pPr marL="321457" indent="-321457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The process of converting characters to binary values is more Involved than it was for binary input, and BX must be </a:t>
            </a:r>
            <a:r>
              <a:rPr lang="en-US" b="1" dirty="0">
                <a:solidFill>
                  <a:schemeClr val="tx1"/>
                </a:solidFill>
              </a:rPr>
              <a:t>shifted four times</a:t>
            </a:r>
            <a:r>
              <a:rPr lang="en-US" dirty="0"/>
              <a:t> to make room for a hex value.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7887"/>
            <a:ext cx="9144000" cy="1788416"/>
          </a:xfrm>
          <a:prstGeom prst="rect">
            <a:avLst/>
          </a:prstGeom>
        </p:spPr>
      </p:pic>
      <p:sp>
        <p:nvSpPr>
          <p:cNvPr id="6" name="Shape 38"/>
          <p:cNvSpPr>
            <a:spLocks noGrp="1"/>
          </p:cNvSpPr>
          <p:nvPr>
            <p:ph type="title"/>
          </p:nvPr>
        </p:nvSpPr>
        <p:spPr>
          <a:xfrm>
            <a:off x="203260" y="437491"/>
            <a:ext cx="7358063" cy="880104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4400" b="1" dirty="0">
                <a:solidFill>
                  <a:schemeClr val="accent3">
                    <a:lumMod val="75000"/>
                  </a:schemeClr>
                </a:solidFill>
              </a:rPr>
              <a:t>Hex Input</a:t>
            </a:r>
            <a:endParaRPr sz="4640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4484918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65744" y="2058292"/>
            <a:ext cx="7842847" cy="454521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7887"/>
            <a:ext cx="9144000" cy="1788416"/>
          </a:xfrm>
          <a:prstGeom prst="rect">
            <a:avLst/>
          </a:prstGeom>
        </p:spPr>
      </p:pic>
      <p:sp>
        <p:nvSpPr>
          <p:cNvPr id="7" name="Shape 38"/>
          <p:cNvSpPr>
            <a:spLocks noGrp="1"/>
          </p:cNvSpPr>
          <p:nvPr>
            <p:ph type="title"/>
          </p:nvPr>
        </p:nvSpPr>
        <p:spPr>
          <a:xfrm>
            <a:off x="203260" y="437491"/>
            <a:ext cx="7358063" cy="880104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4400" b="1" dirty="0">
                <a:solidFill>
                  <a:schemeClr val="accent3">
                    <a:lumMod val="75000"/>
                  </a:schemeClr>
                </a:solidFill>
              </a:rPr>
              <a:t>Algorithm for hex input</a:t>
            </a:r>
            <a:endParaRPr sz="4640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0236842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214562" y="1977859"/>
            <a:ext cx="4920258" cy="463153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7887"/>
            <a:ext cx="9144000" cy="1788416"/>
          </a:xfrm>
          <a:prstGeom prst="rect">
            <a:avLst/>
          </a:prstGeom>
        </p:spPr>
      </p:pic>
      <p:sp>
        <p:nvSpPr>
          <p:cNvPr id="6" name="Shape 38"/>
          <p:cNvSpPr>
            <a:spLocks noGrp="1"/>
          </p:cNvSpPr>
          <p:nvPr>
            <p:ph type="title"/>
          </p:nvPr>
        </p:nvSpPr>
        <p:spPr>
          <a:xfrm>
            <a:off x="203260" y="437491"/>
            <a:ext cx="7358063" cy="880104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4400" b="1" dirty="0">
                <a:solidFill>
                  <a:schemeClr val="accent3">
                    <a:lumMod val="75000"/>
                  </a:schemeClr>
                </a:solidFill>
              </a:rPr>
              <a:t>Example: input </a:t>
            </a:r>
            <a:r>
              <a:rPr lang="en-US" sz="4400" b="1" dirty="0">
                <a:solidFill>
                  <a:srgbClr val="0070C0"/>
                </a:solidFill>
              </a:rPr>
              <a:t>6AB</a:t>
            </a:r>
            <a:endParaRPr sz="4640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3145433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554882" y="1910687"/>
            <a:ext cx="6285384" cy="478960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7887"/>
            <a:ext cx="9144000" cy="1788416"/>
          </a:xfrm>
          <a:prstGeom prst="rect">
            <a:avLst/>
          </a:prstGeom>
        </p:spPr>
      </p:pic>
      <p:sp>
        <p:nvSpPr>
          <p:cNvPr id="6" name="Shape 38"/>
          <p:cNvSpPr>
            <a:spLocks noGrp="1"/>
          </p:cNvSpPr>
          <p:nvPr>
            <p:ph type="title"/>
          </p:nvPr>
        </p:nvSpPr>
        <p:spPr>
          <a:xfrm>
            <a:off x="203260" y="437491"/>
            <a:ext cx="7358063" cy="880104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3600" b="1" dirty="0">
                <a:solidFill>
                  <a:schemeClr val="accent3">
                    <a:lumMod val="75000"/>
                  </a:schemeClr>
                </a:solidFill>
              </a:rPr>
              <a:t>Assembly Code for Processing </a:t>
            </a:r>
            <a:r>
              <a:rPr lang="en-US" sz="3600" b="1" dirty="0">
                <a:solidFill>
                  <a:srgbClr val="0070C0"/>
                </a:solidFill>
              </a:rPr>
              <a:t>6AB</a:t>
            </a:r>
            <a:endParaRPr sz="3600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7815033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00063" y="2415654"/>
            <a:ext cx="8269940" cy="404051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7887"/>
            <a:ext cx="9144000" cy="1788416"/>
          </a:xfrm>
          <a:prstGeom prst="rect">
            <a:avLst/>
          </a:prstGeom>
        </p:spPr>
      </p:pic>
      <p:sp>
        <p:nvSpPr>
          <p:cNvPr id="7" name="Shape 38"/>
          <p:cNvSpPr>
            <a:spLocks noGrp="1"/>
          </p:cNvSpPr>
          <p:nvPr>
            <p:ph type="title"/>
          </p:nvPr>
        </p:nvSpPr>
        <p:spPr>
          <a:xfrm>
            <a:off x="203260" y="437491"/>
            <a:ext cx="7358063" cy="880104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4400" b="1" dirty="0">
                <a:solidFill>
                  <a:schemeClr val="accent3">
                    <a:lumMod val="75000"/>
                  </a:schemeClr>
                </a:solidFill>
              </a:rPr>
              <a:t>Algorithm for Hex Output</a:t>
            </a:r>
            <a:endParaRPr sz="4640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3903636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421499" y="1992573"/>
            <a:ext cx="5745372" cy="432729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46484" y="6319871"/>
            <a:ext cx="8465344" cy="4396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57" dirty="0"/>
              <a:t>Write an assembly code to process the Binary output for this problem.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7887"/>
            <a:ext cx="9144000" cy="1788416"/>
          </a:xfrm>
          <a:prstGeom prst="rect">
            <a:avLst/>
          </a:prstGeom>
        </p:spPr>
      </p:pic>
      <p:sp>
        <p:nvSpPr>
          <p:cNvPr id="7" name="Shape 38"/>
          <p:cNvSpPr>
            <a:spLocks noGrp="1"/>
          </p:cNvSpPr>
          <p:nvPr>
            <p:ph type="title"/>
          </p:nvPr>
        </p:nvSpPr>
        <p:spPr>
          <a:xfrm>
            <a:off x="203260" y="437491"/>
            <a:ext cx="7358063" cy="880104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4400" b="1" dirty="0">
                <a:solidFill>
                  <a:schemeClr val="accent3">
                    <a:lumMod val="75000"/>
                  </a:schemeClr>
                </a:solidFill>
              </a:rPr>
              <a:t>Conversion of 4CA9h to Binary</a:t>
            </a:r>
            <a:endParaRPr sz="4640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1326591"/>
      </p:ext>
    </p:ext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References</a:t>
            </a:r>
          </a:p>
        </p:txBody>
      </p:sp>
      <p:sp>
        <p:nvSpPr>
          <p:cNvPr id="2" name="Rectangle 1"/>
          <p:cNvSpPr/>
          <p:nvPr/>
        </p:nvSpPr>
        <p:spPr>
          <a:xfrm>
            <a:off x="581890" y="1942145"/>
            <a:ext cx="753687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  <a:tab pos="457200" algn="l"/>
              </a:tabLst>
            </a:pPr>
            <a:r>
              <a:rPr lang="en-US" dirty="0">
                <a:solidFill>
                  <a:srgbClr val="000000"/>
                </a:solidFill>
                <a:ea typeface="Times New Roman" panose="02020603050405020304" pitchFamily="18" charset="0"/>
              </a:rPr>
              <a:t>Assembly Language Programming and Organization of the IBM PC, </a:t>
            </a:r>
            <a:r>
              <a:rPr lang="en-US" dirty="0" err="1">
                <a:solidFill>
                  <a:srgbClr val="000000"/>
                </a:solidFill>
                <a:ea typeface="Times New Roman" panose="02020603050405020304" pitchFamily="18" charset="0"/>
              </a:rPr>
              <a:t>Ytha</a:t>
            </a:r>
            <a:r>
              <a:rPr lang="en-US" dirty="0">
                <a:solidFill>
                  <a:srgbClr val="000000"/>
                </a:solidFill>
                <a:ea typeface="Times New Roman" panose="02020603050405020304" pitchFamily="18" charset="0"/>
              </a:rPr>
              <a:t> Yu and </a:t>
            </a:r>
            <a:r>
              <a:rPr lang="en-US" dirty="0">
                <a:ea typeface="Times New Roman" panose="02020603050405020304" pitchFamily="18" charset="0"/>
              </a:rPr>
              <a:t>Charles </a:t>
            </a:r>
            <a:r>
              <a:rPr lang="en-US" dirty="0" err="1">
                <a:ea typeface="Times New Roman" panose="02020603050405020304" pitchFamily="18" charset="0"/>
              </a:rPr>
              <a:t>Marut</a:t>
            </a:r>
            <a:r>
              <a:rPr lang="en-US" dirty="0">
                <a:solidFill>
                  <a:srgbClr val="000000"/>
                </a:solidFill>
                <a:ea typeface="Times New Roman" panose="02020603050405020304" pitchFamily="18" charset="0"/>
              </a:rPr>
              <a:t>, McGraw Hill, 1992. (ISBN: 0-07-072692-2).</a:t>
            </a:r>
          </a:p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  <a:tab pos="457200" algn="l"/>
              </a:tabLst>
            </a:pPr>
            <a:r>
              <a:rPr lang="en-US" dirty="0">
                <a:hlinkClick r:id="rId2"/>
              </a:rPr>
              <a:t>http://faculty.cs.niu.edu/~byrnes/csci360/notes/360shift.htm</a:t>
            </a:r>
            <a:endParaRPr lang="en-US" dirty="0"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65434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Books</a:t>
            </a:r>
          </a:p>
        </p:txBody>
      </p:sp>
      <p:sp>
        <p:nvSpPr>
          <p:cNvPr id="2" name="Rectangle 1"/>
          <p:cNvSpPr/>
          <p:nvPr/>
        </p:nvSpPr>
        <p:spPr>
          <a:xfrm>
            <a:off x="678873" y="1998023"/>
            <a:ext cx="7633854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  <a:tab pos="457200" algn="l"/>
              </a:tabLst>
            </a:pPr>
            <a:r>
              <a:rPr lang="en-US" sz="2000" dirty="0">
                <a:solidFill>
                  <a:srgbClr val="000000"/>
                </a:solidFill>
                <a:ea typeface="Times New Roman" panose="02020603050405020304" pitchFamily="18" charset="0"/>
              </a:rPr>
              <a:t>Assembly Language Programming and Organization of the IBM PC, </a:t>
            </a:r>
            <a:r>
              <a:rPr lang="en-US" sz="2000" dirty="0" err="1">
                <a:solidFill>
                  <a:srgbClr val="000000"/>
                </a:solidFill>
                <a:ea typeface="Times New Roman" panose="02020603050405020304" pitchFamily="18" charset="0"/>
              </a:rPr>
              <a:t>Ytha</a:t>
            </a:r>
            <a:r>
              <a:rPr lang="en-US" sz="2000" dirty="0">
                <a:solidFill>
                  <a:srgbClr val="000000"/>
                </a:solidFill>
                <a:ea typeface="Times New Roman" panose="02020603050405020304" pitchFamily="18" charset="0"/>
              </a:rPr>
              <a:t> Yu </a:t>
            </a:r>
            <a:r>
              <a:rPr lang="en-US" sz="2000" dirty="0">
                <a:ea typeface="Times New Roman" panose="02020603050405020304" pitchFamily="18" charset="0"/>
              </a:rPr>
              <a:t>and Charles </a:t>
            </a:r>
            <a:r>
              <a:rPr lang="en-US" sz="2000" dirty="0" err="1">
                <a:ea typeface="Times New Roman" panose="02020603050405020304" pitchFamily="18" charset="0"/>
              </a:rPr>
              <a:t>Marut</a:t>
            </a:r>
            <a:r>
              <a:rPr lang="en-US" sz="2000" dirty="0">
                <a:solidFill>
                  <a:srgbClr val="000000"/>
                </a:solidFill>
                <a:ea typeface="Times New Roman" panose="02020603050405020304" pitchFamily="18" charset="0"/>
              </a:rPr>
              <a:t>, McGraw Hill, 1992. (ISBN: 0-07-072692-2).</a:t>
            </a:r>
          </a:p>
          <a:p>
            <a:pPr marR="0" lvl="0" algn="just">
              <a:spcBef>
                <a:spcPts val="0"/>
              </a:spcBef>
              <a:spcAft>
                <a:spcPts val="0"/>
              </a:spcAft>
              <a:tabLst>
                <a:tab pos="228600" algn="l"/>
                <a:tab pos="457200" algn="l"/>
              </a:tabLst>
            </a:pPr>
            <a:endParaRPr lang="en-US" sz="2000" dirty="0">
              <a:ea typeface="Times New Roman" panose="02020603050405020304" pitchFamily="18" charset="0"/>
            </a:endParaRPr>
          </a:p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  <a:tab pos="457200" algn="l"/>
              </a:tabLst>
            </a:pPr>
            <a:r>
              <a:rPr lang="en-US" sz="2000" dirty="0">
                <a:solidFill>
                  <a:srgbClr val="000000"/>
                </a:solidFill>
                <a:ea typeface="Times New Roman" panose="02020603050405020304" pitchFamily="18" charset="0"/>
              </a:rPr>
              <a:t>Essentials of Computer Organization and Architecture, (Third Edition), Linda Null and Julia </a:t>
            </a:r>
            <a:r>
              <a:rPr lang="en-US" sz="2000" dirty="0" err="1">
                <a:solidFill>
                  <a:srgbClr val="000000"/>
                </a:solidFill>
                <a:ea typeface="Times New Roman" panose="02020603050405020304" pitchFamily="18" charset="0"/>
              </a:rPr>
              <a:t>Lobur</a:t>
            </a:r>
            <a:endParaRPr lang="en-US" sz="2000" dirty="0">
              <a:solidFill>
                <a:srgbClr val="000000"/>
              </a:solidFill>
              <a:ea typeface="Times New Roman" panose="02020603050405020304" pitchFamily="18" charset="0"/>
            </a:endParaRPr>
          </a:p>
          <a:p>
            <a:pPr marR="0" lvl="0" algn="just">
              <a:spcBef>
                <a:spcPts val="0"/>
              </a:spcBef>
              <a:spcAft>
                <a:spcPts val="0"/>
              </a:spcAft>
              <a:tabLst>
                <a:tab pos="228600" algn="l"/>
                <a:tab pos="457200" algn="l"/>
              </a:tabLst>
            </a:pPr>
            <a:endParaRPr lang="en-US" sz="2000" dirty="0">
              <a:ea typeface="Times New Roman" panose="02020603050405020304" pitchFamily="18" charset="0"/>
            </a:endParaRPr>
          </a:p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  <a:tab pos="457200" algn="l"/>
              </a:tabLst>
            </a:pPr>
            <a:r>
              <a:rPr lang="en-US" sz="2000" dirty="0">
                <a:solidFill>
                  <a:srgbClr val="000000"/>
                </a:solidFill>
                <a:ea typeface="Times New Roman" panose="02020603050405020304" pitchFamily="18" charset="0"/>
              </a:rPr>
              <a:t>W. Stallings, “Computer Organization and Architecture: Designing for performance”, 67h Edition, Prentice Hall of India, 2003, ISBN 81 – 203 – 2962 – 7</a:t>
            </a:r>
          </a:p>
          <a:p>
            <a:pPr marR="0" lvl="0" algn="just">
              <a:spcBef>
                <a:spcPts val="0"/>
              </a:spcBef>
              <a:spcAft>
                <a:spcPts val="0"/>
              </a:spcAft>
              <a:tabLst>
                <a:tab pos="228600" algn="l"/>
                <a:tab pos="457200" algn="l"/>
              </a:tabLst>
            </a:pPr>
            <a:endParaRPr lang="en-US" sz="2000" dirty="0">
              <a:ea typeface="Times New Roman" panose="02020603050405020304" pitchFamily="18" charset="0"/>
            </a:endParaRPr>
          </a:p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  <a:tab pos="457200" algn="l"/>
              </a:tabLst>
            </a:pPr>
            <a:r>
              <a:rPr lang="en-US" sz="2000" dirty="0">
                <a:solidFill>
                  <a:srgbClr val="000000"/>
                </a:solidFill>
                <a:ea typeface="Times New Roman" panose="02020603050405020304" pitchFamily="18" charset="0"/>
              </a:rPr>
              <a:t>Computer Organization and Architecture by John P. Haynes.</a:t>
            </a:r>
            <a:endParaRPr lang="en-US" sz="2000" dirty="0"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5371660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150</TotalTime>
  <Words>1357</Words>
  <Application>Microsoft Office PowerPoint</Application>
  <PresentationFormat>On-screen Show (4:3)</PresentationFormat>
  <Paragraphs>129</Paragraphs>
  <Slides>26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Arial</vt:lpstr>
      <vt:lpstr>Calibri</vt:lpstr>
      <vt:lpstr>Corbel</vt:lpstr>
      <vt:lpstr>Helvetica</vt:lpstr>
      <vt:lpstr>Wingdings</vt:lpstr>
      <vt:lpstr>Spectrum</vt:lpstr>
      <vt:lpstr>SHIFT AND ROTATE</vt:lpstr>
      <vt:lpstr>Overview: ROTATE</vt:lpstr>
      <vt:lpstr>Example SHR</vt:lpstr>
      <vt:lpstr>SAR Instruction</vt:lpstr>
      <vt:lpstr>Division by Right Shift</vt:lpstr>
      <vt:lpstr>Signed and Unsigned Division</vt:lpstr>
      <vt:lpstr>SAR</vt:lpstr>
      <vt:lpstr>Rotate Instructions</vt:lpstr>
      <vt:lpstr>Rotate Right (ROR)</vt:lpstr>
      <vt:lpstr>ROL, ROR and CF</vt:lpstr>
      <vt:lpstr>RCL (Rotate Carry Left)</vt:lpstr>
      <vt:lpstr>RCR (Rotate Carry Right)</vt:lpstr>
      <vt:lpstr>Example</vt:lpstr>
      <vt:lpstr>Reversing Bit Pattern Application</vt:lpstr>
      <vt:lpstr>Binary and Hex Input &amp; Output</vt:lpstr>
      <vt:lpstr>Example: Process Input 110</vt:lpstr>
      <vt:lpstr>Assembly Conversion for input processing (110)</vt:lpstr>
      <vt:lpstr>Binary Output</vt:lpstr>
      <vt:lpstr>Hex Input</vt:lpstr>
      <vt:lpstr>Algorithm for hex input</vt:lpstr>
      <vt:lpstr>Example: input 6AB</vt:lpstr>
      <vt:lpstr>Assembly Code for Processing 6AB</vt:lpstr>
      <vt:lpstr>Algorithm for Hex Output</vt:lpstr>
      <vt:lpstr>Conversion of 4CA9h to Binary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Faruk Abdullah</cp:lastModifiedBy>
  <cp:revision>27</cp:revision>
  <dcterms:created xsi:type="dcterms:W3CDTF">2018-12-10T17:20:29Z</dcterms:created>
  <dcterms:modified xsi:type="dcterms:W3CDTF">2023-07-14T15:07:58Z</dcterms:modified>
</cp:coreProperties>
</file>